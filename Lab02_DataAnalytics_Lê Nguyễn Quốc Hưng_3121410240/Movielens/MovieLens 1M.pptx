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88" r:id="rId5"/>
    <p:sldId id="277" r:id="rId6"/>
    <p:sldId id="295" r:id="rId7"/>
    <p:sldId id="279" r:id="rId8"/>
    <p:sldId id="289" r:id="rId9"/>
    <p:sldId id="290" r:id="rId10"/>
    <p:sldId id="291" r:id="rId11"/>
    <p:sldId id="292" r:id="rId12"/>
    <p:sldId id="293" r:id="rId13"/>
    <p:sldId id="294" r:id="rId14"/>
    <p:sldId id="300" r:id="rId15"/>
    <p:sldId id="299" r:id="rId16"/>
    <p:sldId id="298" r:id="rId17"/>
    <p:sldId id="297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536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47" userDrawn="1">
          <p15:clr>
            <a:srgbClr val="A4A3A4"/>
          </p15:clr>
        </p15:guide>
        <p15:guide id="6" orient="horz" pos="4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349"/>
        <p:guide pos="3840"/>
        <p:guide pos="7536"/>
        <p:guide pos="144"/>
        <p:guide orient="horz" pos="647"/>
        <p:guide orient="horz" pos="40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ustomXml" Target="../customXml/item3.xml"/><Relationship Id="rId25" Type="http://schemas.openxmlformats.org/officeDocument/2006/relationships/customXml" Target="../customXml/item2.xml"/><Relationship Id="rId24" Type="http://schemas.openxmlformats.org/officeDocument/2006/relationships/customXml" Target="../customXml/item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emf"/><Relationship Id="rId1" Type="http://schemas.openxmlformats.org/officeDocument/2006/relationships/hyperlink" Target="https://24slides.com/?utm_campaign=mp&amp;utm_medium=ppt&amp;utm_source=pptlink&amp;utm_content=&amp;utm_term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0987" y="3429000"/>
            <a:ext cx="9144000" cy="1661795"/>
          </a:xfrm>
        </p:spPr>
        <p:txBody>
          <a:bodyPr lIns="0" tIns="0" rIns="0" bIns="0" anchor="t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PHÂN TÍCH DỮ LIỆU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altLang="en-US" sz="4000" b="1" dirty="0">
                <a:solidFill>
                  <a:schemeClr val="bg1"/>
                </a:solidFill>
              </a:rPr>
              <a:t>MovieLens 1M 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Presentation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/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/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/>
          <p:cNvGrpSpPr/>
          <p:nvPr/>
        </p:nvGrpSpPr>
        <p:grpSpPr>
          <a:xfrm>
            <a:off x="5851020" y="2580709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/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566"/>
            <p:cNvSpPr/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4123690" y="1172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/>
          <p:cNvSpPr txBox="1"/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78504" y="1103012"/>
            <a:ext cx="965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Lê Nguyễn Quốc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- 3121410240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8504" y="1835942"/>
            <a:ext cx="965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Bá Tiên - 3122410410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1810" y="2568872"/>
            <a:ext cx="965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Bùi Thành Công- 3122410042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1810" y="3352118"/>
            <a:ext cx="965718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Huỳnh Gia- 3121410167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Định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76604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MARKET ANALYSIS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243403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TECHNICAL ANALYSIS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FINANCIAL ANALYSIS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577000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ECONOMIC ANALYSIS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ECOLOGICAL ANALYSIS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86383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053182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2199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3867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555735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  <a:endParaRPr lang="en-US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6" name="Freeform 4197" descr="Icon of shopping cart."/>
          <p:cNvSpPr>
            <a:spLocks noEditPoints="1"/>
          </p:cNvSpPr>
          <p:nvPr/>
        </p:nvSpPr>
        <p:spPr bwMode="auto">
          <a:xfrm>
            <a:off x="1572237" y="2313021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57" name="Freeform 4344" descr="Icon of wrench. "/>
          <p:cNvSpPr/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grpSp>
        <p:nvGrpSpPr>
          <p:cNvPr id="58" name="Group 57" descr="Icon of money. "/>
          <p:cNvGrpSpPr/>
          <p:nvPr/>
        </p:nvGrpSpPr>
        <p:grpSpPr>
          <a:xfrm>
            <a:off x="5905833" y="2296118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/>
            <p:cNvSpPr/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0" name="Freeform 498"/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1" name="Freeform 499"/>
            <p:cNvSpPr/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2" name="Freeform 500"/>
            <p:cNvSpPr/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3" name="Freeform 501"/>
            <p:cNvSpPr/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4" name="Freeform 502"/>
            <p:cNvSpPr/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5" name="Freeform 503"/>
            <p:cNvSpPr/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6" name="Freeform 504"/>
            <p:cNvSpPr/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grpSp>
        <p:nvGrpSpPr>
          <p:cNvPr id="67" name="Group 66" descr="Icon of abacus. "/>
          <p:cNvGrpSpPr/>
          <p:nvPr/>
        </p:nvGrpSpPr>
        <p:grpSpPr>
          <a:xfrm>
            <a:off x="8071577" y="2296118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/>
            <p:cNvSpPr/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9" name="Freeform 325"/>
            <p:cNvSpPr/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0" name="Freeform 326"/>
            <p:cNvSpPr/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1" name="Freeform 327"/>
            <p:cNvSpPr/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72" name="Freeform 2319" descr="Icon of leaf. "/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8140" y="721360"/>
            <a:ext cx="11160760" cy="551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Nguồn gốc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thu thập và công bố bởi phòng thí nghiệm nghiên cứu GroupLens tại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ại học Minnesota (University of Minnesota). Dữ liệu này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thu thập thông qua trang web MovieLens, một hệ thống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ề xuất phim.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Phạm vi dữ liệu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Bộ dữ liệu này (phiên bản MovieLens 1M) chứa 1.000.209 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ợt xếp hạng ẩn danh từ 6.040 ng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dùng cho khoảng 3.900 bộ phim.</a:t>
            </a:r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Ngoài ra, bộ dữ liệu còn bao gồm: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nhân khẩu học của ng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dùng (Giới tính, Tuổi, Nghề nghiệp, Mã Zip).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chi tiết của phim (Tiêu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ề, 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sản xuất, và Thể loại).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Cấu trúc dữ liệu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Bộ dữ liệu gốc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cung cấp 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ới dạng ba tệp v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bản (.dat), bao gồm: users.dat, ratings.dat, và movies.dat.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Bên trong mỗi tệp, mỗi dòng dữ liệu có cấu trúc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phân tách bằng dấu hai chấm kép (::)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users.dat: Mỗi dòng chứa thông tin về một ng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dùng.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45720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trúc: UserID::Gender::Age::Occupation::Zip-code</a:t>
            </a:r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ratings.dat: Mỗi dòng chứa thông tin về một 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ợt xếp hạng của ng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dùng cho phim.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45720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trúc: UserID::MovieID::Rating::Timestamp</a:t>
            </a:r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movies.dat: Mỗi dòng chứa thông tin về một bộ phim.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457200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trúc: MovieID::Title::Genres</a:t>
            </a:r>
            <a:r>
              <a:rPr lang="vi-V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lang="vi-V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457200"/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Trong tr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Thể loại (Genres), các thể loại khác nhau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phân tách bằng dấu gạch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(|).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919480" y="838200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</a:tblGrid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Tên trường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Mô tả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UserID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Mã định danh duy nhất của người dùng.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Gender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Giới tính ('F' cho Nữ, 'M' cho Nam).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Age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Tuổi của người dùng (được mã hóa theo nhóm).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Occupation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Mã nghề nghiệp của người dùng (được mã hóa).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Zip-code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Mã bưu điện của người dùng.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7066280" y="1200150"/>
          <a:ext cx="4140200" cy="1965325"/>
        </p:xfrm>
        <a:graphic>
          <a:graphicData uri="http://schemas.openxmlformats.org/drawingml/2006/table">
            <a:tbl>
              <a:tblPr/>
              <a:tblGrid>
                <a:gridCol w="2070100"/>
                <a:gridCol w="2070100"/>
              </a:tblGrid>
              <a:tr h="3270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Tên trường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Mô tả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MovieID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Mã định danh duy nhất của phim.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69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Title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Tiêu đề phim (bao gồm cả năm sản xuất).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769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Genres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Danh sách thể loại phim (phân tách bằng dấu `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007745" y="421640"/>
            <a:ext cx="1477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Trong đó: </a:t>
            </a:r>
            <a:endParaRPr lang="vi-V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2484755" y="3861435"/>
          <a:ext cx="7346950" cy="2308860"/>
        </p:xfrm>
        <a:graphic>
          <a:graphicData uri="http://schemas.openxmlformats.org/drawingml/2006/table">
            <a:tbl>
              <a:tblPr/>
              <a:tblGrid>
                <a:gridCol w="3673475"/>
                <a:gridCol w="3673475"/>
              </a:tblGrid>
              <a:tr h="289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Tên trường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Mô tả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9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UserID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Mã người dùng (tham chiếu đến </a:t>
                      </a: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Users.UserID</a:t>
                      </a: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).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957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MovieID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Mã phim (tham chiếu đến </a:t>
                      </a: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Movies.MovieID</a:t>
                      </a: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).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30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Rating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Điểm xếp hạng người dùng đưa ra (từ 1 đến 5).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444746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Timestamp</a:t>
                      </a:r>
                      <a:endParaRPr sz="1400">
                        <a:solidFill>
                          <a:srgbClr val="444746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Dấu thời gian (Unix timestamp) của lượt xếp hạng.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95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i="1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(Composite)</a:t>
                      </a:r>
                      <a:endParaRPr sz="1400" i="1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1B1C1D"/>
                          </a:solidFill>
                          <a:latin typeface="Times New Roman" panose="02020603050405020304" pitchFamily="18" charset="0"/>
                          <a:ea typeface="Google Sans Text"/>
                          <a:cs typeface="Times New Roman" panose="02020603050405020304" pitchFamily="18" charset="0"/>
                        </a:rPr>
                        <a:t>Khóa chính tổng hợp.</a:t>
                      </a:r>
                      <a:endParaRPr sz="1400">
                        <a:solidFill>
                          <a:srgbClr val="1B1C1D"/>
                        </a:solidFill>
                        <a:latin typeface="Times New Roman" panose="02020603050405020304" pitchFamily="18" charset="0"/>
                        <a:ea typeface="Google Sans Text"/>
                        <a:cs typeface="Times New Roman" panose="02020603050405020304" pitchFamily="18" charset="0"/>
                      </a:endParaRPr>
                    </a:p>
                  </a:txBody>
                  <a:tcPr marL="57467" marR="57467" marT="38417" marB="38417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8817429" y="522898"/>
            <a:ext cx="337457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1161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các xu hướng</a:t>
            </a:r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333102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94914" y="1980112"/>
            <a:ext cx="3480319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thống trị của Hài kịch (Comedy): Thể loại Comedy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ầu một cách v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ợt trội, với tổng số l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ợt xem cao hơn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áng kể so với tất cả các thể loại còn lại.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iều này cho thấy phim hài là thể loại có tính giải trí cao, dễ tiếp cận và thu hút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l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ợng khán giả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ại chúng lớn nhất.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dẫn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ầu: Cùng với Comedy, thể loại Drama (Kịch) 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cũng là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thể loại phổ biến nhất.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là các thể loại "chủ lực" (mainstream) luôn có sức hút lớn trên thị tr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và nhận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nhiều sự quan tâm.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735330"/>
            <a:ext cx="7941945" cy="5683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489233" y="522898"/>
            <a:ext cx="270276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1161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các xu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78052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03615" y="2156460"/>
            <a:ext cx="3359785" cy="3216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Quán quân 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Tranh cãi: "Plan 9 from Outer Space (1958)"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do: Bộ phim này nổi tiếng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mệnh danh là "bộ phim dở nhất mọi thời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ại". Chính vì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iều này, nó tạo ra sự phân cực rất lớn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Những bộ phim này là những phim tạo ra phản ứng cảm xúc mạnh mẽ và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ối nghịch. Chúng hiếm khi nhận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"trung bình" (2, 3, 4 sao) mà thay vào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ó, chúng nhận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rất nhiều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iểm tuyệt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ối (1 sao hoặc 5 sao), nh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ã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minh họa trong biểu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3 về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cực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oan.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" y="689610"/>
            <a:ext cx="8364220" cy="5859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002416" y="522898"/>
            <a:ext cx="218958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3867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30466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29145" y="2561590"/>
            <a:ext cx="4742180" cy="173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hận xét 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nối với Biểu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"Top 15":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bộ phim gây tranh cãi nhất mà chúng ta thấy ở biểu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tr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ớc (nh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"Plan 9" với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lệch chuẩn ~1.45) chính là những tr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hợp cực kỳ hiếm và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ặc biệt, nằm ở phần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uôi ngoài cùng bên phải của biểu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hình chuông này.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73760"/>
            <a:ext cx="6679565" cy="537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002416" y="522898"/>
            <a:ext cx="218958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1161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30466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36815" y="1723390"/>
            <a:ext cx="4152900" cy="3566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 xét:</a:t>
            </a:r>
            <a:endParaRPr lang="vi-V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 loại Gây Tranh cãi Nhất: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Horror (Kinh dị)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ầu một cách r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õ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rệt.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là thể loại "yêu hoặc ghét"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iển hình; yếu tố sợ hãi, bạo lực... mang tính chủ quan cao, dẫn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ến sự phân cực mạnh mẽ.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 loại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Tranh cãi Nhất (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thuận cao):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Film-Noir là thể loại ít gây tranh cãi nhất.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sau là Documentary (Tài liệu), War (Chiến tranh), và Mystery (Huyền bí). Những thể loại này th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có l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ợng khán giả hâm mộ riêng (niche) hoặc dựa trên sự thật, dẫn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ến các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nhất hơn.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712470"/>
            <a:ext cx="7534910" cy="5986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002416" y="522898"/>
            <a:ext cx="218958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1161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30466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090535" y="1689100"/>
            <a:ext cx="3872865" cy="3689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 xét :</a:t>
            </a:r>
            <a:endParaRPr lang="vi-V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chính: Mức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tranh cãi cao nhất ở nhóm tuổi trẻ nhất ("D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ới 18") và giảm dần một cách ổn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ịnh khi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tuổi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lên.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xem trẻ tuổi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phân cực nhất. Các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của họ có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phân tán cao, cho thấy sự chia rẽ "yêu-ghét" r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õ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rệt.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xem lớn tuổi (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ặc biệt là các nhóm từ 45 tuổi trở lên)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thuận cao nhất. Các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của họ ít phân tán hơn, cho thấy họ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với nhau nhiều hơn về chất l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ợng của một bộ phim.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" y="916305"/>
            <a:ext cx="7868285" cy="5777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189029" y="522898"/>
            <a:ext cx="200297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1161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15537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98460" y="951865"/>
            <a:ext cx="3998595" cy="5659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Nhận xét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Chúng ta sẽ tập trung vào cột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ầu tiên, rating_std: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rating_mean (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iểm trung bình): -0.6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là mối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quan nghịch mạnh nhất trong cột.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Phim có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iểm trung bình càng cao (tức là phim càng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là hay) thì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tranh cãi càng thấp (tức là mọi 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càng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thuận). 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lại, những phim có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iểm trung bình thấp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gây tranh cãi nhiều hơn.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avg_age (Tuổi trung bình): -0.47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là mối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quan nghịch vừa phải.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Khi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tuổi trung bình của khán giả xem phim càng cao, mức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tranh cãi càng giảm.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iều này cho thấy 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xem lớn tuổi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thuận với nhau hơn.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(N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sản xuất): 0.32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là mối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quan thuận vừa phải.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Phim càng mới (n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sản xuất càng lớn) thì mức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tranh cãi càng cao.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792480"/>
            <a:ext cx="7448550" cy="5819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254343" y="522898"/>
            <a:ext cx="19376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3867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03407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16900" y="1669415"/>
            <a:ext cx="37465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hận xét về biểu đồ: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"Phổ thông (Mainstream)"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iều này cho thấy các thể loại phim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ại chúng, dù khác nhau về nội dung, nh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lại có chung một mức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gây chia rẽ trong khán giả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ối ổn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ịnh.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"Cực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oan (Extreme)"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 này chứa 2 thể loại gây tranh cãi nhất (Horror và Sci-Fi).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thời, nó c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chứa các thể loại ít gây tranh cãi nhất (War và Film-Noir).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iều này ngụ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rằng các thể loại "Extreme" (có thể hiểu là "kén khán giả" hoặc "niche") có tính chất rất khác nhau: một số (nh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Horror)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làm ra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ể gây phân cực, trong khi một số khác (nh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Film-Noir) có thể thu hút một l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ợng fan rất trung thành và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iệu, dẫn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ến sự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thuận cao.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688340"/>
            <a:ext cx="7941310" cy="5817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254343" y="522898"/>
            <a:ext cx="19376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3867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03407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59015" y="576580"/>
            <a:ext cx="4604385" cy="8547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hận xét về biểu đồ: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Phim ít phổ biến (Phía bên trái, &lt; 1000 rating):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ây là khu vực có sự biến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ộng lớn nhất. Các chấm xanh phân tán rất rộng theo chiều dọc (từ 0.7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ến 1.4+).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iều này có ngh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là trong nhóm phim "niche" (kén khán giả), tồn tại cả những phim cực kỳ gây tranh cãi (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lệch chuẩn cao, ở phía trên) và những phim có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thuận rất cao (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lệch chuẩn thấp, ở phía d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ới).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Phim rất phổ biến (Phía bên phải, &gt; 1500 rating):</a:t>
            </a:r>
            <a:r>
              <a:rPr lang="vi-V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chấm xanh trở nên th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thớt hơn và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tụ lại gần nhau, chủ yếu ở mức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 tranh cãi từ trung bình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ến thấp (hầu hết d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ới 1.1).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Rất hiếm có bộ phim nào vừa rất nổi tiếng lại vừa rất gây tranh cãi.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tranh cãi và phân cực mạnh mẽ chủ yếu xảy ra ở các bộ phim "niche" hoặc ít phổ biến. Các bộ phim muốn trở thành "bom tấn" (thu hút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nhiều 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xem) th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phải có nội dung dung hòa và ít gây chia rẽ hơn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ể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ạt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ợc sự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ồng thuận của số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ông.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56310"/>
            <a:ext cx="6836410" cy="55454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254343" y="522898"/>
            <a:ext cx="19376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3867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03407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32675" y="2352675"/>
            <a:ext cx="43649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hận xét về biểu đồ: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sản xuất ít ảnh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ởng nhất (trong top 5): Mặc dù biểu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tr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ớc cho thấy sự tranh cãi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theo thập niên (Year), nh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khi phân tích cùng các yếu tố khác, bản thân "N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sản xuất" lại là yếu tố có sức ảnh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ởng trực tiếp thấp nhất.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iều này có thể ngụ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rằng sự gia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tranh cãi theo thời gian (biểu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1) có thể bị ảnh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ởng bởi các yếu tố khác thay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ổi theo thời gian (nh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rating_count 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lên, hoặc avg_age của 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dùng thay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ổi).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" y="864870"/>
            <a:ext cx="7153910" cy="5476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254343" y="522898"/>
            <a:ext cx="19376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3867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03407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72145" y="2413635"/>
            <a:ext cx="3633470" cy="2372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hận xét về biểu đồ: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dạng hóa về thể loại và chủ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ề (nhiều phim "kén" khán giả hơn).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phát triển của internet và v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hóa review (mọi 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các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cực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oan hơn).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buFont typeface="Wingdings" panose="05000000000000000000" pitchFamily="2" charset="2"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thay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ổi trong cách làm phim, tập trung vào việc tạo ra các "bom tấn" gây tiếng vang lớn (cả tích cực và tiêu cực).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" y="812800"/>
            <a:ext cx="7827645" cy="54635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254343" y="522898"/>
            <a:ext cx="1937657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 txBox="1"/>
          <p:nvPr/>
        </p:nvSpPr>
        <p:spPr>
          <a:xfrm>
            <a:off x="228600" y="190500"/>
            <a:ext cx="11734800" cy="3867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Phân tích các xu hướng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522898"/>
            <a:ext cx="203407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72196" y="2000960"/>
            <a:ext cx="3491204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hận xét về biểu đồ: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"Hình chữ U": Khán giả ở hai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ầu của phổ tuổi (trẻ nhất và lớn tuổi nhất) là những ng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các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phân cực nhất.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Sự "Ôn hòa" của Tuổi trung niên: Các nhóm tuổi ở giữa (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ặc biệt là từ 25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ến 49 tuổi)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"ôn hòa" hơn trong các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ánh giá của họ. Họ ít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các mức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iểm tuyệt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ối (1 hoặc 5 sao) và có thể có xu h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cho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iểm ở mức giữa (2, 3, 4 sao) nhiều hơn.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" y="935355"/>
            <a:ext cx="8448675" cy="55886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/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pic>
        <p:nvPicPr>
          <p:cNvPr id="6" name="Picture 5" descr="This image is an icon that says &quot;24Slides.&quot;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332" y="5919419"/>
            <a:ext cx="1471335" cy="420363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25*140"/>
  <p:tag name="TABLE_ENDDRAG_RECT" val="511*117*325*140"/>
</p:tagLst>
</file>

<file path=ppt/tags/tag2.xml><?xml version="1.0" encoding="utf-8"?>
<p:tagLst xmlns:p="http://schemas.openxmlformats.org/presentationml/2006/main">
  <p:tag name="TABLE_ENDDRAG_ORIGIN_RECT" val="578*165"/>
  <p:tag name="TABLE_ENDDRAG_RECT" val="120*347*578*165"/>
</p:tagLst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61A00BBF-EEBB-4E18-B8CB-F926EAAC48F7}">
  <ds:schemaRefs/>
</ds:datastoreItem>
</file>

<file path=customXml/itemProps4.xml><?xml version="1.0" encoding="utf-8"?>
<ds:datastoreItem xmlns:ds="http://schemas.openxmlformats.org/officeDocument/2006/customXml" ds:itemID="{EF609EDA-869E-4BE5-AE5D-B898C584B6FF}">
  <ds:schemaRefs/>
</ds:datastoreItem>
</file>

<file path=customXml/itemProps5.xml><?xml version="1.0" encoding="utf-8"?>
<ds:datastoreItem xmlns:ds="http://schemas.openxmlformats.org/officeDocument/2006/customXml" ds:itemID="{2FD05317-60D6-4B3A-8545-888496D1A8E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0</TotalTime>
  <Words>9012</Words>
  <Application>WPS Presentation</Application>
  <PresentationFormat>Widescreen</PresentationFormat>
  <Paragraphs>252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Segoe UI</vt:lpstr>
      <vt:lpstr>Google Sans Text</vt:lpstr>
      <vt:lpstr>Segoe Print</vt:lpstr>
      <vt:lpstr>Century Gothic</vt:lpstr>
      <vt:lpstr>Segoe UI Light</vt:lpstr>
      <vt:lpstr>Microsoft YaHei</vt:lpstr>
      <vt:lpstr>Arial Unicode MS</vt:lpstr>
      <vt:lpstr>Calibri</vt:lpstr>
      <vt:lpstr>Office Theme</vt:lpstr>
      <vt:lpstr>PHÂN TÍCH DỮ LIỆU MovieLens 1M  Presentation</vt:lpstr>
      <vt:lpstr>PowerPoint 演示文稿</vt:lpstr>
      <vt:lpstr>Project analysis slide 3</vt:lpstr>
      <vt:lpstr>PowerPoint 演示文稿</vt:lpstr>
      <vt:lpstr>Project analysis slide 5</vt:lpstr>
      <vt:lpstr>Project analysis slide 5</vt:lpstr>
      <vt:lpstr>Project analysis slide 5</vt:lpstr>
      <vt:lpstr>Project analysis slide 5</vt:lpstr>
      <vt:lpstr>Project analysis slide 5</vt:lpstr>
      <vt:lpstr>Project analysis slide 5</vt:lpstr>
      <vt:lpstr>Project analysis slide 5</vt:lpstr>
      <vt:lpstr>Project analysis slide 5</vt:lpstr>
      <vt:lpstr>Project analysis slide 5</vt:lpstr>
      <vt:lpstr>Project analysis slide 5</vt:lpstr>
      <vt:lpstr>Project analysis slide 5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hung</dc:creator>
  <cp:lastModifiedBy>Dương Huỳnh Gia_A0211</cp:lastModifiedBy>
  <cp:revision>142</cp:revision>
  <dcterms:created xsi:type="dcterms:W3CDTF">2025-10-19T02:19:00Z</dcterms:created>
  <dcterms:modified xsi:type="dcterms:W3CDTF">2025-10-26T12:53:19Z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3A15B5465CA24013B1CF26EEB2DB7BA7_12</vt:lpwstr>
  </property>
  <property fmtid="{D5CDD505-2E9C-101B-9397-08002B2CF9AE}" pid="4" name="KSOProductBuildVer">
    <vt:lpwstr>1033-12.2.0.22549</vt:lpwstr>
  </property>
</Properties>
</file>