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6">
  <p:sldMasterIdLst>
    <p:sldMasterId id="2147483648" r:id="rId4"/>
  </p:sldMasterIdLst>
  <p:notesMasterIdLst>
    <p:notesMasterId r:id="rId20"/>
  </p:notesMasterIdLst>
  <p:handoutMasterIdLst>
    <p:handoutMasterId r:id="rId21"/>
  </p:handoutMasterIdLst>
  <p:sldIdLst>
    <p:sldId id="256" r:id="rId5"/>
    <p:sldId id="288" r:id="rId6"/>
    <p:sldId id="279" r:id="rId7"/>
    <p:sldId id="289" r:id="rId8"/>
    <p:sldId id="290" r:id="rId9"/>
    <p:sldId id="291" r:id="rId10"/>
    <p:sldId id="295" r:id="rId11"/>
    <p:sldId id="296" r:id="rId12"/>
    <p:sldId id="297" r:id="rId13"/>
    <p:sldId id="298" r:id="rId14"/>
    <p:sldId id="299" r:id="rId15"/>
    <p:sldId id="300" r:id="rId16"/>
    <p:sldId id="302" r:id="rId17"/>
    <p:sldId id="303" r:id="rId18"/>
    <p:sldId id="28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52" autoAdjust="0"/>
  </p:normalViewPr>
  <p:slideViewPr>
    <p:cSldViewPr snapToGrid="0" showGuides="1">
      <p:cViewPr varScale="1">
        <p:scale>
          <a:sx n="63" d="100"/>
          <a:sy n="63" d="100"/>
        </p:scale>
        <p:origin x="804" y="56"/>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10/26/2025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10/26/2025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99224-0B6B-9267-82C2-D8DD618C0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B25AD-6733-030B-4AEC-281268884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A7DEBA-99F5-34E8-F3C1-E88A5413AD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39E6E9-034F-3F30-4583-1928FEE5F998}"/>
              </a:ext>
            </a:extLst>
          </p:cNvPr>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2958280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F0C-07D3-DDA4-EBF9-F7A261A00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F775F-0863-6CDC-0AC4-C4F9CF87E8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C0FB7-3EFA-E7CD-4D87-2EF3C26CE3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44AB06-F043-C3F9-A944-082424D3C519}"/>
              </a:ext>
            </a:extLst>
          </p:cNvPr>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865026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92891-F27E-DC6C-CF98-40E98BE20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8B1F2-F96A-B4BA-A96B-1A9DD2BEC8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F62A0-B5F6-CF1A-EEAB-7D564AB301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B27143-C7F1-E2FF-0F20-D99AD56F7D93}"/>
              </a:ext>
            </a:extLst>
          </p:cNvPr>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187615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8F6E5-8085-CB87-11F6-2DE0ACC2A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90D29-A8EC-D663-97CC-9AA6BB9C46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328CF-A835-0E26-8F32-2F8ABE94B3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2E7642-8C79-AE48-F752-C82C21443FDB}"/>
              </a:ext>
            </a:extLst>
          </p:cNvPr>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2503454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51FCD-4BBB-6D65-4A85-6894A6E86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D8E58-AA5C-2932-75DA-90BC0C4BE0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005CA-B438-2F49-7525-F91B8BBA26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E7486-5DFB-D82E-26BE-32EF24394AB4}"/>
              </a:ext>
            </a:extLst>
          </p:cNvPr>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3478254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4991C-4964-63F7-F9C4-B06F881EA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AEDB4-D1AB-683B-A081-E6CA9E893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1C320-49DA-F836-A1E2-0D9D94FBE1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C3476F-218A-4A95-B80B-6216CDFCBE8E}"/>
              </a:ext>
            </a:extLst>
          </p:cNvPr>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4103320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3EBD-22C8-6A66-2F2C-D9B68903F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6DCBC-A6C3-856C-9ADE-22A853690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505F9-7FEF-C3CD-04F4-593186371A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B28805-9356-EB71-53C4-D9B87F0A592D}"/>
              </a:ext>
            </a:extLst>
          </p:cNvPr>
          <p:cNvSpPr>
            <a:spLocks noGrp="1"/>
          </p:cNvSpPr>
          <p:nvPr>
            <p:ph type="sldNum" sz="quarter" idx="5"/>
          </p:nvPr>
        </p:nvSpPr>
        <p:spPr/>
        <p:txBody>
          <a:bodyPr/>
          <a:lstStyle/>
          <a:p>
            <a:fld id="{BE60DC36-8EFA-4378-9855-E019C55AC472}" type="slidenum">
              <a:rPr lang="en-US" smtClean="0"/>
              <a:t>10</a:t>
            </a:fld>
            <a:endParaRPr lang="en-US" dirty="0"/>
          </a:p>
        </p:txBody>
      </p:sp>
    </p:spTree>
    <p:extLst>
      <p:ext uri="{BB962C8B-B14F-4D97-AF65-F5344CB8AC3E}">
        <p14:creationId xmlns:p14="http://schemas.microsoft.com/office/powerpoint/2010/main" val="433171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FCD73-C47C-BC0D-C978-9509C17DF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CA698-3571-A349-9074-993579D5F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2C892-B47E-5AFB-2A37-18A34A859C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60BBF9-80D3-DC39-1E77-EE9EB1E8E777}"/>
              </a:ext>
            </a:extLst>
          </p:cNvPr>
          <p:cNvSpPr>
            <a:spLocks noGrp="1"/>
          </p:cNvSpPr>
          <p:nvPr>
            <p:ph type="sldNum" sz="quarter" idx="5"/>
          </p:nvPr>
        </p:nvSpPr>
        <p:spPr/>
        <p:txBody>
          <a:bodyPr/>
          <a:lstStyle/>
          <a:p>
            <a:fld id="{BE60DC36-8EFA-4378-9855-E019C55AC472}" type="slidenum">
              <a:rPr lang="en-US" smtClean="0"/>
              <a:t>11</a:t>
            </a:fld>
            <a:endParaRPr lang="en-US" dirty="0"/>
          </a:p>
        </p:txBody>
      </p:sp>
    </p:spTree>
    <p:extLst>
      <p:ext uri="{BB962C8B-B14F-4D97-AF65-F5344CB8AC3E}">
        <p14:creationId xmlns:p14="http://schemas.microsoft.com/office/powerpoint/2010/main" val="127758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1CD4A-8FEC-D2BE-6858-35044B4510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70B6A-5C66-EE3E-8176-19941993C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5C92EF-6CD1-6003-7B0C-40B8191F1C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77B5AE-D058-A90D-E506-7DCDE6B21C22}"/>
              </a:ext>
            </a:extLst>
          </p:cNvPr>
          <p:cNvSpPr>
            <a:spLocks noGrp="1"/>
          </p:cNvSpPr>
          <p:nvPr>
            <p:ph type="sldNum" sz="quarter" idx="5"/>
          </p:nvPr>
        </p:nvSpPr>
        <p:spPr/>
        <p:txBody>
          <a:bodyPr/>
          <a:lstStyle/>
          <a:p>
            <a:fld id="{BE60DC36-8EFA-4378-9855-E019C55AC472}" type="slidenum">
              <a:rPr lang="en-US" smtClean="0"/>
              <a:t>12</a:t>
            </a:fld>
            <a:endParaRPr lang="en-US" dirty="0"/>
          </a:p>
        </p:txBody>
      </p:sp>
    </p:spTree>
    <p:extLst>
      <p:ext uri="{BB962C8B-B14F-4D97-AF65-F5344CB8AC3E}">
        <p14:creationId xmlns:p14="http://schemas.microsoft.com/office/powerpoint/2010/main" val="2047911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52980-C6E5-8B76-00AC-8C0EB22E9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A8877-94C7-3C26-463F-213DDB6FD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819F68-07C3-775B-BF98-05CDE351DD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3CB2A2-7DE1-C46F-02B1-1C4402FF0F17}"/>
              </a:ext>
            </a:extLst>
          </p:cNvPr>
          <p:cNvSpPr>
            <a:spLocks noGrp="1"/>
          </p:cNvSpPr>
          <p:nvPr>
            <p:ph type="sldNum" sz="quarter" idx="5"/>
          </p:nvPr>
        </p:nvSpPr>
        <p:spPr/>
        <p:txBody>
          <a:bodyPr/>
          <a:lstStyle/>
          <a:p>
            <a:fld id="{BE60DC36-8EFA-4378-9855-E019C55AC472}" type="slidenum">
              <a:rPr lang="en-US" smtClean="0"/>
              <a:t>13</a:t>
            </a:fld>
            <a:endParaRPr lang="en-US" dirty="0"/>
          </a:p>
        </p:txBody>
      </p:sp>
    </p:spTree>
    <p:extLst>
      <p:ext uri="{BB962C8B-B14F-4D97-AF65-F5344CB8AC3E}">
        <p14:creationId xmlns:p14="http://schemas.microsoft.com/office/powerpoint/2010/main" val="1763022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94FEA-5824-1067-1B5B-BF9C2EAF8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D0E1F-70B9-2DCC-29C8-8DF638811A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2298EA-2B7E-DFE4-3A10-FE7B887999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FD14A5-480E-2C32-0121-46F6925E8E85}"/>
              </a:ext>
            </a:extLst>
          </p:cNvPr>
          <p:cNvSpPr>
            <a:spLocks noGrp="1"/>
          </p:cNvSpPr>
          <p:nvPr>
            <p:ph type="sldNum" sz="quarter" idx="5"/>
          </p:nvPr>
        </p:nvSpPr>
        <p:spPr/>
        <p:txBody>
          <a:bodyPr/>
          <a:lstStyle/>
          <a:p>
            <a:fld id="{BE60DC36-8EFA-4378-9855-E019C55AC472}" type="slidenum">
              <a:rPr lang="en-US" smtClean="0"/>
              <a:t>14</a:t>
            </a:fld>
            <a:endParaRPr lang="en-US" dirty="0"/>
          </a:p>
        </p:txBody>
      </p:sp>
    </p:spTree>
    <p:extLst>
      <p:ext uri="{BB962C8B-B14F-4D97-AF65-F5344CB8AC3E}">
        <p14:creationId xmlns:p14="http://schemas.microsoft.com/office/powerpoint/2010/main" val="2617055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DA1498-92C7-4E4B-8045-C9195F453964}" type="datetimeFigureOut">
              <a:rPr lang="en-US" smtClean="0"/>
              <a:t>10/26/2025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10/26/2025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
        <p:nvSpPr>
          <p:cNvPr id="8" name="TextBox 7">
            <a:extLst>
              <a:ext uri="{FF2B5EF4-FFF2-40B4-BE49-F238E27FC236}">
                <a16:creationId xmlns:a16="http://schemas.microsoft.com/office/drawing/2014/main" id="{45180BE6-5A23-DF29-E55B-A898F3350C23}"/>
              </a:ext>
            </a:extLst>
          </p:cNvPr>
          <p:cNvSpPr txBox="1"/>
          <p:nvPr userDrawn="1">
            <p:extLst>
              <p:ext uri="{1162E1C5-73C7-4A58-AE30-91384D911F3F}">
                <p184:classification xmlns:p184="http://schemas.microsoft.com/office/powerpoint/2018/4/main" val="ftr"/>
              </p:ext>
            </p:extLst>
          </p:nvPr>
        </p:nvSpPr>
        <p:spPr>
          <a:xfrm>
            <a:off x="5885625" y="6642100"/>
            <a:ext cx="455612" cy="152400"/>
          </a:xfrm>
          <a:prstGeom prst="rect">
            <a:avLst/>
          </a:prstGeom>
        </p:spPr>
        <p:txBody>
          <a:bodyPr horzOverflow="overflow" lIns="0" tIns="0" rIns="0" bIns="0">
            <a:spAutoFit/>
          </a:bodyPr>
          <a:lstStyle/>
          <a:p>
            <a:pPr algn="l"/>
            <a:r>
              <a:rPr lang="en-US" sz="1000">
                <a:solidFill>
                  <a:srgbClr val="000000">
                    <a:alpha val="50000"/>
                  </a:srgbClr>
                </a:solidFill>
                <a:latin typeface="Arial" panose="020B0604020202020204" pitchFamily="34" charset="0"/>
                <a:cs typeface="Arial" panose="020B0604020202020204" pitchFamily="34" charset="0"/>
              </a:rPr>
              <a:t>Internal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24slides.com/?utm_campaign=mp&amp;utm_medium=ppt&amp;utm_source=pptlink&amp;utm_content=&amp;utm_term="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70988" y="2860040"/>
            <a:ext cx="9144000" cy="3046988"/>
          </a:xfrm>
        </p:spPr>
        <p:txBody>
          <a:bodyPr lIns="0" tIns="0" rIns="0" bIns="0" anchor="t">
            <a:spAutoFit/>
          </a:bodyPr>
          <a:lstStyle/>
          <a:p>
            <a:r>
              <a:rPr lang="vi-VN" b="1" dirty="0">
                <a:solidFill>
                  <a:schemeClr val="bg1"/>
                </a:solidFill>
              </a:rPr>
              <a:t>PHÂN TÍCH KHÁM PHÁ DỮ LIỆU VỀ</a:t>
            </a:r>
            <a:r>
              <a:rPr lang="en-US" b="1" dirty="0">
                <a:solidFill>
                  <a:schemeClr val="bg1"/>
                </a:solidFill>
              </a:rPr>
              <a:t> USDA FOOD</a:t>
            </a:r>
            <a:br>
              <a:rPr lang="en-US" dirty="0">
                <a:solidFill>
                  <a:schemeClr val="bg1"/>
                </a:solidFill>
              </a:rPr>
            </a:br>
            <a:br>
              <a:rPr lang="en-US" sz="4000" b="1" dirty="0">
                <a:solidFill>
                  <a:schemeClr val="bg1"/>
                </a:solidFill>
              </a:rPr>
            </a:br>
            <a:endParaRPr lang="en-US" dirty="0">
              <a:solidFill>
                <a:schemeClr val="bg1"/>
              </a:solidFill>
            </a:endParaRPr>
          </a:p>
        </p:txBody>
      </p:sp>
      <p:sp>
        <p:nvSpPr>
          <p:cNvPr id="4" name="Diamond 3"/>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p:cNvGrpSpPr/>
          <p:nvPr/>
        </p:nvGrpSpPr>
        <p:grpSpPr>
          <a:xfrm>
            <a:off x="5851021" y="2107191"/>
            <a:ext cx="489958" cy="492680"/>
            <a:chOff x="2025650" y="4786313"/>
            <a:chExt cx="285750" cy="287338"/>
          </a:xfrm>
          <a:solidFill>
            <a:schemeClr val="bg1"/>
          </a:solidFill>
        </p:grpSpPr>
        <p:sp>
          <p:nvSpPr>
            <p:cNvPr id="8" name="Freeform 565"/>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566"/>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4" name="Title 1"/>
          <p:cNvSpPr txBox="1"/>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Thành </a:t>
            </a:r>
            <a:r>
              <a:rPr lang="en-US" sz="2800" b="1" dirty="0" err="1">
                <a:solidFill>
                  <a:schemeClr val="tx1">
                    <a:lumMod val="75000"/>
                    <a:lumOff val="25000"/>
                  </a:schemeClr>
                </a:solidFill>
                <a:latin typeface="Times New Roman" panose="02020603050405020304" pitchFamily="18" charset="0"/>
                <a:cs typeface="Times New Roman" panose="02020603050405020304" pitchFamily="18" charset="0"/>
              </a:rPr>
              <a:t>viên</a:t>
            </a: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2800" b="1" dirty="0" err="1">
                <a:solidFill>
                  <a:schemeClr val="tx1">
                    <a:lumMod val="75000"/>
                    <a:lumOff val="25000"/>
                  </a:schemeClr>
                </a:solidFill>
                <a:latin typeface="Times New Roman" panose="02020603050405020304" pitchFamily="18" charset="0"/>
                <a:cs typeface="Times New Roman" panose="02020603050405020304" pitchFamily="18" charset="0"/>
              </a:rPr>
              <a:t>tham</a:t>
            </a: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2800" b="1" dirty="0" err="1">
                <a:solidFill>
                  <a:schemeClr val="tx1">
                    <a:lumMod val="75000"/>
                    <a:lumOff val="25000"/>
                  </a:schemeClr>
                </a:solidFill>
                <a:latin typeface="Times New Roman" panose="02020603050405020304" pitchFamily="18" charset="0"/>
                <a:cs typeface="Times New Roman" panose="02020603050405020304" pitchFamily="18" charset="0"/>
              </a:rPr>
              <a:t>gia</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5" name="Straight Connector 4"/>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478504" y="1103012"/>
            <a:ext cx="9657184"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Lê Nguyễn Quốc </a:t>
            </a:r>
            <a:r>
              <a:rPr lang="en-US" sz="3600" dirty="0" err="1">
                <a:latin typeface="Times New Roman" panose="02020603050405020304" pitchFamily="18" charset="0"/>
                <a:cs typeface="Times New Roman" panose="02020603050405020304" pitchFamily="18" charset="0"/>
              </a:rPr>
              <a:t>Hưng</a:t>
            </a:r>
            <a:r>
              <a:rPr lang="en-US" sz="3600" dirty="0">
                <a:latin typeface="Times New Roman" panose="02020603050405020304" pitchFamily="18" charset="0"/>
                <a:cs typeface="Times New Roman" panose="02020603050405020304" pitchFamily="18" charset="0"/>
              </a:rPr>
              <a:t> - 3121410240</a:t>
            </a:r>
          </a:p>
        </p:txBody>
      </p:sp>
      <p:sp>
        <p:nvSpPr>
          <p:cNvPr id="8" name="TextBox 7"/>
          <p:cNvSpPr txBox="1"/>
          <p:nvPr/>
        </p:nvSpPr>
        <p:spPr>
          <a:xfrm>
            <a:off x="1478504" y="1835942"/>
            <a:ext cx="9657184" cy="646331"/>
          </a:xfrm>
          <a:prstGeom prst="rect">
            <a:avLst/>
          </a:prstGeom>
          <a:noFill/>
        </p:spPr>
        <p:txBody>
          <a:bodyPr wrap="square" rtlCol="0">
            <a:spAutoFit/>
          </a:bodyPr>
          <a:lstStyle/>
          <a:p>
            <a:pPr algn="ctr"/>
            <a:r>
              <a:rPr lang="en-US" sz="3600" dirty="0" err="1">
                <a:latin typeface="Times New Roman" panose="02020603050405020304" pitchFamily="18" charset="0"/>
                <a:cs typeface="Times New Roman" panose="02020603050405020304" pitchFamily="18" charset="0"/>
              </a:rPr>
              <a:t>Trần</a:t>
            </a:r>
            <a:r>
              <a:rPr lang="en-US" sz="3600" dirty="0">
                <a:latin typeface="Times New Roman" panose="02020603050405020304" pitchFamily="18" charset="0"/>
                <a:cs typeface="Times New Roman" panose="02020603050405020304" pitchFamily="18" charset="0"/>
              </a:rPr>
              <a:t> Bá Tiên - 3122410410</a:t>
            </a:r>
          </a:p>
        </p:txBody>
      </p:sp>
      <p:sp>
        <p:nvSpPr>
          <p:cNvPr id="9" name="TextBox 8"/>
          <p:cNvSpPr txBox="1"/>
          <p:nvPr/>
        </p:nvSpPr>
        <p:spPr>
          <a:xfrm>
            <a:off x="1571810" y="2568872"/>
            <a:ext cx="9657184"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Bùi Thành Công- 3122410042</a:t>
            </a:r>
          </a:p>
        </p:txBody>
      </p:sp>
      <p:sp>
        <p:nvSpPr>
          <p:cNvPr id="10" name="TextBox 9"/>
          <p:cNvSpPr txBox="1"/>
          <p:nvPr/>
        </p:nvSpPr>
        <p:spPr>
          <a:xfrm>
            <a:off x="1571810" y="3352118"/>
            <a:ext cx="9657184"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Bùi Huỳnh Gia- 3121410167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p:cNvCxnSpPr>
            <a:cxnSpLocks/>
          </p:cNvCxnSpPr>
          <p:nvPr/>
        </p:nvCxnSpPr>
        <p:spPr>
          <a:xfrm>
            <a:off x="8817429" y="522898"/>
            <a:ext cx="3374571"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p:cNvSpPr txBox="1"/>
          <p:nvPr/>
        </p:nvSpPr>
        <p:spPr>
          <a:xfrm>
            <a:off x="228600" y="190500"/>
            <a:ext cx="11734800" cy="13295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solidFill>
                  <a:schemeClr val="tx1">
                    <a:lumMod val="75000"/>
                    <a:lumOff val="25000"/>
                  </a:schemeClr>
                </a:solidFill>
                <a:latin typeface="Times New Roman" panose="02020603050405020304" pitchFamily="18" charset="0"/>
                <a:cs typeface="Times New Roman" panose="02020603050405020304" pitchFamily="18" charset="0"/>
              </a:rPr>
              <a:t>I. </a:t>
            </a:r>
            <a:r>
              <a:rPr lang="en-US" sz="3200" b="1" dirty="0">
                <a:latin typeface="Times New Roman" panose="02020603050405020304" pitchFamily="18" charset="0"/>
                <a:cs typeface="Times New Roman" panose="02020603050405020304" pitchFamily="18" charset="0"/>
              </a:rPr>
              <a:t>GIỚI THIỆU</a:t>
            </a:r>
            <a:endParaRPr lang="vi-VN" sz="3200" b="1" dirty="0">
              <a:latin typeface="Times New Roman" panose="02020603050405020304" pitchFamily="18" charset="0"/>
              <a:cs typeface="Times New Roman" panose="02020603050405020304" pitchFamily="18" charset="0"/>
            </a:endParaRPr>
          </a:p>
          <a:p>
            <a:pPr algn="ctr"/>
            <a:r>
              <a:rPr lang="en-US" sz="3200" b="1" dirty="0">
                <a:solidFill>
                  <a:schemeClr val="tx1">
                    <a:lumMod val="75000"/>
                    <a:lumOff val="25000"/>
                  </a:schemeClr>
                </a:solidFill>
                <a:latin typeface="Times New Roman" panose="02020603050405020304" pitchFamily="18" charset="0"/>
                <a:cs typeface="Times New Roman" panose="02020603050405020304" pitchFamily="18" charset="0"/>
              </a:rPr>
              <a:t> </a:t>
            </a:r>
            <a:br>
              <a:rPr lang="en-US" sz="3200"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sz="32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cxnSp>
        <p:nvCxnSpPr>
          <p:cNvPr id="14" name="Straight Connector 13"/>
          <p:cNvCxnSpPr>
            <a:cxnSpLocks/>
          </p:cNvCxnSpPr>
          <p:nvPr/>
        </p:nvCxnSpPr>
        <p:spPr>
          <a:xfrm>
            <a:off x="0" y="522898"/>
            <a:ext cx="333102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BC60E745-F213-F2DD-B4B5-69816E88B339}"/>
              </a:ext>
            </a:extLst>
          </p:cNvPr>
          <p:cNvGrpSpPr/>
          <p:nvPr/>
        </p:nvGrpSpPr>
        <p:grpSpPr>
          <a:xfrm>
            <a:off x="792480" y="1935462"/>
            <a:ext cx="10779760" cy="4086013"/>
            <a:chOff x="2276772" y="3158065"/>
            <a:chExt cx="7638455" cy="2980267"/>
          </a:xfrm>
        </p:grpSpPr>
        <p:sp>
          <p:nvSpPr>
            <p:cNvPr id="9" name="Freeform: Shape 8">
              <a:extLst>
                <a:ext uri="{FF2B5EF4-FFF2-40B4-BE49-F238E27FC236}">
                  <a16:creationId xmlns:a16="http://schemas.microsoft.com/office/drawing/2014/main" id="{5F45A007-2FE7-FF7F-6A54-0874AC9BF3A7}"/>
                </a:ext>
              </a:extLst>
            </p:cNvPr>
            <p:cNvSpPr/>
            <p:nvPr/>
          </p:nvSpPr>
          <p:spPr>
            <a:xfrm rot="21600000">
              <a:off x="2276772" y="3158065"/>
              <a:ext cx="3637359" cy="2980267"/>
            </a:xfrm>
            <a:custGeom>
              <a:avLst/>
              <a:gdLst>
                <a:gd name="connsiteX0" fmla="*/ 312928 w 3637359"/>
                <a:gd name="connsiteY0" fmla="*/ 0 h 2980266"/>
                <a:gd name="connsiteX1" fmla="*/ 3324431 w 3637359"/>
                <a:gd name="connsiteY1" fmla="*/ 0 h 2980266"/>
                <a:gd name="connsiteX2" fmla="*/ 3637359 w 3637359"/>
                <a:gd name="connsiteY2" fmla="*/ 312928 h 2980266"/>
                <a:gd name="connsiteX3" fmla="*/ 3637359 w 3637359"/>
                <a:gd name="connsiteY3" fmla="*/ 2980266 h 2980266"/>
                <a:gd name="connsiteX4" fmla="*/ 3637359 w 3637359"/>
                <a:gd name="connsiteY4" fmla="*/ 2980266 h 2980266"/>
                <a:gd name="connsiteX5" fmla="*/ 0 w 3637359"/>
                <a:gd name="connsiteY5" fmla="*/ 2980266 h 2980266"/>
                <a:gd name="connsiteX6" fmla="*/ 0 w 3637359"/>
                <a:gd name="connsiteY6" fmla="*/ 2980266 h 2980266"/>
                <a:gd name="connsiteX7" fmla="*/ 0 w 3637359"/>
                <a:gd name="connsiteY7" fmla="*/ 312928 h 2980266"/>
                <a:gd name="connsiteX8" fmla="*/ 312928 w 3637359"/>
                <a:gd name="connsiteY8" fmla="*/ 0 h 2980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37359" h="2980266">
                  <a:moveTo>
                    <a:pt x="3324431" y="2980266"/>
                  </a:moveTo>
                  <a:lnTo>
                    <a:pt x="312928" y="2980266"/>
                  </a:lnTo>
                  <a:cubicBezTo>
                    <a:pt x="140103" y="2980266"/>
                    <a:pt x="0" y="2840163"/>
                    <a:pt x="0" y="2667338"/>
                  </a:cubicBezTo>
                  <a:lnTo>
                    <a:pt x="0" y="0"/>
                  </a:lnTo>
                  <a:lnTo>
                    <a:pt x="0" y="0"/>
                  </a:lnTo>
                  <a:lnTo>
                    <a:pt x="3637359" y="0"/>
                  </a:lnTo>
                  <a:lnTo>
                    <a:pt x="3637359" y="0"/>
                  </a:lnTo>
                  <a:lnTo>
                    <a:pt x="3637359" y="2667338"/>
                  </a:lnTo>
                  <a:cubicBezTo>
                    <a:pt x="3637359" y="2840163"/>
                    <a:pt x="3497256" y="2980266"/>
                    <a:pt x="3324431" y="2980266"/>
                  </a:cubicBezTo>
                  <a:close/>
                </a:path>
              </a:pathLst>
            </a:custGeom>
            <a:solidFill>
              <a:schemeClr val="accent3">
                <a:lumMod val="20000"/>
                <a:lumOff val="80000"/>
              </a:schemeClr>
            </a:solidFill>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05445" tIns="113793" rIns="205445" bIns="205445" numCol="1" spcCol="1270" anchor="t" anchorCtr="0">
              <a:noAutofit/>
            </a:bodyPr>
            <a:lstStyle/>
            <a:p>
              <a:pPr marL="0" lvl="0" indent="0" algn="just" defTabSz="711200">
                <a:lnSpc>
                  <a:spcPct val="90000"/>
                </a:lnSpc>
                <a:spcBef>
                  <a:spcPct val="0"/>
                </a:spcBef>
                <a:spcAft>
                  <a:spcPct val="35000"/>
                </a:spcAft>
                <a:buNone/>
              </a:pPr>
              <a:r>
                <a:rPr lang="vi-VN" sz="2400" kern="1200" dirty="0">
                  <a:latin typeface="Times New Roman" panose="02020603050405020304" pitchFamily="18" charset="0"/>
                  <a:cs typeface="Times New Roman" panose="02020603050405020304" pitchFamily="18" charset="0"/>
                </a:rPr>
                <a:t>Dữ liệu được thu thập</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từ</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Bộ</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Nông</a:t>
              </a:r>
              <a:r>
                <a:rPr lang="en-US" sz="2400" kern="1200" dirty="0">
                  <a:latin typeface="Times New Roman" panose="02020603050405020304" pitchFamily="18" charset="0"/>
                  <a:cs typeface="Times New Roman" panose="02020603050405020304" pitchFamily="18" charset="0"/>
                </a:rPr>
                <a:t> nghiệp Hoa </a:t>
              </a:r>
              <a:r>
                <a:rPr lang="en-US" sz="2400" kern="1200" dirty="0" err="1">
                  <a:latin typeface="Times New Roman" panose="02020603050405020304" pitchFamily="18" charset="0"/>
                  <a:cs typeface="Times New Roman" panose="02020603050405020304" pitchFamily="18" charset="0"/>
                </a:rPr>
                <a:t>Kỳ</a:t>
              </a:r>
              <a:r>
                <a:rPr lang="en-US" sz="2400" kern="1200" dirty="0">
                  <a:latin typeface="Times New Roman" panose="02020603050405020304" pitchFamily="18" charset="0"/>
                  <a:cs typeface="Times New Roman" panose="02020603050405020304" pitchFamily="18" charset="0"/>
                </a:rPr>
                <a:t> (USDA) </a:t>
              </a:r>
              <a:r>
                <a:rPr lang="en-US" sz="2400" kern="1200" dirty="0" err="1">
                  <a:latin typeface="Times New Roman" panose="02020603050405020304" pitchFamily="18" charset="0"/>
                  <a:cs typeface="Times New Roman" panose="02020603050405020304" pitchFamily="18" charset="0"/>
                </a:rPr>
                <a:t>cung</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cấp</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thông</a:t>
              </a:r>
              <a:r>
                <a:rPr lang="en-US" sz="2400" kern="1200" dirty="0">
                  <a:latin typeface="Times New Roman" panose="02020603050405020304" pitchFamily="18" charset="0"/>
                  <a:cs typeface="Times New Roman" panose="02020603050405020304" pitchFamily="18" charset="0"/>
                </a:rPr>
                <a:t> tin dinh </a:t>
              </a:r>
              <a:r>
                <a:rPr lang="en-US" sz="2400" kern="1200" dirty="0" err="1">
                  <a:latin typeface="Times New Roman" panose="02020603050405020304" pitchFamily="18" charset="0"/>
                  <a:cs typeface="Times New Roman" panose="02020603050405020304" pitchFamily="18" charset="0"/>
                </a:rPr>
                <a:t>dưỡng</a:t>
              </a:r>
              <a:r>
                <a:rPr lang="en-US" sz="2400" kern="1200" dirty="0">
                  <a:latin typeface="Times New Roman" panose="02020603050405020304" pitchFamily="18" charset="0"/>
                  <a:cs typeface="Times New Roman" panose="02020603050405020304" pitchFamily="18" charset="0"/>
                </a:rPr>
                <a:t> trong </a:t>
              </a:r>
              <a:r>
                <a:rPr lang="en-US" sz="2400" kern="1200" dirty="0" err="1">
                  <a:latin typeface="Times New Roman" panose="02020603050405020304" pitchFamily="18" charset="0"/>
                  <a:cs typeface="Times New Roman" panose="02020603050405020304" pitchFamily="18" charset="0"/>
                </a:rPr>
                <a:t>thực</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phẩm</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Lập</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trình</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viên</a:t>
              </a:r>
              <a:r>
                <a:rPr lang="en-US" sz="2400" kern="1200" dirty="0">
                  <a:latin typeface="Times New Roman" panose="02020603050405020304" pitchFamily="18" charset="0"/>
                  <a:cs typeface="Times New Roman" panose="02020603050405020304" pitchFamily="18" charset="0"/>
                </a:rPr>
                <a:t> Ashley Williams </a:t>
              </a:r>
              <a:r>
                <a:rPr lang="en-US" sz="2400" kern="1200" dirty="0" err="1">
                  <a:latin typeface="Times New Roman" panose="02020603050405020304" pitchFamily="18" charset="0"/>
                  <a:cs typeface="Times New Roman" panose="02020603050405020304" pitchFamily="18" charset="0"/>
                </a:rPr>
                <a:t>đã</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tạo</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ra</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một</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phiên</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bản</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cơ</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sở</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dữ</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liệu</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này</a:t>
              </a:r>
              <a:r>
                <a:rPr lang="en-US" sz="2400" kern="1200" dirty="0">
                  <a:latin typeface="Times New Roman" panose="02020603050405020304" pitchFamily="18" charset="0"/>
                  <a:cs typeface="Times New Roman" panose="02020603050405020304" pitchFamily="18" charset="0"/>
                </a:rPr>
                <a:t> ở </a:t>
              </a:r>
              <a:r>
                <a:rPr lang="en-US" sz="2400" kern="1200" dirty="0" err="1">
                  <a:latin typeface="Times New Roman" panose="02020603050405020304" pitchFamily="18" charset="0"/>
                  <a:cs typeface="Times New Roman" panose="02020603050405020304" pitchFamily="18" charset="0"/>
                </a:rPr>
                <a:t>dạng</a:t>
              </a:r>
              <a:r>
                <a:rPr lang="en-US" sz="2400" kern="1200" dirty="0">
                  <a:latin typeface="Times New Roman" panose="02020603050405020304" pitchFamily="18" charset="0"/>
                  <a:cs typeface="Times New Roman" panose="02020603050405020304" pitchFamily="18" charset="0"/>
                </a:rPr>
                <a:t> JSON.</a:t>
              </a:r>
            </a:p>
          </p:txBody>
        </p:sp>
        <p:sp>
          <p:nvSpPr>
            <p:cNvPr id="16" name="Freeform: Shape 15">
              <a:extLst>
                <a:ext uri="{FF2B5EF4-FFF2-40B4-BE49-F238E27FC236}">
                  <a16:creationId xmlns:a16="http://schemas.microsoft.com/office/drawing/2014/main" id="{E2AC70B3-8CCA-E4D3-C1B7-B10E48EFAA59}"/>
                </a:ext>
              </a:extLst>
            </p:cNvPr>
            <p:cNvSpPr/>
            <p:nvPr/>
          </p:nvSpPr>
          <p:spPr>
            <a:xfrm rot="21600000">
              <a:off x="6277867" y="3158066"/>
              <a:ext cx="3637360" cy="2980266"/>
            </a:xfrm>
            <a:custGeom>
              <a:avLst/>
              <a:gdLst>
                <a:gd name="connsiteX0" fmla="*/ 312928 w 3637359"/>
                <a:gd name="connsiteY0" fmla="*/ 0 h 2980266"/>
                <a:gd name="connsiteX1" fmla="*/ 3324431 w 3637359"/>
                <a:gd name="connsiteY1" fmla="*/ 0 h 2980266"/>
                <a:gd name="connsiteX2" fmla="*/ 3637359 w 3637359"/>
                <a:gd name="connsiteY2" fmla="*/ 312928 h 2980266"/>
                <a:gd name="connsiteX3" fmla="*/ 3637359 w 3637359"/>
                <a:gd name="connsiteY3" fmla="*/ 2980266 h 2980266"/>
                <a:gd name="connsiteX4" fmla="*/ 3637359 w 3637359"/>
                <a:gd name="connsiteY4" fmla="*/ 2980266 h 2980266"/>
                <a:gd name="connsiteX5" fmla="*/ 0 w 3637359"/>
                <a:gd name="connsiteY5" fmla="*/ 2980266 h 2980266"/>
                <a:gd name="connsiteX6" fmla="*/ 0 w 3637359"/>
                <a:gd name="connsiteY6" fmla="*/ 2980266 h 2980266"/>
                <a:gd name="connsiteX7" fmla="*/ 0 w 3637359"/>
                <a:gd name="connsiteY7" fmla="*/ 312928 h 2980266"/>
                <a:gd name="connsiteX8" fmla="*/ 312928 w 3637359"/>
                <a:gd name="connsiteY8" fmla="*/ 0 h 2980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37359" h="2980266">
                  <a:moveTo>
                    <a:pt x="3324431" y="2980266"/>
                  </a:moveTo>
                  <a:lnTo>
                    <a:pt x="312928" y="2980266"/>
                  </a:lnTo>
                  <a:cubicBezTo>
                    <a:pt x="140103" y="2980266"/>
                    <a:pt x="0" y="2840163"/>
                    <a:pt x="0" y="2667338"/>
                  </a:cubicBezTo>
                  <a:lnTo>
                    <a:pt x="0" y="0"/>
                  </a:lnTo>
                  <a:lnTo>
                    <a:pt x="0" y="0"/>
                  </a:lnTo>
                  <a:lnTo>
                    <a:pt x="3637359" y="0"/>
                  </a:lnTo>
                  <a:lnTo>
                    <a:pt x="3637359" y="0"/>
                  </a:lnTo>
                  <a:lnTo>
                    <a:pt x="3637359" y="2667338"/>
                  </a:lnTo>
                  <a:cubicBezTo>
                    <a:pt x="3637359" y="2840163"/>
                    <a:pt x="3497256" y="2980266"/>
                    <a:pt x="3324431" y="2980266"/>
                  </a:cubicBezTo>
                  <a:close/>
                </a:path>
              </a:pathLst>
            </a:custGeom>
            <a:solidFill>
              <a:schemeClr val="accent5">
                <a:lumMod val="20000"/>
                <a:lumOff val="80000"/>
              </a:schemeClr>
            </a:solidFill>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05445" tIns="113792" rIns="205446" bIns="205445" numCol="1" spcCol="1270" anchor="t" anchorCtr="0">
              <a:noAutofit/>
            </a:bodyPr>
            <a:lstStyle/>
            <a:p>
              <a:pPr marL="0" lvl="0" indent="0" algn="just" defTabSz="711200">
                <a:lnSpc>
                  <a:spcPct val="90000"/>
                </a:lnSpc>
                <a:spcBef>
                  <a:spcPct val="0"/>
                </a:spcBef>
                <a:spcAft>
                  <a:spcPct val="35000"/>
                </a:spcAft>
                <a:buNone/>
              </a:pPr>
              <a:r>
                <a:rPr lang="vi-VN" sz="2400" kern="1200" dirty="0">
                  <a:latin typeface="Times New Roman" panose="02020603050405020304" pitchFamily="18" charset="0"/>
                  <a:cs typeface="Times New Roman" panose="02020603050405020304" pitchFamily="18" charset="0"/>
                </a:rPr>
                <a:t>Bộ dữ liệu này có thể nói là: </a:t>
              </a:r>
              <a:r>
                <a:rPr lang="vi-VN" sz="2400" i="1" kern="1200" dirty="0">
                  <a:latin typeface="Times New Roman" panose="02020603050405020304" pitchFamily="18" charset="0"/>
                  <a:cs typeface="Times New Roman" panose="02020603050405020304" pitchFamily="18" charset="0"/>
                </a:rPr>
                <a:t>rất rộng</a:t>
              </a:r>
              <a:r>
                <a:rPr lang="vi-VN" sz="2400" kern="1200" dirty="0">
                  <a:latin typeface="Times New Roman" panose="02020603050405020304" pitchFamily="18" charset="0"/>
                  <a:cs typeface="Times New Roman" panose="02020603050405020304" pitchFamily="18" charset="0"/>
                </a:rPr>
                <a:t> — bao gồm hàng chục ngàn thực phẩm, nhiều loại thực phẩm (nguyên liệu, thương mại, nhãn hiệu), nhiều thành phần dinh dưỡng (macro, micro, thành phần khác), và nhiều kiểu dữ liệu phục vụ nghiên cứu, chế độ ăn, công nghiệp thực phẩm. Nó không chỉ đơn thuần là danh sách protein/fat/carb mà còn là hệ thống dữ liệu thực phẩm rất chi tiết.</a:t>
              </a:r>
              <a:endParaRPr lang="en-US" sz="2400" kern="1200" dirty="0">
                <a:latin typeface="Times New Roman" panose="02020603050405020304" pitchFamily="18" charset="0"/>
                <a:cs typeface="Times New Roman" panose="02020603050405020304" pitchFamily="18" charset="0"/>
              </a:endParaRPr>
            </a:p>
          </p:txBody>
        </p:sp>
      </p:grpSp>
      <p:sp>
        <p:nvSpPr>
          <p:cNvPr id="18" name="TextBox 17">
            <a:extLst>
              <a:ext uri="{FF2B5EF4-FFF2-40B4-BE49-F238E27FC236}">
                <a16:creationId xmlns:a16="http://schemas.microsoft.com/office/drawing/2014/main" id="{1EE6970A-D207-1B8A-A831-B77264B6A2C1}"/>
              </a:ext>
            </a:extLst>
          </p:cNvPr>
          <p:cNvSpPr txBox="1"/>
          <p:nvPr/>
        </p:nvSpPr>
        <p:spPr>
          <a:xfrm>
            <a:off x="2359525" y="1353895"/>
            <a:ext cx="1648208" cy="461665"/>
          </a:xfrm>
          <a:prstGeom prst="rect">
            <a:avLst/>
          </a:prstGeom>
          <a:noFill/>
        </p:spPr>
        <p:txBody>
          <a:bodyPr wrap="none" rtlCol="0">
            <a:spAutoFit/>
          </a:bodyPr>
          <a:lstStyle/>
          <a:p>
            <a:r>
              <a:rPr lang="en-US" sz="2400" b="1" dirty="0">
                <a:solidFill>
                  <a:schemeClr val="dk1">
                    <a:hueOff val="0"/>
                    <a:satOff val="0"/>
                    <a:lumOff val="0"/>
                    <a:alphaOff val="0"/>
                  </a:schemeClr>
                </a:solidFill>
                <a:latin typeface="Times New Roman" panose="02020603050405020304" pitchFamily="18" charset="0"/>
                <a:cs typeface="Times New Roman" panose="02020603050405020304" pitchFamily="18" charset="0"/>
              </a:rPr>
              <a:t>Định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nghĩa</a:t>
            </a:r>
            <a:endParaRPr lang="en-US" sz="2400"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8CD2843-7581-DC79-3D4B-19A186738041}"/>
              </a:ext>
            </a:extLst>
          </p:cNvPr>
          <p:cNvSpPr txBox="1"/>
          <p:nvPr/>
        </p:nvSpPr>
        <p:spPr>
          <a:xfrm>
            <a:off x="7889469" y="1436995"/>
            <a:ext cx="2257349" cy="461665"/>
          </a:xfrm>
          <a:prstGeom prst="rect">
            <a:avLst/>
          </a:prstGeom>
          <a:noFill/>
        </p:spPr>
        <p:txBody>
          <a:bodyPr wrap="none" rtlCol="0">
            <a:spAutoFit/>
          </a:bodyPr>
          <a:lstStyle/>
          <a:p>
            <a:r>
              <a:rPr lang="en-US" sz="2400" b="1" dirty="0">
                <a:solidFill>
                  <a:schemeClr val="dk1">
                    <a:hueOff val="0"/>
                    <a:satOff val="0"/>
                    <a:lumOff val="0"/>
                    <a:alphaOff val="0"/>
                  </a:schemeClr>
                </a:solidFill>
                <a:latin typeface="Times New Roman" panose="02020603050405020304" pitchFamily="18" charset="0"/>
                <a:cs typeface="Times New Roman" panose="02020603050405020304" pitchFamily="18" charset="0"/>
              </a:rPr>
              <a:t>Phạm vi </a:t>
            </a:r>
            <a:r>
              <a:rPr lang="en-US" sz="2400" b="1" dirty="0" err="1">
                <a:solidFill>
                  <a:schemeClr val="dk1">
                    <a:hueOff val="0"/>
                    <a:satOff val="0"/>
                    <a:lumOff val="0"/>
                    <a:alphaOff val="0"/>
                  </a:schemeClr>
                </a:solidFill>
                <a:latin typeface="Times New Roman" panose="02020603050405020304" pitchFamily="18" charset="0"/>
                <a:cs typeface="Times New Roman" panose="02020603050405020304" pitchFamily="18" charset="0"/>
              </a:rPr>
              <a:t>dữ</a:t>
            </a:r>
            <a:r>
              <a:rPr lang="en-US" sz="2400" b="1" dirty="0">
                <a:solidFill>
                  <a:schemeClr val="dk1">
                    <a:hueOff val="0"/>
                    <a:satOff val="0"/>
                    <a:lumOff val="0"/>
                    <a:alphaOff val="0"/>
                  </a:schemeClr>
                </a:solidFill>
                <a:latin typeface="Times New Roman" panose="02020603050405020304" pitchFamily="18" charset="0"/>
                <a:cs typeface="Times New Roman" panose="02020603050405020304" pitchFamily="18" charset="0"/>
              </a:rPr>
              <a:t> </a:t>
            </a:r>
            <a:r>
              <a:rPr lang="en-US" sz="2400" b="1" dirty="0" err="1">
                <a:solidFill>
                  <a:schemeClr val="dk1">
                    <a:hueOff val="0"/>
                    <a:satOff val="0"/>
                    <a:lumOff val="0"/>
                    <a:alphaOff val="0"/>
                  </a:schemeClr>
                </a:solidFill>
                <a:latin typeface="Times New Roman" panose="02020603050405020304" pitchFamily="18" charset="0"/>
                <a:cs typeface="Times New Roman" panose="02020603050405020304" pitchFamily="18" charset="0"/>
              </a:rPr>
              <a:t>liệu</a:t>
            </a: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A3D3D-EC09-E772-5597-789CDFC2AB8C}"/>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F5F4ED1E-854E-B42C-C4E1-2D92194DDAB1}"/>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E337BB0D-17F3-9F41-BCF0-57A677124264}"/>
              </a:ext>
            </a:extLst>
          </p:cNvPr>
          <p:cNvCxnSpPr>
            <a:cxnSpLocks/>
          </p:cNvCxnSpPr>
          <p:nvPr/>
        </p:nvCxnSpPr>
        <p:spPr>
          <a:xfrm>
            <a:off x="9489233" y="522898"/>
            <a:ext cx="270276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B230266-E01B-98FA-0689-557A4D5DA717}"/>
              </a:ext>
            </a:extLst>
          </p:cNvPr>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II. ĐỊNH NGHĨA</a:t>
            </a:r>
            <a:endParaRPr lang="vi-VN" sz="2800" b="1" dirty="0">
              <a:latin typeface="Times New Roman" panose="02020603050405020304" pitchFamily="18" charset="0"/>
              <a:cs typeface="Times New Roman" panose="02020603050405020304" pitchFamily="18" charset="0"/>
            </a:endParaRPr>
          </a:p>
          <a:p>
            <a:pPr algn="ctr"/>
            <a:r>
              <a:rPr lang="en-US" sz="2800" b="1" dirty="0">
                <a:solidFill>
                  <a:schemeClr val="tx1">
                    <a:lumMod val="75000"/>
                    <a:lumOff val="25000"/>
                  </a:schemeClr>
                </a:solidFill>
              </a:rPr>
              <a:t>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A3CA0CE-59D3-26FC-57F5-2F0DB648D7EB}"/>
              </a:ext>
            </a:extLst>
          </p:cNvPr>
          <p:cNvCxnSpPr>
            <a:cxnSpLocks/>
          </p:cNvCxnSpPr>
          <p:nvPr/>
        </p:nvCxnSpPr>
        <p:spPr>
          <a:xfrm>
            <a:off x="0" y="522898"/>
            <a:ext cx="2780522"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014D42D-B968-461D-8C69-34D29C56D0F7}"/>
              </a:ext>
            </a:extLst>
          </p:cNvPr>
          <p:cNvSpPr txBox="1"/>
          <p:nvPr/>
        </p:nvSpPr>
        <p:spPr>
          <a:xfrm>
            <a:off x="289561" y="1042657"/>
            <a:ext cx="5870113" cy="5262979"/>
          </a:xfrm>
          <a:prstGeom prst="rect">
            <a:avLst/>
          </a:prstGeom>
          <a:noFill/>
        </p:spPr>
        <p:txBody>
          <a:bodyPr wrap="square">
            <a:spAutoFit/>
          </a:bodyPr>
          <a:lstStyle/>
          <a:p>
            <a:pPr marL="285750" indent="-285750" algn="just">
              <a:buFont typeface="Arial" panose="020B0604020202020204" pitchFamily="34" charset="0"/>
              <a:buChar char="•"/>
            </a:pPr>
            <a:r>
              <a:rPr lang="vi-VN" sz="2400" b="0" i="0" dirty="0">
                <a:effectLst/>
                <a:latin typeface="Times New Roman" panose="02020603050405020304" pitchFamily="18" charset="0"/>
                <a:cs typeface="Times New Roman" panose="02020603050405020304" pitchFamily="18" charset="0"/>
              </a:rPr>
              <a:t>USDA FoodData Central là kho dữ liệu dinh dưỡng toàn diện, phản ánh mối liên hệ giữa thực phẩm, sức khỏe và khoa học. </a:t>
            </a:r>
            <a:endParaRPr lang="en-US" sz="2400" b="0" i="0" dirty="0">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sz="2400" b="0" i="0" dirty="0">
                <a:effectLst/>
                <a:latin typeface="Times New Roman" panose="02020603050405020304" pitchFamily="18" charset="0"/>
                <a:cs typeface="Times New Roman" panose="02020603050405020304" pitchFamily="18" charset="0"/>
              </a:rPr>
              <a:t>Từ các giá trị dinh dưỡng chi tiết, ta thấy trái cây và rau củ giàu vitamin, ngũ cốc cung cấp năng lượng nhưng thiếu vi chất, thịt cá nhiều protein song giàu chất béo bão hòa, còn thực phẩm công nghiệp tiện lợi nhưng kém cân bằng. </a:t>
            </a:r>
            <a:endParaRPr lang="en-US" sz="2400" b="0" i="0" dirty="0">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sz="2400" b="0" i="0" dirty="0">
                <a:effectLst/>
                <a:latin typeface="Times New Roman" panose="02020603050405020304" pitchFamily="18" charset="0"/>
                <a:cs typeface="Times New Roman" panose="02020603050405020304" pitchFamily="18" charset="0"/>
              </a:rPr>
              <a:t>Bộ dữ liệu này giúp con người “ăn đúng” hơn, mở ra ứng dụng lớn trong nghiên cứu y học và dinh dưỡng thông minh.</a:t>
            </a:r>
            <a:endParaRPr lang="en-US" sz="2400" dirty="0">
              <a:latin typeface="Times New Roman" panose="02020603050405020304" pitchFamily="18" charset="0"/>
              <a:cs typeface="Times New Roman" panose="02020603050405020304" pitchFamily="18" charset="0"/>
            </a:endParaRPr>
          </a:p>
        </p:txBody>
      </p:sp>
      <p:pic>
        <p:nvPicPr>
          <p:cNvPr id="1028" name="Picture 4" descr="Food &amp; Nutrient Database ...">
            <a:extLst>
              <a:ext uri="{FF2B5EF4-FFF2-40B4-BE49-F238E27FC236}">
                <a16:creationId xmlns:a16="http://schemas.microsoft.com/office/drawing/2014/main" id="{907F47B9-C5A2-2DF9-BE5B-4C2346E8C2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2273" y="2258135"/>
            <a:ext cx="5419307" cy="283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695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C0324-1714-5671-F9EC-216F92C2FC48}"/>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BFB0F853-C64C-581B-FC20-D6123B946560}"/>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4E801FFC-F08B-8F34-3564-593EE8DAD847}"/>
              </a:ext>
            </a:extLst>
          </p:cNvPr>
          <p:cNvCxnSpPr>
            <a:cxnSpLocks/>
          </p:cNvCxnSpPr>
          <p:nvPr/>
        </p:nvCxnSpPr>
        <p:spPr>
          <a:xfrm>
            <a:off x="10002416" y="522898"/>
            <a:ext cx="218958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C188BC-B9D6-09FB-7B26-A19AA63ACC62}"/>
              </a:ext>
            </a:extLst>
          </p:cNvPr>
          <p:cNvSpPr txBox="1"/>
          <p:nvPr/>
        </p:nvSpPr>
        <p:spPr>
          <a:xfrm>
            <a:off x="228600" y="190500"/>
            <a:ext cx="11734800" cy="1163395"/>
          </a:xfrm>
          <a:prstGeom prst="rect">
            <a:avLst/>
          </a:prstGeom>
        </p:spPr>
        <p:txBody>
          <a:bodyPr vert="horz" wrap="square" lIns="0" tIns="0" rIns="0" bIns="0" rtlCol="0" anchor="t">
            <a:spAutoFit/>
          </a:bodyPr>
          <a:lstStyle>
            <a:defPPr>
              <a:defRPr lang="en-US"/>
            </a:defPPr>
            <a:lvl1pPr algn="ctr">
              <a:lnSpc>
                <a:spcPct val="90000"/>
              </a:lnSpc>
              <a:spcBef>
                <a:spcPct val="0"/>
              </a:spcBef>
              <a:buNone/>
              <a:defRPr sz="2800" b="1">
                <a:solidFill>
                  <a:schemeClr val="tx1">
                    <a:lumMod val="75000"/>
                    <a:lumOff val="25000"/>
                  </a:schemeClr>
                </a:solidFill>
                <a:latin typeface="Times New Roman" panose="02020603050405020304" pitchFamily="18" charset="0"/>
                <a:ea typeface="+mj-ea"/>
                <a:cs typeface="Times New Roman" panose="02020603050405020304" pitchFamily="18" charset="0"/>
              </a:defRPr>
            </a:lvl1pPr>
          </a:lstStyle>
          <a:p>
            <a:r>
              <a:rPr lang="en-US" dirty="0"/>
              <a:t>III. </a:t>
            </a:r>
            <a:r>
              <a:rPr lang="vi-VN" dirty="0"/>
              <a:t>CHUẨN BỊ VẤN ĐỀ </a:t>
            </a:r>
            <a:endParaRPr lang="en-US" dirty="0"/>
          </a:p>
          <a:p>
            <a:r>
              <a:rPr lang="vi-VN" dirty="0"/>
              <a:t>(PREPARE PROBLEM)</a:t>
            </a:r>
            <a:r>
              <a:rPr lang="en-US" dirty="0"/>
              <a:t> </a:t>
            </a:r>
            <a:br>
              <a:rPr lang="en-US" dirty="0"/>
            </a:br>
            <a:endParaRPr lang="en-US" dirty="0"/>
          </a:p>
        </p:txBody>
      </p:sp>
      <p:cxnSp>
        <p:nvCxnSpPr>
          <p:cNvPr id="14" name="Straight Connector 13">
            <a:extLst>
              <a:ext uri="{FF2B5EF4-FFF2-40B4-BE49-F238E27FC236}">
                <a16:creationId xmlns:a16="http://schemas.microsoft.com/office/drawing/2014/main" id="{8B526FEB-1B33-8FB3-AC9F-BE4E7A7B7994}"/>
              </a:ext>
            </a:extLst>
          </p:cNvPr>
          <p:cNvCxnSpPr>
            <a:cxnSpLocks/>
          </p:cNvCxnSpPr>
          <p:nvPr/>
        </p:nvCxnSpPr>
        <p:spPr>
          <a:xfrm>
            <a:off x="0" y="522898"/>
            <a:ext cx="230466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DDD9A94A-0D3D-CB42-C797-80BCD9A7A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2960" y="2207411"/>
            <a:ext cx="5765800" cy="431800"/>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1" descr="A screenshot of a computer&#10;&#10;AI-generated content may be incorrect.">
            <a:extLst>
              <a:ext uri="{FF2B5EF4-FFF2-40B4-BE49-F238E27FC236}">
                <a16:creationId xmlns:a16="http://schemas.microsoft.com/office/drawing/2014/main" id="{70BA786A-FE8E-77E6-5992-AA3DDDB22A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2660" y="2674695"/>
            <a:ext cx="6028742" cy="338235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381CECBE-B788-39FC-385A-AA0408ECBD38}"/>
              </a:ext>
            </a:extLst>
          </p:cNvPr>
          <p:cNvSpPr>
            <a:spLocks noChangeArrowheads="1"/>
          </p:cNvSpPr>
          <p:nvPr/>
        </p:nvSpPr>
        <p:spPr bwMode="auto">
          <a:xfrm>
            <a:off x="841098" y="1214013"/>
            <a:ext cx="11236602" cy="1077218"/>
          </a:xfrm>
          <a:prstGeom prst="rect">
            <a:avLst/>
          </a:prstGeom>
          <a:noFill/>
        </p:spPr>
        <p:txBody>
          <a:bodyPr wrap="square">
            <a:spAutoFit/>
          </a:bodyPr>
          <a:lstStyle/>
          <a:p>
            <a:pPr marL="285750" indent="-285750" algn="just">
              <a:buFont typeface="Arial" panose="020B0604020202020204" pitchFamily="34" charset="0"/>
              <a:buChar char="•"/>
            </a:pPr>
            <a:r>
              <a:rPr lang="vi-VN" altLang="en-US" sz="1600" dirty="0">
                <a:latin typeface="Times New Roman" panose="02020603050405020304" pitchFamily="18" charset="0"/>
                <a:cs typeface="Times New Roman" panose="02020603050405020304" pitchFamily="18" charset="0"/>
              </a:rPr>
              <a:t>Bộ dữ liệu </a:t>
            </a:r>
            <a:r>
              <a:rPr lang="en-US" altLang="en-US" sz="1600" dirty="0" err="1">
                <a:latin typeface="Times New Roman" panose="02020603050405020304" pitchFamily="18" charset="0"/>
                <a:cs typeface="Times New Roman" panose="02020603050405020304" pitchFamily="18" charset="0"/>
              </a:rPr>
              <a:t>có</a:t>
            </a:r>
            <a:r>
              <a:rPr lang="en-US" altLang="en-US" sz="1600" dirty="0">
                <a:latin typeface="Times New Roman" panose="02020603050405020304" pitchFamily="18" charset="0"/>
                <a:cs typeface="Times New Roman" panose="02020603050405020304" pitchFamily="18" charset="0"/>
              </a:rPr>
              <a:t> 6636 </a:t>
            </a:r>
            <a:r>
              <a:rPr lang="en-US" altLang="en-US" sz="1600" dirty="0" err="1">
                <a:latin typeface="Times New Roman" panose="02020603050405020304" pitchFamily="18" charset="0"/>
                <a:cs typeface="Times New Roman" panose="02020603050405020304" pitchFamily="18" charset="0"/>
              </a:rPr>
              <a:t>bản</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ghi</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thực</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phẩm</a:t>
            </a:r>
            <a:r>
              <a:rPr lang="en-US" altLang="en-US" sz="16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altLang="en-US" sz="1600" dirty="0" err="1">
                <a:latin typeface="Times New Roman" panose="02020603050405020304" pitchFamily="18" charset="0"/>
                <a:cs typeface="Times New Roman" panose="02020603050405020304" pitchFamily="18" charset="0"/>
              </a:rPr>
              <a:t>Mỗi</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mục</a:t>
            </a:r>
            <a:r>
              <a:rPr lang="en-US" altLang="en-US" sz="1600" dirty="0">
                <a:latin typeface="Times New Roman" panose="02020603050405020304" pitchFamily="18" charset="0"/>
                <a:cs typeface="Times New Roman" panose="02020603050405020304" pitchFamily="18" charset="0"/>
              </a:rPr>
              <a:t> trong </a:t>
            </a:r>
            <a:r>
              <a:rPr lang="en-US" altLang="en-US" sz="1600" dirty="0" err="1">
                <a:latin typeface="Times New Roman" panose="02020603050405020304" pitchFamily="18" charset="0"/>
                <a:cs typeface="Times New Roman" panose="02020603050405020304" pitchFamily="18" charset="0"/>
              </a:rPr>
              <a:t>cơ</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sở</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dữ</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liệu</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là</a:t>
            </a:r>
            <a:r>
              <a:rPr lang="en-US" altLang="en-US" sz="1600" dirty="0">
                <a:latin typeface="Times New Roman" panose="02020603050405020304" pitchFamily="18" charset="0"/>
                <a:cs typeface="Times New Roman" panose="02020603050405020304" pitchFamily="18" charset="0"/>
              </a:rPr>
              <a:t> 1 </a:t>
            </a:r>
            <a:r>
              <a:rPr lang="en-US" altLang="en-US" sz="1600" dirty="0" err="1">
                <a:latin typeface="Times New Roman" panose="02020603050405020304" pitchFamily="18" charset="0"/>
                <a:cs typeface="Times New Roman" panose="02020603050405020304" pitchFamily="18" charset="0"/>
              </a:rPr>
              <a:t>dict</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chứa</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tất</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cả</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dữ</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liệu</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cho</a:t>
            </a:r>
            <a:r>
              <a:rPr lang="en-US" altLang="en-US" sz="1600" dirty="0">
                <a:latin typeface="Times New Roman" panose="02020603050405020304" pitchFamily="18" charset="0"/>
                <a:cs typeface="Times New Roman" panose="02020603050405020304" pitchFamily="18" charset="0"/>
              </a:rPr>
              <a:t> 1 </a:t>
            </a:r>
            <a:r>
              <a:rPr lang="en-US" altLang="en-US" sz="1600" dirty="0" err="1">
                <a:latin typeface="Times New Roman" panose="02020603050405020304" pitchFamily="18" charset="0"/>
                <a:cs typeface="Times New Roman" panose="02020603050405020304" pitchFamily="18" charset="0"/>
              </a:rPr>
              <a:t>loại</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thực</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phẩm</a:t>
            </a:r>
            <a:r>
              <a:rPr lang="en-US" altLang="en-US" sz="16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Trường ‘dinh </a:t>
            </a:r>
            <a:r>
              <a:rPr lang="en-US" altLang="en-US" sz="1600" dirty="0" err="1">
                <a:latin typeface="Times New Roman" panose="02020603050405020304" pitchFamily="18" charset="0"/>
                <a:cs typeface="Times New Roman" panose="02020603050405020304" pitchFamily="18" charset="0"/>
              </a:rPr>
              <a:t>dưỡng</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là</a:t>
            </a:r>
            <a:r>
              <a:rPr lang="en-US" altLang="en-US" sz="1600" dirty="0">
                <a:latin typeface="Times New Roman" panose="02020603050405020304" pitchFamily="18" charset="0"/>
                <a:cs typeface="Times New Roman" panose="02020603050405020304" pitchFamily="18" charset="0"/>
              </a:rPr>
              <a:t> danh </a:t>
            </a:r>
            <a:r>
              <a:rPr lang="en-US" altLang="en-US" sz="1600" dirty="0" err="1">
                <a:latin typeface="Times New Roman" panose="02020603050405020304" pitchFamily="18" charset="0"/>
                <a:cs typeface="Times New Roman" panose="02020603050405020304" pitchFamily="18" charset="0"/>
              </a:rPr>
              <a:t>sách</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các</a:t>
            </a:r>
            <a:r>
              <a:rPr lang="en-US" altLang="en-US" sz="1600" dirty="0">
                <a:latin typeface="Times New Roman" panose="02020603050405020304" pitchFamily="18" charset="0"/>
                <a:cs typeface="Times New Roman" panose="02020603050405020304" pitchFamily="18" charset="0"/>
              </a:rPr>
              <a:t> dictionary, </a:t>
            </a:r>
            <a:r>
              <a:rPr lang="en-US" altLang="en-US" sz="1600" dirty="0" err="1">
                <a:latin typeface="Times New Roman" panose="02020603050405020304" pitchFamily="18" charset="0"/>
                <a:cs typeface="Times New Roman" panose="02020603050405020304" pitchFamily="18" charset="0"/>
              </a:rPr>
              <a:t>mỗi</a:t>
            </a:r>
            <a:r>
              <a:rPr lang="en-US" altLang="en-US" sz="1600" dirty="0">
                <a:latin typeface="Times New Roman" panose="02020603050405020304" pitchFamily="18" charset="0"/>
                <a:cs typeface="Times New Roman" panose="02020603050405020304" pitchFamily="18" charset="0"/>
              </a:rPr>
              <a:t> dictionary </a:t>
            </a:r>
            <a:r>
              <a:rPr lang="en-US" altLang="en-US" sz="1600" dirty="0" err="1">
                <a:latin typeface="Times New Roman" panose="02020603050405020304" pitchFamily="18" charset="0"/>
                <a:cs typeface="Times New Roman" panose="02020603050405020304" pitchFamily="18" charset="0"/>
              </a:rPr>
              <a:t>cho</a:t>
            </a:r>
            <a:r>
              <a:rPr lang="en-US" altLang="en-US" sz="1600" dirty="0">
                <a:latin typeface="Times New Roman" panose="02020603050405020304" pitchFamily="18" charset="0"/>
                <a:cs typeface="Times New Roman" panose="02020603050405020304" pitchFamily="18" charset="0"/>
              </a:rPr>
              <a:t> 1 </a:t>
            </a:r>
            <a:r>
              <a:rPr lang="en-US" altLang="en-US" sz="1600" dirty="0" err="1">
                <a:latin typeface="Times New Roman" panose="02020603050405020304" pitchFamily="18" charset="0"/>
                <a:cs typeface="Times New Roman" panose="02020603050405020304" pitchFamily="18" charset="0"/>
              </a:rPr>
              <a:t>chất</a:t>
            </a:r>
            <a:r>
              <a:rPr lang="en-US" altLang="en-US" sz="1600" dirty="0">
                <a:latin typeface="Times New Roman" panose="02020603050405020304" pitchFamily="18" charset="0"/>
                <a:cs typeface="Times New Roman" panose="02020603050405020304" pitchFamily="18" charset="0"/>
              </a:rPr>
              <a:t> dinh </a:t>
            </a:r>
            <a:r>
              <a:rPr lang="en-US" altLang="en-US" sz="1600" dirty="0" err="1">
                <a:latin typeface="Times New Roman" panose="02020603050405020304" pitchFamily="18" charset="0"/>
                <a:cs typeface="Times New Roman" panose="02020603050405020304" pitchFamily="18" charset="0"/>
              </a:rPr>
              <a:t>dưỡng</a:t>
            </a:r>
            <a:endParaRPr lang="en-US" alt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endParaRPr>
          </a:p>
        </p:txBody>
      </p:sp>
      <p:sp>
        <p:nvSpPr>
          <p:cNvPr id="3" name="Rectangle 4">
            <a:extLst>
              <a:ext uri="{FF2B5EF4-FFF2-40B4-BE49-F238E27FC236}">
                <a16:creationId xmlns:a16="http://schemas.microsoft.com/office/drawing/2014/main" id="{D776F610-8DE6-BDB4-2F11-8A15CAB4DB6C}"/>
              </a:ext>
            </a:extLst>
          </p:cNvPr>
          <p:cNvSpPr>
            <a:spLocks noChangeArrowheads="1"/>
          </p:cNvSpPr>
          <p:nvPr/>
        </p:nvSpPr>
        <p:spPr bwMode="auto">
          <a:xfrm>
            <a:off x="1005840" y="224289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5">
            <a:extLst>
              <a:ext uri="{FF2B5EF4-FFF2-40B4-BE49-F238E27FC236}">
                <a16:creationId xmlns:a16="http://schemas.microsoft.com/office/drawing/2014/main" id="{00B27A25-67DB-684C-6CDF-AAE91F8C93B7}"/>
              </a:ext>
            </a:extLst>
          </p:cNvPr>
          <p:cNvSpPr>
            <a:spLocks noChangeArrowheads="1"/>
          </p:cNvSpPr>
          <p:nvPr/>
        </p:nvSpPr>
        <p:spPr bwMode="auto">
          <a:xfrm>
            <a:off x="3712054" y="6017335"/>
            <a:ext cx="592846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300" b="0" i="0" u="none" strike="noStrike" cap="none" normalizeH="0" baseline="0" dirty="0">
                <a:ln>
                  <a:noFill/>
                </a:ln>
                <a:solidFill>
                  <a:srgbClr val="000000"/>
                </a:solidFill>
                <a:effectLst/>
                <a:latin typeface="Times New Roman" panose="02020603050405020304" pitchFamily="18" charset="0"/>
                <a:ea typeface="SimHei" panose="02010609060101010101" pitchFamily="49" charset="-122"/>
                <a:cs typeface="Times New Roman" panose="02020603050405020304" pitchFamily="18" charset="0"/>
              </a:rPr>
              <a:t>Hình 1</a:t>
            </a:r>
            <a:r>
              <a:rPr kumimoji="0" lang="en-US" altLang="en-US" sz="1300" b="0" i="0" u="none" strike="noStrike" cap="none" normalizeH="0" baseline="0" dirty="0">
                <a:ln>
                  <a:noFill/>
                </a:ln>
                <a:solidFill>
                  <a:srgbClr val="000000"/>
                </a:solidFill>
                <a:effectLst/>
                <a:latin typeface="Times New Roman" panose="02020603050405020304" pitchFamily="18" charset="0"/>
                <a:ea typeface="SimHei" panose="02010609060101010101" pitchFamily="49" charset="-122"/>
                <a:cs typeface="Times New Roman" panose="02020603050405020304" pitchFamily="18" charset="0"/>
              </a:rPr>
              <a:t>:</a:t>
            </a:r>
            <a:r>
              <a:rPr kumimoji="0" lang="vi-VN" altLang="en-US" sz="1300" b="0" i="0" u="none" strike="noStrike" cap="none" normalizeH="0" baseline="0" dirty="0">
                <a:ln>
                  <a:noFill/>
                </a:ln>
                <a:solidFill>
                  <a:srgbClr val="000000"/>
                </a:solidFill>
                <a:effectLst/>
                <a:latin typeface="Times New Roman" panose="02020603050405020304" pitchFamily="18" charset="0"/>
                <a:ea typeface="SimHei" panose="02010609060101010101" pitchFamily="49" charset="-122"/>
                <a:cs typeface="Times New Roman" panose="02020603050405020304" pitchFamily="18" charset="0"/>
              </a:rPr>
              <a:t> </a:t>
            </a:r>
            <a:r>
              <a:rPr kumimoji="0" lang="en-US" altLang="en-US" sz="1300" b="0" i="0" u="none" strike="noStrike" cap="none" normalizeH="0" baseline="0" dirty="0">
                <a:ln>
                  <a:noFill/>
                </a:ln>
                <a:solidFill>
                  <a:srgbClr val="000000"/>
                </a:solidFill>
                <a:effectLst/>
                <a:latin typeface="Times New Roman" panose="02020603050405020304" pitchFamily="18" charset="0"/>
                <a:ea typeface="SimHei" panose="02010609060101010101" pitchFamily="49" charset="-122"/>
                <a:cs typeface="Times New Roman" panose="02020603050405020304" pitchFamily="18" charset="0"/>
              </a:rPr>
              <a:t>C</a:t>
            </a:r>
            <a:r>
              <a:rPr kumimoji="0" lang="vi-VN" altLang="en-US" sz="1300" b="0" i="0" u="none" strike="noStrike" cap="none" normalizeH="0" baseline="0" dirty="0">
                <a:ln>
                  <a:noFill/>
                </a:ln>
                <a:solidFill>
                  <a:srgbClr val="000000"/>
                </a:solidFill>
                <a:effectLst/>
                <a:latin typeface="Times New Roman" panose="02020603050405020304" pitchFamily="18" charset="0"/>
                <a:ea typeface="SimHei" panose="02010609060101010101" pitchFamily="49" charset="-122"/>
                <a:cs typeface="Times New Roman" panose="02020603050405020304" pitchFamily="18" charset="0"/>
              </a:rPr>
              <a:t>hất dinh dưỡng đầu tiên trong danh sách của thực phẩm đầu tiên</a:t>
            </a:r>
            <a:endParaRPr kumimoji="0" lang="vi-V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4053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D1D38-2AC9-5623-8738-515A37E2326B}"/>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58DA9DE8-EECF-0301-A6F3-9BFD1670D8FF}"/>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8A57A074-242C-AA37-2127-FC7B40D3D28E}"/>
              </a:ext>
            </a:extLst>
          </p:cNvPr>
          <p:cNvCxnSpPr>
            <a:cxnSpLocks/>
          </p:cNvCxnSpPr>
          <p:nvPr/>
        </p:nvCxnSpPr>
        <p:spPr>
          <a:xfrm>
            <a:off x="10002416" y="522898"/>
            <a:ext cx="218958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29A3D6D6-F1FB-BD63-85D8-2CE380537E10}"/>
              </a:ext>
            </a:extLst>
          </p:cNvPr>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PHÂN TÍCH</a:t>
            </a:r>
          </a:p>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AE963B-AAB5-E5C0-FE2D-011A30D46015}"/>
              </a:ext>
            </a:extLst>
          </p:cNvPr>
          <p:cNvCxnSpPr>
            <a:cxnSpLocks/>
          </p:cNvCxnSpPr>
          <p:nvPr/>
        </p:nvCxnSpPr>
        <p:spPr>
          <a:xfrm>
            <a:off x="0" y="522898"/>
            <a:ext cx="230466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A885FABB-6A1F-D190-1EF4-9DEEF8112716}"/>
              </a:ext>
            </a:extLst>
          </p:cNvPr>
          <p:cNvSpPr>
            <a:spLocks noChangeArrowheads="1"/>
          </p:cNvSpPr>
          <p:nvPr/>
        </p:nvSpPr>
        <p:spPr bwMode="auto">
          <a:xfrm>
            <a:off x="579120" y="1177230"/>
            <a:ext cx="9804400" cy="13618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3808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2400" b="1" i="0" u="none" strike="noStrike" cap="none" normalizeH="0" baseline="0" dirty="0" bmk="_Toc1111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EDA không dùng biểu đồ (Non-graphie EDA)</a:t>
            </a:r>
            <a:endParaRPr kumimoji="0" lang="en-US" altLang="en-US" sz="2400" b="1" i="1"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2000" b="1" i="0" u="none" strike="noStrike" cap="none" normalizeH="0" baseline="0" dirty="0" bmk="_Toc212409634">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1.1 Xử lý giá trị bị thiếu</a:t>
            </a:r>
            <a:endParaRPr kumimoji="0" lang="en-US" altLang="en-US" sz="2000" b="1" i="0" u="none" strike="noStrike" cap="none" normalizeH="0" baseline="0" dirty="0">
              <a:ln>
                <a:noFill/>
              </a:ln>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073" name="Picture 1" descr="A close up of a text&#10;&#10;AI-generated content may be incorrect.">
            <a:extLst>
              <a:ext uri="{FF2B5EF4-FFF2-40B4-BE49-F238E27FC236}">
                <a16:creationId xmlns:a16="http://schemas.microsoft.com/office/drawing/2014/main" id="{A7BB6B77-DEBD-49A5-D6D4-D8D49ABBF7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4414" y="2800188"/>
            <a:ext cx="6823171" cy="125762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73BF8166-31C2-BC38-47A8-230BD479E1E2}"/>
              </a:ext>
            </a:extLst>
          </p:cNvPr>
          <p:cNvSpPr>
            <a:spLocks noChangeArrowheads="1"/>
          </p:cNvSpPr>
          <p:nvPr/>
        </p:nvSpPr>
        <p:spPr bwMode="auto">
          <a:xfrm>
            <a:off x="4759586" y="4690957"/>
            <a:ext cx="586232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300" b="0" i="0" u="none" strike="noStrike" cap="none" normalizeH="0" baseline="0" dirty="0">
                <a:ln>
                  <a:noFill/>
                </a:ln>
                <a:solidFill>
                  <a:schemeClr val="tx1"/>
                </a:solidFill>
                <a:effectLst/>
                <a:latin typeface="Times New Roman" panose="02020603050405020304" pitchFamily="18" charset="0"/>
                <a:ea typeface="SimHei" panose="02010609060101010101" pitchFamily="49" charset="-122"/>
                <a:cs typeface="Times New Roman" panose="02020603050405020304" pitchFamily="18" charset="0"/>
              </a:rPr>
              <a:t>Hình 2:</a:t>
            </a:r>
            <a:r>
              <a:rPr kumimoji="0" lang="vi-VN" altLang="en-US" sz="1300" b="0" i="0" u="none" strike="noStrike" cap="none" normalizeH="0" baseline="0" dirty="0" bmk="">
                <a:ln>
                  <a:noFill/>
                </a:ln>
                <a:solidFill>
                  <a:schemeClr val="tx1"/>
                </a:solidFill>
                <a:effectLst/>
                <a:latin typeface="Times New Roman" panose="02020603050405020304" pitchFamily="18" charset="0"/>
                <a:ea typeface="SimHei" panose="02010609060101010101" pitchFamily="49" charset="-122"/>
                <a:cs typeface="Times New Roman" panose="02020603050405020304" pitchFamily="18" charset="0"/>
              </a:rPr>
              <a:t> Xử lý giá trị bị thiếu</a:t>
            </a:r>
            <a:endParaRPr kumimoji="0" lang="vi-V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8035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41D34-0890-CB39-B6B7-D2D2486A9152}"/>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13B5D68A-58B7-5461-A133-CE04E1EA2697}"/>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BDC84E62-0523-40BD-11BC-A16731C27447}"/>
              </a:ext>
            </a:extLst>
          </p:cNvPr>
          <p:cNvCxnSpPr>
            <a:cxnSpLocks/>
          </p:cNvCxnSpPr>
          <p:nvPr/>
        </p:nvCxnSpPr>
        <p:spPr>
          <a:xfrm>
            <a:off x="10002416" y="522898"/>
            <a:ext cx="218958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7A0A0F2-7D3C-A9EA-10E2-953C246448DE}"/>
              </a:ext>
            </a:extLst>
          </p:cNvPr>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PHÂN TÍCH</a:t>
            </a:r>
          </a:p>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52B8DC37-4AE9-6DBC-E128-D83DD2338822}"/>
              </a:ext>
            </a:extLst>
          </p:cNvPr>
          <p:cNvCxnSpPr>
            <a:cxnSpLocks/>
          </p:cNvCxnSpPr>
          <p:nvPr/>
        </p:nvCxnSpPr>
        <p:spPr>
          <a:xfrm>
            <a:off x="0" y="522898"/>
            <a:ext cx="230466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7F042115-C264-59CA-59A2-0194C473B7FC}"/>
              </a:ext>
            </a:extLst>
          </p:cNvPr>
          <p:cNvSpPr>
            <a:spLocks noChangeArrowheads="1"/>
          </p:cNvSpPr>
          <p:nvPr/>
        </p:nvSpPr>
        <p:spPr bwMode="auto">
          <a:xfrm>
            <a:off x="640080" y="634512"/>
            <a:ext cx="9804400" cy="9309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38088" numCol="1" anchor="ctr" anchorCtr="0" compatLnSpc="1">
            <a:prstTxWarp prst="textNoShape">
              <a:avLst/>
            </a:prstTxWarp>
            <a:spAutoFit/>
          </a:bodyPr>
          <a:lstStyle/>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 EDA trực quan bằng sơ đồ (Graphical EDA)</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Biểu đồ Phân b</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ố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số</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lượng</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thực</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phẩm</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theo</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nhóm</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2" name="Picture 1" descr="A graph of a bar chart&#10;&#10;AI-generated content may be incorrect.">
            <a:extLst>
              <a:ext uri="{FF2B5EF4-FFF2-40B4-BE49-F238E27FC236}">
                <a16:creationId xmlns:a16="http://schemas.microsoft.com/office/drawing/2014/main" id="{C70854C6-E04C-8B57-CB32-4059D2040390}"/>
              </a:ext>
            </a:extLst>
          </p:cNvPr>
          <p:cNvPicPr>
            <a:picLocks noChangeAspect="1"/>
          </p:cNvPicPr>
          <p:nvPr/>
        </p:nvPicPr>
        <p:blipFill>
          <a:blip r:embed="rId3"/>
          <a:stretch>
            <a:fillRect/>
          </a:stretch>
        </p:blipFill>
        <p:spPr>
          <a:xfrm>
            <a:off x="40640" y="1955063"/>
            <a:ext cx="7000240" cy="2717685"/>
          </a:xfrm>
          <a:prstGeom prst="rect">
            <a:avLst/>
          </a:prstGeom>
        </p:spPr>
      </p:pic>
      <p:sp>
        <p:nvSpPr>
          <p:cNvPr id="7" name="TextBox 6">
            <a:extLst>
              <a:ext uri="{FF2B5EF4-FFF2-40B4-BE49-F238E27FC236}">
                <a16:creationId xmlns:a16="http://schemas.microsoft.com/office/drawing/2014/main" id="{9CB73E62-8300-CAE6-AC1B-DA9ECB031174}"/>
              </a:ext>
            </a:extLst>
          </p:cNvPr>
          <p:cNvSpPr txBox="1"/>
          <p:nvPr/>
        </p:nvSpPr>
        <p:spPr>
          <a:xfrm>
            <a:off x="1932940" y="4987380"/>
            <a:ext cx="6101080" cy="315151"/>
          </a:xfrm>
          <a:prstGeom prst="rect">
            <a:avLst/>
          </a:prstGeom>
          <a:noFill/>
        </p:spPr>
        <p:txBody>
          <a:bodyPr wrap="square">
            <a:spAutoFit/>
          </a:bodyPr>
          <a:lstStyle/>
          <a:p>
            <a:pPr marL="0" marR="0" algn="just">
              <a:lnSpc>
                <a:spcPct val="135000"/>
              </a:lnSpc>
              <a:buNone/>
            </a:pPr>
            <a:r>
              <a:rPr lang="vi-VN" sz="1200" dirty="0">
                <a:solidFill>
                  <a:srgbClr val="000000"/>
                </a:solidFill>
                <a:effectLst/>
                <a:latin typeface="Times New Roman" panose="02020603050405020304" pitchFamily="18" charset="0"/>
                <a:ea typeface="SimHei" panose="02010609060101010101" pitchFamily="49" charset="-122"/>
              </a:rPr>
              <a:t>Hình 3: Hình phân b</a:t>
            </a:r>
            <a:r>
              <a:rPr lang="en-US" sz="1200" dirty="0">
                <a:solidFill>
                  <a:srgbClr val="000000"/>
                </a:solidFill>
                <a:effectLst/>
                <a:latin typeface="Times New Roman" panose="02020603050405020304" pitchFamily="18" charset="0"/>
                <a:ea typeface="SimHei" panose="02010609060101010101" pitchFamily="49" charset="-122"/>
              </a:rPr>
              <a:t>ố </a:t>
            </a:r>
            <a:r>
              <a:rPr lang="en-US" sz="1200" dirty="0" err="1">
                <a:solidFill>
                  <a:srgbClr val="000000"/>
                </a:solidFill>
                <a:effectLst/>
                <a:latin typeface="Times New Roman" panose="02020603050405020304" pitchFamily="18" charset="0"/>
                <a:ea typeface="SimHei" panose="02010609060101010101" pitchFamily="49" charset="-122"/>
              </a:rPr>
              <a:t>số</a:t>
            </a:r>
            <a:r>
              <a:rPr lang="en-US" sz="1200" dirty="0">
                <a:solidFill>
                  <a:srgbClr val="000000"/>
                </a:solidFill>
                <a:effectLst/>
                <a:latin typeface="Times New Roman" panose="02020603050405020304" pitchFamily="18" charset="0"/>
                <a:ea typeface="SimHei" panose="02010609060101010101" pitchFamily="49" charset="-122"/>
              </a:rPr>
              <a:t> </a:t>
            </a:r>
            <a:r>
              <a:rPr lang="en-US" sz="1200" dirty="0" err="1">
                <a:solidFill>
                  <a:srgbClr val="000000"/>
                </a:solidFill>
                <a:effectLst/>
                <a:latin typeface="Times New Roman" panose="02020603050405020304" pitchFamily="18" charset="0"/>
                <a:ea typeface="SimHei" panose="02010609060101010101" pitchFamily="49" charset="-122"/>
              </a:rPr>
              <a:t>lượng</a:t>
            </a:r>
            <a:r>
              <a:rPr lang="en-US" sz="1200" dirty="0">
                <a:solidFill>
                  <a:srgbClr val="000000"/>
                </a:solidFill>
                <a:effectLst/>
                <a:latin typeface="Times New Roman" panose="02020603050405020304" pitchFamily="18" charset="0"/>
                <a:ea typeface="SimHei" panose="02010609060101010101" pitchFamily="49" charset="-122"/>
              </a:rPr>
              <a:t> </a:t>
            </a:r>
            <a:r>
              <a:rPr lang="en-US" sz="1200" dirty="0" err="1">
                <a:solidFill>
                  <a:srgbClr val="000000"/>
                </a:solidFill>
                <a:effectLst/>
                <a:latin typeface="Times New Roman" panose="02020603050405020304" pitchFamily="18" charset="0"/>
                <a:ea typeface="SimHei" panose="02010609060101010101" pitchFamily="49" charset="-122"/>
              </a:rPr>
              <a:t>thực</a:t>
            </a:r>
            <a:r>
              <a:rPr lang="en-US" sz="1200" dirty="0">
                <a:solidFill>
                  <a:srgbClr val="000000"/>
                </a:solidFill>
                <a:effectLst/>
                <a:latin typeface="Times New Roman" panose="02020603050405020304" pitchFamily="18" charset="0"/>
                <a:ea typeface="SimHei" panose="02010609060101010101" pitchFamily="49" charset="-122"/>
              </a:rPr>
              <a:t> </a:t>
            </a:r>
            <a:r>
              <a:rPr lang="en-US" sz="1200" dirty="0" err="1">
                <a:solidFill>
                  <a:srgbClr val="000000"/>
                </a:solidFill>
                <a:effectLst/>
                <a:latin typeface="Times New Roman" panose="02020603050405020304" pitchFamily="18" charset="0"/>
                <a:ea typeface="SimHei" panose="02010609060101010101" pitchFamily="49" charset="-122"/>
              </a:rPr>
              <a:t>phẩm</a:t>
            </a:r>
            <a:r>
              <a:rPr lang="en-US" sz="1200" dirty="0">
                <a:solidFill>
                  <a:srgbClr val="000000"/>
                </a:solidFill>
                <a:effectLst/>
                <a:latin typeface="Times New Roman" panose="02020603050405020304" pitchFamily="18" charset="0"/>
                <a:ea typeface="SimHei" panose="02010609060101010101" pitchFamily="49" charset="-122"/>
              </a:rPr>
              <a:t> </a:t>
            </a:r>
            <a:r>
              <a:rPr lang="en-US" sz="1200" dirty="0" err="1">
                <a:solidFill>
                  <a:srgbClr val="000000"/>
                </a:solidFill>
                <a:effectLst/>
                <a:latin typeface="Times New Roman" panose="02020603050405020304" pitchFamily="18" charset="0"/>
                <a:ea typeface="SimHei" panose="02010609060101010101" pitchFamily="49" charset="-122"/>
              </a:rPr>
              <a:t>theo</a:t>
            </a:r>
            <a:r>
              <a:rPr lang="en-US" sz="1200" dirty="0">
                <a:solidFill>
                  <a:srgbClr val="000000"/>
                </a:solidFill>
                <a:effectLst/>
                <a:latin typeface="Times New Roman" panose="02020603050405020304" pitchFamily="18" charset="0"/>
                <a:ea typeface="SimHei" panose="02010609060101010101" pitchFamily="49" charset="-122"/>
              </a:rPr>
              <a:t> </a:t>
            </a:r>
            <a:r>
              <a:rPr lang="en-US" sz="1200" dirty="0" err="1">
                <a:solidFill>
                  <a:srgbClr val="000000"/>
                </a:solidFill>
                <a:effectLst/>
                <a:latin typeface="Times New Roman" panose="02020603050405020304" pitchFamily="18" charset="0"/>
                <a:ea typeface="SimHei" panose="02010609060101010101" pitchFamily="49" charset="-122"/>
              </a:rPr>
              <a:t>nhóm</a:t>
            </a:r>
            <a:endParaRPr lang="en-US" sz="900" dirty="0">
              <a:effectLst/>
              <a:latin typeface="Arial" panose="020B0604020202020204" pitchFamily="34" charset="0"/>
              <a:ea typeface="SimHei" panose="02010609060101010101" pitchFamily="49" charset="-122"/>
            </a:endParaRPr>
          </a:p>
        </p:txBody>
      </p:sp>
      <p:sp>
        <p:nvSpPr>
          <p:cNvPr id="10" name="TextBox 9">
            <a:extLst>
              <a:ext uri="{FF2B5EF4-FFF2-40B4-BE49-F238E27FC236}">
                <a16:creationId xmlns:a16="http://schemas.microsoft.com/office/drawing/2014/main" id="{C93990CE-92EB-EAD9-138D-405B00BF2960}"/>
              </a:ext>
            </a:extLst>
          </p:cNvPr>
          <p:cNvSpPr txBox="1"/>
          <p:nvPr/>
        </p:nvSpPr>
        <p:spPr>
          <a:xfrm>
            <a:off x="6939280" y="1555469"/>
            <a:ext cx="5252720" cy="4911986"/>
          </a:xfrm>
          <a:prstGeom prst="rect">
            <a:avLst/>
          </a:prstGeom>
          <a:solidFill>
            <a:schemeClr val="bg1">
              <a:lumMod val="95000"/>
            </a:schemeClr>
          </a:solidFill>
        </p:spPr>
        <p:txBody>
          <a:bodyPr wrap="square">
            <a:spAutoFit/>
          </a:bodyPr>
          <a:lstStyle/>
          <a:p>
            <a:pPr marL="0" marR="0">
              <a:lnSpc>
                <a:spcPct val="150000"/>
              </a:lnSpc>
              <a:buNone/>
            </a:pP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Nhóm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có</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số</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lượng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nhiều</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nhất</a:t>
            </a:r>
            <a:r>
              <a:rPr lang="en-US" sz="1000" dirty="0">
                <a:effectLst/>
                <a:latin typeface="Times New Roman" panose="02020603050405020304" pitchFamily="18" charset="0"/>
                <a:ea typeface="SimSun" panose="02010600030101010101" pitchFamily="2" charset="-122"/>
              </a:rPr>
              <a:t>:</a:t>
            </a:r>
            <a:br>
              <a:rPr lang="en-US" sz="1000" dirty="0">
                <a:effectLst/>
                <a:latin typeface="Times New Roman" panose="02020603050405020304" pitchFamily="18" charset="0"/>
                <a:ea typeface="SimSun" panose="02010600030101010101" pitchFamily="2" charset="-122"/>
              </a:rPr>
            </a:br>
            <a:r>
              <a:rPr lang="en-US" sz="1000" dirty="0">
                <a:effectLst/>
                <a:latin typeface="Times New Roman" panose="02020603050405020304" pitchFamily="18" charset="0"/>
                <a:ea typeface="SimSun" panose="02010600030101010101" pitchFamily="2" charset="-122"/>
              </a:rPr>
              <a:t>→ Vegetables and Vegetable Products</a:t>
            </a:r>
            <a:br>
              <a:rPr lang="en-US" sz="1000" dirty="0">
                <a:effectLst/>
                <a:latin typeface="Times New Roman" panose="02020603050405020304" pitchFamily="18" charset="0"/>
                <a:ea typeface="SimSun" panose="02010600030101010101" pitchFamily="2" charset="-122"/>
              </a:rPr>
            </a:b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Có</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hơn</a:t>
            </a:r>
            <a:r>
              <a:rPr lang="en-US" sz="1000" dirty="0">
                <a:effectLst/>
                <a:latin typeface="Times New Roman" panose="02020603050405020304" pitchFamily="18" charset="0"/>
                <a:ea typeface="SimSun" panose="02010600030101010101" pitchFamily="2" charset="-122"/>
              </a:rPr>
              <a:t> 800 </a:t>
            </a:r>
            <a:r>
              <a:rPr lang="en-US" sz="1000" dirty="0" err="1">
                <a:effectLst/>
                <a:latin typeface="Times New Roman" panose="02020603050405020304" pitchFamily="18" charset="0"/>
                <a:ea typeface="SimSun" panose="02010600030101010101" pitchFamily="2" charset="-122"/>
              </a:rPr>
              <a:t>loại</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thực</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phẩm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cho</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thấy</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rau</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củ</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quả</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là</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nhóm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được</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ghi</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nhận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đa</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dạng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nhất</a:t>
            </a:r>
            <a:r>
              <a:rPr lang="en-US" sz="1000" dirty="0">
                <a:effectLst/>
                <a:latin typeface="Times New Roman" panose="02020603050405020304" pitchFamily="18" charset="0"/>
                <a:ea typeface="SimSun" panose="02010600030101010101" pitchFamily="2" charset="-122"/>
              </a:rPr>
              <a:t> trong </a:t>
            </a:r>
            <a:r>
              <a:rPr lang="en-US" sz="1000" dirty="0" err="1">
                <a:effectLst/>
                <a:latin typeface="Times New Roman" panose="02020603050405020304" pitchFamily="18" charset="0"/>
                <a:ea typeface="SimSun" panose="02010600030101010101" pitchFamily="2" charset="-122"/>
              </a:rPr>
              <a:t>cơ</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sở</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dữ</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liệu</a:t>
            </a:r>
            <a:r>
              <a:rPr lang="en-US" sz="1000" dirty="0">
                <a:effectLst/>
                <a:latin typeface="Times New Roman" panose="02020603050405020304" pitchFamily="18" charset="0"/>
                <a:ea typeface="SimSun" panose="02010600030101010101" pitchFamily="2" charset="-122"/>
              </a:rPr>
              <a:t> USDA.</a:t>
            </a:r>
            <a:br>
              <a:rPr lang="en-US" sz="1000" dirty="0">
                <a:effectLst/>
                <a:latin typeface="Times New Roman" panose="02020603050405020304" pitchFamily="18" charset="0"/>
                <a:ea typeface="SimSun" panose="02010600030101010101" pitchFamily="2" charset="-122"/>
              </a:rPr>
            </a:br>
            <a:r>
              <a:rPr lang="en-US" sz="1000" dirty="0" err="1">
                <a:effectLst/>
                <a:latin typeface="Times New Roman" panose="02020603050405020304" pitchFamily="18" charset="0"/>
                <a:ea typeface="SimSun" panose="02010600030101010101" pitchFamily="2" charset="-122"/>
              </a:rPr>
              <a:t>Điều</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này</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hợp</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lý</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vì</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rau</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củ</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có</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hàng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trăm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loài</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và</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biến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thể</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ví</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dụ</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rau</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sống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luộc</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đông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lạnh</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đóng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hộp</a:t>
            </a:r>
            <a:r>
              <a:rPr lang="en-US" sz="1000" dirty="0">
                <a:effectLst/>
                <a:latin typeface="Times New Roman" panose="02020603050405020304" pitchFamily="18" charset="0"/>
                <a:ea typeface="SimSun" panose="02010600030101010101" pitchFamily="2" charset="-122"/>
              </a:rPr>
              <a:t>, v.v.)</a:t>
            </a:r>
          </a:p>
          <a:p>
            <a:pPr marL="0" marR="0">
              <a:lnSpc>
                <a:spcPct val="150000"/>
              </a:lnSpc>
              <a:buNone/>
            </a:pP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Nhóm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đứng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thứ</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hai</a:t>
            </a:r>
            <a:r>
              <a:rPr lang="en-US" sz="1000" dirty="0">
                <a:effectLst/>
                <a:latin typeface="Times New Roman" panose="02020603050405020304" pitchFamily="18" charset="0"/>
                <a:ea typeface="SimSun" panose="02010600030101010101" pitchFamily="2" charset="-122"/>
              </a:rPr>
              <a:t>:</a:t>
            </a:r>
            <a:br>
              <a:rPr lang="en-US" sz="1000" dirty="0">
                <a:effectLst/>
                <a:latin typeface="Times New Roman" panose="02020603050405020304" pitchFamily="18" charset="0"/>
                <a:ea typeface="SimSun" panose="02010600030101010101" pitchFamily="2" charset="-122"/>
              </a:rPr>
            </a:br>
            <a:r>
              <a:rPr lang="en-US" sz="1000" dirty="0">
                <a:effectLst/>
                <a:latin typeface="Times New Roman" panose="02020603050405020304" pitchFamily="18" charset="0"/>
                <a:ea typeface="SimSun" panose="02010600030101010101" pitchFamily="2" charset="-122"/>
              </a:rPr>
              <a:t>→ Nut and Seed Products (</a:t>
            </a:r>
            <a:r>
              <a:rPr lang="en-US" sz="1000" dirty="0" err="1">
                <a:effectLst/>
                <a:latin typeface="Times New Roman" panose="02020603050405020304" pitchFamily="18" charset="0"/>
                <a:ea typeface="SimSun" panose="02010600030101010101" pitchFamily="2" charset="-122"/>
              </a:rPr>
              <a:t>hạt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và</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quả</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hạch</a:t>
            </a:r>
            <a:r>
              <a:rPr lang="en-US" sz="1000" dirty="0">
                <a:effectLst/>
                <a:latin typeface="Times New Roman" panose="02020603050405020304" pitchFamily="18" charset="0"/>
                <a:ea typeface="SimSun" panose="02010600030101010101" pitchFamily="2" charset="-122"/>
              </a:rPr>
              <a:t>),</a:t>
            </a:r>
            <a:br>
              <a:rPr lang="en-US" sz="1000" dirty="0">
                <a:effectLst/>
                <a:latin typeface="Times New Roman" panose="02020603050405020304" pitchFamily="18" charset="0"/>
                <a:ea typeface="SimSun" panose="02010600030101010101" pitchFamily="2" charset="-122"/>
              </a:rPr>
            </a:b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cũng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chiếm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số</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lượng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đáng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kể</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cho</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thấy</a:t>
            </a:r>
            <a:r>
              <a:rPr lang="en-US" sz="1000" dirty="0">
                <a:effectLst/>
                <a:latin typeface="Times New Roman" panose="02020603050405020304" pitchFamily="18" charset="0"/>
                <a:ea typeface="SimSun" panose="02010600030101010101" pitchFamily="2" charset="-122"/>
              </a:rPr>
              <a:t> USDA </a:t>
            </a:r>
            <a:r>
              <a:rPr lang="en-US" sz="1000" dirty="0" err="1">
                <a:effectLst/>
                <a:latin typeface="Times New Roman" panose="02020603050405020304" pitchFamily="18" charset="0"/>
                <a:ea typeface="SimSun" panose="02010600030101010101" pitchFamily="2" charset="-122"/>
              </a:rPr>
              <a:t>ghi</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nhận</a:t>
            </a:r>
            <a:r>
              <a:rPr lang="en-US" sz="1000" dirty="0">
                <a:effectLst/>
                <a:latin typeface="Times New Roman" panose="02020603050405020304" pitchFamily="18" charset="0"/>
                <a:ea typeface="SimSun" panose="02010600030101010101" pitchFamily="2" charset="-122"/>
              </a:rPr>
              <a:t> chi </a:t>
            </a:r>
            <a:r>
              <a:rPr lang="en-US" sz="1000" dirty="0" err="1">
                <a:effectLst/>
                <a:latin typeface="Times New Roman" panose="02020603050405020304" pitchFamily="18" charset="0"/>
                <a:ea typeface="SimSun" panose="02010600030101010101" pitchFamily="2" charset="-122"/>
              </a:rPr>
              <a:t>tiết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các</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loại</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hạt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như</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đậu</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phộng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hạnh</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nhân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hạt</a:t>
            </a:r>
            <a:r>
              <a:rPr lang="en-US" sz="1000" dirty="0">
                <a:effectLst/>
                <a:latin typeface="Times New Roman" panose="02020603050405020304" pitchFamily="18" charset="0"/>
                <a:ea typeface="SimSun" panose="02010600030101010101" pitchFamily="2" charset="-122"/>
              </a:rPr>
              <a:t> chia, v.v.</a:t>
            </a:r>
          </a:p>
          <a:p>
            <a:pPr marL="0" marR="0">
              <a:lnSpc>
                <a:spcPct val="150000"/>
              </a:lnSpc>
              <a:buNone/>
            </a:pPr>
            <a:r>
              <a:rPr lang="en-US" sz="1000" dirty="0">
                <a:effectLst/>
                <a:latin typeface="Times New Roman" panose="02020603050405020304" pitchFamily="18" charset="0"/>
                <a:ea typeface="SimSun" panose="02010600030101010101" pitchFamily="2" charset="-122"/>
              </a:rPr>
              <a:t> Các </a:t>
            </a:r>
            <a:r>
              <a:rPr lang="en-US" sz="1000" dirty="0" err="1">
                <a:effectLst/>
                <a:latin typeface="Times New Roman" panose="02020603050405020304" pitchFamily="18" charset="0"/>
                <a:ea typeface="SimSun" panose="02010600030101010101" pitchFamily="2" charset="-122"/>
              </a:rPr>
              <a:t>nhóm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thực</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phẩm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phổ</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biến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khác</a:t>
            </a:r>
            <a:r>
              <a:rPr lang="en-US" sz="1000" dirty="0">
                <a:effectLst/>
                <a:latin typeface="Times New Roman" panose="02020603050405020304" pitchFamily="18" charset="0"/>
                <a:ea typeface="SimSun" panose="02010600030101010101" pitchFamily="2" charset="-122"/>
              </a:rPr>
              <a:t>:</a:t>
            </a:r>
          </a:p>
          <a:p>
            <a:pPr marL="342900" marR="0" lvl="0" indent="-342900">
              <a:lnSpc>
                <a:spcPct val="150000"/>
              </a:lnSpc>
              <a:buSzPts val="1000"/>
              <a:buFont typeface="Symbol" panose="05050102010706020507" pitchFamily="18" charset="2"/>
              <a:buChar char=""/>
              <a:tabLst>
                <a:tab pos="457200" algn="l"/>
              </a:tabLst>
            </a:pPr>
            <a:r>
              <a:rPr lang="en-US" sz="1000" dirty="0">
                <a:effectLst/>
                <a:latin typeface="Times New Roman" panose="02020603050405020304" pitchFamily="18" charset="0"/>
                <a:ea typeface="SimSun" panose="02010600030101010101" pitchFamily="2" charset="-122"/>
              </a:rPr>
              <a:t>Baked Products (bánh </a:t>
            </a:r>
            <a:r>
              <a:rPr lang="en-US" sz="1000" dirty="0" err="1">
                <a:effectLst/>
                <a:latin typeface="Times New Roman" panose="02020603050405020304" pitchFamily="18" charset="0"/>
                <a:ea typeface="SimSun" panose="02010600030101010101" pitchFamily="2" charset="-122"/>
              </a:rPr>
              <a:t>nướng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và</a:t>
            </a:r>
            <a:r>
              <a:rPr lang="en-US" sz="1000" dirty="0">
                <a:effectLst/>
                <a:latin typeface="Times New Roman" panose="02020603050405020304" pitchFamily="18" charset="0"/>
                <a:ea typeface="SimSun" panose="02010600030101010101" pitchFamily="2" charset="-122"/>
              </a:rPr>
              <a:t> Breakfast Cereals (</a:t>
            </a:r>
            <a:r>
              <a:rPr lang="en-US" sz="1000" dirty="0" err="1">
                <a:effectLst/>
                <a:latin typeface="Times New Roman" panose="02020603050405020304" pitchFamily="18" charset="0"/>
                <a:ea typeface="SimSun" panose="02010600030101010101" pitchFamily="2" charset="-122"/>
              </a:rPr>
              <a:t>ngũ</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cốc</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ăn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sáng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có</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số</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lượng</a:t>
            </a:r>
            <a:r>
              <a:rPr lang="en-US" sz="1000" dirty="0">
                <a:effectLst/>
                <a:latin typeface="Times New Roman" panose="02020603050405020304" pitchFamily="18" charset="0"/>
                <a:ea typeface="SimSun" panose="02010600030101010101" pitchFamily="2" charset="-122"/>
              </a:rPr>
              <a:t> trung </a:t>
            </a:r>
            <a:r>
              <a:rPr lang="en-US" sz="1000" dirty="0" err="1">
                <a:effectLst/>
                <a:latin typeface="Times New Roman" panose="02020603050405020304" pitchFamily="18" charset="0"/>
                <a:ea typeface="SimSun" panose="02010600030101010101" pitchFamily="2" charset="-122"/>
              </a:rPr>
              <a:t>bình</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khá</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cao</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phản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ánh</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sự</a:t>
            </a:r>
            <a:r>
              <a:rPr lang="en-US" sz="1000" dirty="0">
                <a:effectLst/>
                <a:latin typeface="Times New Roman" panose="02020603050405020304" pitchFamily="18" charset="0"/>
                <a:ea typeface="SimSun" panose="02010600030101010101" pitchFamily="2" charset="-122"/>
              </a:rPr>
              <a:t> phong </a:t>
            </a:r>
            <a:r>
              <a:rPr lang="en-US" sz="1000" dirty="0" err="1">
                <a:effectLst/>
                <a:latin typeface="Times New Roman" panose="02020603050405020304" pitchFamily="18" charset="0"/>
                <a:ea typeface="SimSun" panose="02010600030101010101" pitchFamily="2" charset="-122"/>
              </a:rPr>
              <a:t>phú</a:t>
            </a:r>
            <a:r>
              <a:rPr lang="en-US" sz="1000" dirty="0">
                <a:effectLst/>
                <a:latin typeface="Times New Roman" panose="02020603050405020304" pitchFamily="18" charset="0"/>
                <a:ea typeface="SimSun" panose="02010600030101010101" pitchFamily="2" charset="-122"/>
              </a:rPr>
              <a:t> trong </a:t>
            </a:r>
            <a:r>
              <a:rPr lang="en-US" sz="1000" dirty="0" err="1">
                <a:effectLst/>
                <a:latin typeface="Times New Roman" panose="02020603050405020304" pitchFamily="18" charset="0"/>
                <a:ea typeface="SimSun" panose="02010600030101010101" pitchFamily="2" charset="-122"/>
              </a:rPr>
              <a:t>sản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phẩm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chế</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biến</a:t>
            </a:r>
            <a:r>
              <a:rPr lang="en-US" sz="1000" dirty="0">
                <a:effectLst/>
                <a:latin typeface="Times New Roman" panose="02020603050405020304" pitchFamily="18" charset="0"/>
                <a:ea typeface="SimSun" panose="02010600030101010101" pitchFamily="2" charset="-122"/>
              </a:rPr>
              <a:t>.</a:t>
            </a:r>
          </a:p>
          <a:p>
            <a:pPr marL="342900" marR="0" lvl="0" indent="-342900">
              <a:lnSpc>
                <a:spcPct val="150000"/>
              </a:lnSpc>
              <a:buSzPts val="1000"/>
              <a:buFont typeface="Symbol" panose="05050102010706020507" pitchFamily="18" charset="2"/>
              <a:buChar char=""/>
              <a:tabLst>
                <a:tab pos="457200" algn="l"/>
              </a:tabLst>
            </a:pPr>
            <a:r>
              <a:rPr lang="en-US" sz="1000" dirty="0">
                <a:effectLst/>
                <a:latin typeface="Times New Roman" panose="02020603050405020304" pitchFamily="18" charset="0"/>
                <a:ea typeface="SimSun" panose="02010600030101010101" pitchFamily="2" charset="-122"/>
              </a:rPr>
              <a:t>Pork Products (</a:t>
            </a:r>
            <a:r>
              <a:rPr lang="en-US" sz="1000" dirty="0" err="1">
                <a:effectLst/>
                <a:latin typeface="Times New Roman" panose="02020603050405020304" pitchFamily="18" charset="0"/>
                <a:ea typeface="SimSun" panose="02010600030101010101" pitchFamily="2" charset="-122"/>
              </a:rPr>
              <a:t>thịt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heo</a:t>
            </a:r>
            <a:r>
              <a:rPr lang="en-US" sz="1000" dirty="0">
                <a:effectLst/>
                <a:latin typeface="Times New Roman" panose="02020603050405020304" pitchFamily="18" charset="0"/>
                <a:ea typeface="SimSun" panose="02010600030101010101" pitchFamily="2" charset="-122"/>
              </a:rPr>
              <a:t>), Beef Products (</a:t>
            </a:r>
            <a:r>
              <a:rPr lang="en-US" sz="1000" dirty="0" err="1">
                <a:effectLst/>
                <a:latin typeface="Times New Roman" panose="02020603050405020304" pitchFamily="18" charset="0"/>
                <a:ea typeface="SimSun" panose="02010600030101010101" pitchFamily="2" charset="-122"/>
              </a:rPr>
              <a:t>thịt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bò</a:t>
            </a:r>
            <a:r>
              <a:rPr lang="en-US" sz="1000" dirty="0">
                <a:effectLst/>
                <a:latin typeface="Times New Roman" panose="02020603050405020304" pitchFamily="18" charset="0"/>
                <a:ea typeface="SimSun" panose="02010600030101010101" pitchFamily="2" charset="-122"/>
              </a:rPr>
              <a:t>), Poultry Products (</a:t>
            </a:r>
            <a:r>
              <a:rPr lang="en-US" sz="1000" dirty="0" err="1">
                <a:effectLst/>
                <a:latin typeface="Times New Roman" panose="02020603050405020304" pitchFamily="18" charset="0"/>
                <a:ea typeface="SimSun" panose="02010600030101010101" pitchFamily="2" charset="-122"/>
              </a:rPr>
              <a:t>thịt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gia</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cầm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cũng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có</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sự</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hiện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diện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đáng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kể</a:t>
            </a:r>
            <a:r>
              <a:rPr lang="en-US" sz="1000" dirty="0">
                <a:effectLst/>
                <a:latin typeface="Times New Roman" panose="02020603050405020304" pitchFamily="18" charset="0"/>
                <a:ea typeface="SimSun" panose="02010600030101010101" pitchFamily="2" charset="-122"/>
              </a:rPr>
              <a:t>.</a:t>
            </a:r>
          </a:p>
          <a:p>
            <a:pPr marL="0" marR="0">
              <a:lnSpc>
                <a:spcPct val="150000"/>
              </a:lnSpc>
              <a:buNone/>
            </a:pPr>
            <a:r>
              <a:rPr lang="en-US" sz="1000" dirty="0" err="1">
                <a:effectLst/>
                <a:latin typeface="Times New Roman" panose="02020603050405020304" pitchFamily="18" charset="0"/>
                <a:ea typeface="SimSun" panose="02010600030101010101" pitchFamily="2" charset="-122"/>
              </a:rPr>
              <a:t>Nhóm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ít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thực</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phẩm</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nhất</a:t>
            </a:r>
            <a:r>
              <a:rPr lang="en-US" sz="1000" dirty="0">
                <a:effectLst/>
                <a:latin typeface="Times New Roman" panose="02020603050405020304" pitchFamily="18" charset="0"/>
                <a:ea typeface="SimSun" panose="02010600030101010101" pitchFamily="2" charset="-122"/>
              </a:rPr>
              <a:t>:</a:t>
            </a:r>
          </a:p>
          <a:p>
            <a:pPr marL="342900" marR="0" lvl="0" indent="-342900">
              <a:lnSpc>
                <a:spcPct val="150000"/>
              </a:lnSpc>
              <a:buSzPts val="1000"/>
              <a:buFont typeface="Symbol" panose="05050102010706020507" pitchFamily="18" charset="2"/>
              <a:buChar char=""/>
              <a:tabLst>
                <a:tab pos="457200" algn="l"/>
              </a:tabLst>
            </a:pPr>
            <a:r>
              <a:rPr lang="en-US" sz="1000" dirty="0">
                <a:effectLst/>
                <a:latin typeface="Times New Roman" panose="02020603050405020304" pitchFamily="18" charset="0"/>
                <a:ea typeface="SimSun" panose="02010600030101010101" pitchFamily="2" charset="-122"/>
              </a:rPr>
              <a:t>Restaurant Foods, Ethnic Foods, Spices and Herbs, Dairy and Egg Products</a:t>
            </a:r>
            <a:br>
              <a:rPr lang="en-US" sz="1000" dirty="0">
                <a:effectLst/>
                <a:latin typeface="Times New Roman" panose="02020603050405020304" pitchFamily="18" charset="0"/>
                <a:ea typeface="SimSun" panose="02010600030101010101" pitchFamily="2" charset="-122"/>
              </a:rPr>
            </a:b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có</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số</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lượng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rất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ít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thường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dưới</a:t>
            </a:r>
            <a:r>
              <a:rPr lang="en-US" sz="1000" dirty="0">
                <a:effectLst/>
                <a:latin typeface="Times New Roman" panose="02020603050405020304" pitchFamily="18" charset="0"/>
                <a:ea typeface="SimSun" panose="02010600030101010101" pitchFamily="2" charset="-122"/>
              </a:rPr>
              <a:t> 100 </a:t>
            </a:r>
            <a:r>
              <a:rPr lang="en-US" sz="1000" dirty="0" err="1">
                <a:effectLst/>
                <a:latin typeface="Times New Roman" panose="02020603050405020304" pitchFamily="18" charset="0"/>
                <a:ea typeface="SimSun" panose="02010600030101010101" pitchFamily="2" charset="-122"/>
              </a:rPr>
              <a:t>mẫu</a:t>
            </a:r>
            <a:r>
              <a:rPr lang="en-US" sz="1000" dirty="0">
                <a:effectLst/>
                <a:latin typeface="Times New Roman" panose="02020603050405020304" pitchFamily="18" charset="0"/>
                <a:ea typeface="SimSun" panose="02010600030101010101" pitchFamily="2" charset="-122"/>
              </a:rPr>
              <a:t>.</a:t>
            </a:r>
            <a:br>
              <a:rPr lang="en-US" sz="1000" dirty="0">
                <a:effectLst/>
                <a:latin typeface="Times New Roman" panose="02020603050405020304" pitchFamily="18" charset="0"/>
                <a:ea typeface="SimSun" panose="02010600030101010101" pitchFamily="2" charset="-122"/>
              </a:rPr>
            </a:br>
            <a:r>
              <a:rPr lang="en-US" sz="1000" dirty="0" err="1">
                <a:effectLst/>
                <a:latin typeface="Times New Roman" panose="02020603050405020304" pitchFamily="18" charset="0"/>
                <a:ea typeface="SimSun" panose="02010600030101010101" pitchFamily="2" charset="-122"/>
              </a:rPr>
              <a:t>Điều</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này</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cho</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thấy</a:t>
            </a:r>
            <a:r>
              <a:rPr lang="en-US" sz="1000" dirty="0">
                <a:effectLst/>
                <a:latin typeface="Times New Roman" panose="02020603050405020304" pitchFamily="18" charset="0"/>
                <a:ea typeface="SimSun" panose="02010600030101010101" pitchFamily="2" charset="-122"/>
              </a:rPr>
              <a:t> USDA </a:t>
            </a:r>
            <a:r>
              <a:rPr lang="en-US" sz="1000" dirty="0" err="1">
                <a:effectLst/>
                <a:latin typeface="Times New Roman" panose="02020603050405020304" pitchFamily="18" charset="0"/>
                <a:ea typeface="SimSun" panose="02010600030101010101" pitchFamily="2" charset="-122"/>
              </a:rPr>
              <a:t>ít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tập</a:t>
            </a:r>
            <a:r>
              <a:rPr lang="en-US" sz="1000" dirty="0">
                <a:effectLst/>
                <a:latin typeface="Times New Roman" panose="02020603050405020304" pitchFamily="18" charset="0"/>
                <a:ea typeface="SimSun" panose="02010600030101010101" pitchFamily="2" charset="-122"/>
              </a:rPr>
              <a:t> trung </a:t>
            </a:r>
            <a:r>
              <a:rPr lang="en-US" sz="1000" dirty="0" err="1">
                <a:effectLst/>
                <a:latin typeface="Times New Roman" panose="02020603050405020304" pitchFamily="18" charset="0"/>
                <a:ea typeface="SimSun" panose="02010600030101010101" pitchFamily="2" charset="-122"/>
              </a:rPr>
              <a:t>vào</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các</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món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ăn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chế</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biến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sẵn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hoặc</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đặc</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sản</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vùng</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miền</a:t>
            </a:r>
            <a:endParaRPr lang="en-US" sz="1000" dirty="0">
              <a:effectLst/>
              <a:latin typeface="Times New Roman" panose="02020603050405020304" pitchFamily="18" charset="0"/>
              <a:ea typeface="SimSun" panose="02010600030101010101" pitchFamily="2" charset="-122"/>
            </a:endParaRPr>
          </a:p>
          <a:p>
            <a:pPr marL="228600" marR="0">
              <a:lnSpc>
                <a:spcPct val="150000"/>
              </a:lnSpc>
              <a:buNone/>
            </a:pPr>
            <a:r>
              <a:rPr lang="en-US" sz="1000" dirty="0" err="1">
                <a:effectLst/>
                <a:latin typeface="Times New Roman" panose="02020603050405020304" pitchFamily="18" charset="0"/>
                <a:ea typeface="SimSun" panose="02010600030101010101" pitchFamily="2" charset="-122"/>
              </a:rPr>
              <a:t>Kết</a:t>
            </a:r>
            <a:r>
              <a:rPr lang="en-US" sz="1000" dirty="0">
                <a:effectLst/>
                <a:latin typeface="Times New Roman" panose="02020603050405020304" pitchFamily="18" charset="0"/>
                <a:ea typeface="SimSun" panose="02010600030101010101" pitchFamily="2" charset="-122"/>
              </a:rPr>
              <a:t> </a:t>
            </a:r>
            <a:r>
              <a:rPr lang="en-US" sz="1000" dirty="0" err="1">
                <a:effectLst/>
                <a:latin typeface="Times New Roman" panose="02020603050405020304" pitchFamily="18" charset="0"/>
                <a:ea typeface="SimSun" panose="02010600030101010101" pitchFamily="2" charset="-122"/>
              </a:rPr>
              <a:t>luận</a:t>
            </a:r>
            <a:r>
              <a:rPr lang="en-US" sz="1000" dirty="0">
                <a:effectLst/>
                <a:latin typeface="Times New Roman" panose="02020603050405020304" pitchFamily="18" charset="0"/>
                <a:ea typeface="SimSun" panose="02010600030101010101" pitchFamily="2" charset="-122"/>
              </a:rPr>
              <a:t>: </a:t>
            </a:r>
            <a:r>
              <a:rPr lang="vi-VN" sz="1000" dirty="0">
                <a:effectLst/>
                <a:latin typeface="Times New Roman" panose="02020603050405020304" pitchFamily="18" charset="0"/>
                <a:ea typeface="SimSun" panose="02010600030101010101" pitchFamily="2" charset="-122"/>
              </a:rPr>
              <a:t>Dữ liệu này tập trung mạnh vào </a:t>
            </a:r>
            <a:r>
              <a:rPr lang="vi-VN" sz="1000" b="1" dirty="0">
                <a:effectLst/>
                <a:latin typeface="Times New Roman" panose="02020603050405020304" pitchFamily="18" charset="0"/>
                <a:ea typeface="SimSun" panose="02010600030101010101" pitchFamily="2" charset="-122"/>
              </a:rPr>
              <a:t>nhóm thực phẩm tươi, tự nhiên, chưa qua chế biến nhiều</a:t>
            </a:r>
            <a:r>
              <a:rPr lang="vi-VN" sz="1000" dirty="0">
                <a:effectLst/>
                <a:latin typeface="Times New Roman" panose="02020603050405020304" pitchFamily="18" charset="0"/>
                <a:ea typeface="SimSun" panose="02010600030101010101" pitchFamily="2" charset="-122"/>
              </a:rPr>
              <a:t> (như rau củ, hạt, ngũ cốc) hơn là nhóm thực phẩm công nghiệp hoặc chế biến sẵn.</a:t>
            </a:r>
            <a:endParaRPr lang="en-US" sz="1000" dirty="0"/>
          </a:p>
        </p:txBody>
      </p:sp>
    </p:spTree>
    <p:extLst>
      <p:ext uri="{BB962C8B-B14F-4D97-AF65-F5344CB8AC3E}">
        <p14:creationId xmlns:p14="http://schemas.microsoft.com/office/powerpoint/2010/main" val="4175355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6F4C4-D2B6-910B-8B95-29B24F0DE3C0}"/>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8A172AF0-A1CE-2CD0-C513-1586608EAD46}"/>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BC9CD224-2E4B-4478-4808-DA1FF9B6311C}"/>
              </a:ext>
            </a:extLst>
          </p:cNvPr>
          <p:cNvCxnSpPr>
            <a:cxnSpLocks/>
          </p:cNvCxnSpPr>
          <p:nvPr/>
        </p:nvCxnSpPr>
        <p:spPr>
          <a:xfrm>
            <a:off x="10002416" y="522898"/>
            <a:ext cx="218958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FD049CB-1C5C-F3D1-C623-37AA25E8AE36}"/>
              </a:ext>
            </a:extLst>
          </p:cNvPr>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PHÂN TÍCH</a:t>
            </a:r>
          </a:p>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69CA42E5-7643-D783-903E-2DC058E884AC}"/>
              </a:ext>
            </a:extLst>
          </p:cNvPr>
          <p:cNvCxnSpPr>
            <a:cxnSpLocks/>
          </p:cNvCxnSpPr>
          <p:nvPr/>
        </p:nvCxnSpPr>
        <p:spPr>
          <a:xfrm>
            <a:off x="0" y="522898"/>
            <a:ext cx="230466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BB9055F7-C9B6-D9CC-8927-491041624C31}"/>
              </a:ext>
            </a:extLst>
          </p:cNvPr>
          <p:cNvSpPr>
            <a:spLocks noChangeArrowheads="1"/>
          </p:cNvSpPr>
          <p:nvPr/>
        </p:nvSpPr>
        <p:spPr bwMode="auto">
          <a:xfrm>
            <a:off x="629920" y="559628"/>
            <a:ext cx="9804400" cy="9309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38088" numCol="1" anchor="ctr" anchorCtr="0" compatLnSpc="1">
            <a:prstTxWarp prst="textNoShape">
              <a:avLst/>
            </a:prstTxWarp>
            <a:spAutoFit/>
          </a:bodyPr>
          <a:lstStyle/>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 EDA trực quan bằng sơ đồ (Graphical EDA)</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Biểu đồ </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Top 15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chất</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dinh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dưỡng</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trung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bình</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cao</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nhất</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3" name="Picture 2" descr="A graph with blue bars and black text&#10;&#10;AI-generated content may be incorrect.">
            <a:extLst>
              <a:ext uri="{FF2B5EF4-FFF2-40B4-BE49-F238E27FC236}">
                <a16:creationId xmlns:a16="http://schemas.microsoft.com/office/drawing/2014/main" id="{9EF855FD-D9FC-9692-7FF5-42516D95B238}"/>
              </a:ext>
            </a:extLst>
          </p:cNvPr>
          <p:cNvPicPr>
            <a:picLocks noChangeAspect="1"/>
          </p:cNvPicPr>
          <p:nvPr/>
        </p:nvPicPr>
        <p:blipFill>
          <a:blip r:embed="rId3"/>
          <a:stretch>
            <a:fillRect/>
          </a:stretch>
        </p:blipFill>
        <p:spPr>
          <a:xfrm>
            <a:off x="5211064" y="1856106"/>
            <a:ext cx="6980936" cy="3295014"/>
          </a:xfrm>
          <a:prstGeom prst="rect">
            <a:avLst/>
          </a:prstGeom>
        </p:spPr>
      </p:pic>
      <p:sp>
        <p:nvSpPr>
          <p:cNvPr id="9" name="TextBox 8">
            <a:extLst>
              <a:ext uri="{FF2B5EF4-FFF2-40B4-BE49-F238E27FC236}">
                <a16:creationId xmlns:a16="http://schemas.microsoft.com/office/drawing/2014/main" id="{2A45556F-518F-2067-BC88-85EE953BD018}"/>
              </a:ext>
            </a:extLst>
          </p:cNvPr>
          <p:cNvSpPr txBox="1"/>
          <p:nvPr/>
        </p:nvSpPr>
        <p:spPr>
          <a:xfrm>
            <a:off x="6972300" y="5380195"/>
            <a:ext cx="4543956" cy="315343"/>
          </a:xfrm>
          <a:prstGeom prst="rect">
            <a:avLst/>
          </a:prstGeom>
          <a:noFill/>
        </p:spPr>
        <p:txBody>
          <a:bodyPr wrap="square">
            <a:spAutoFit/>
          </a:bodyPr>
          <a:lstStyle>
            <a:defPPr>
              <a:defRPr lang="en-US"/>
            </a:defPPr>
            <a:lvl1pPr marR="0" algn="just">
              <a:lnSpc>
                <a:spcPct val="135000"/>
              </a:lnSpc>
              <a:buNone/>
              <a:defRPr sz="1200">
                <a:solidFill>
                  <a:srgbClr val="000000"/>
                </a:solidFill>
                <a:effectLst/>
                <a:latin typeface="Times New Roman" panose="02020603050405020304" pitchFamily="18" charset="0"/>
                <a:ea typeface="SimHei" panose="02010609060101010101" pitchFamily="49" charset="-122"/>
              </a:defRPr>
            </a:lvl1pPr>
          </a:lstStyle>
          <a:p>
            <a:r>
              <a:rPr lang="vi-VN" dirty="0"/>
              <a:t>Hình 4: Biểu đồ</a:t>
            </a:r>
            <a:r>
              <a:rPr lang="en-US" dirty="0"/>
              <a:t> Top 15 </a:t>
            </a:r>
            <a:r>
              <a:rPr lang="en-US" dirty="0" err="1"/>
              <a:t>chất</a:t>
            </a:r>
            <a:r>
              <a:rPr lang="en-US" dirty="0"/>
              <a:t> dinh </a:t>
            </a:r>
            <a:r>
              <a:rPr lang="en-US" dirty="0" err="1"/>
              <a:t>dưỡng</a:t>
            </a:r>
            <a:r>
              <a:rPr lang="en-US" dirty="0"/>
              <a:t> trung </a:t>
            </a:r>
            <a:r>
              <a:rPr lang="en-US" dirty="0" err="1"/>
              <a:t>bình</a:t>
            </a:r>
            <a:r>
              <a:rPr lang="en-US" dirty="0"/>
              <a:t> </a:t>
            </a:r>
            <a:r>
              <a:rPr lang="en-US" dirty="0" err="1"/>
              <a:t>cao</a:t>
            </a:r>
            <a:r>
              <a:rPr lang="en-US" dirty="0"/>
              <a:t> </a:t>
            </a:r>
            <a:r>
              <a:rPr lang="en-US" dirty="0" err="1"/>
              <a:t>nhất</a:t>
            </a:r>
            <a:endParaRPr lang="en-US" dirty="0"/>
          </a:p>
        </p:txBody>
      </p:sp>
      <p:sp>
        <p:nvSpPr>
          <p:cNvPr id="13" name="TextBox 12">
            <a:extLst>
              <a:ext uri="{FF2B5EF4-FFF2-40B4-BE49-F238E27FC236}">
                <a16:creationId xmlns:a16="http://schemas.microsoft.com/office/drawing/2014/main" id="{52B4CB7F-70B5-268A-2A84-0838B7AA6475}"/>
              </a:ext>
            </a:extLst>
          </p:cNvPr>
          <p:cNvSpPr txBox="1"/>
          <p:nvPr/>
        </p:nvSpPr>
        <p:spPr>
          <a:xfrm>
            <a:off x="228600" y="1527321"/>
            <a:ext cx="5227320" cy="5216813"/>
          </a:xfrm>
          <a:prstGeom prst="rect">
            <a:avLst/>
          </a:prstGeom>
          <a:solidFill>
            <a:schemeClr val="bg1">
              <a:lumMod val="95000"/>
            </a:schemeClr>
          </a:solidFill>
        </p:spPr>
        <p:txBody>
          <a:bodyPr wrap="square">
            <a:spAutoFit/>
          </a:bodyPr>
          <a:lstStyle/>
          <a:p>
            <a:pPr marL="342900" marR="0" lvl="0" indent="-342900">
              <a:lnSpc>
                <a:spcPct val="150000"/>
              </a:lnSpc>
              <a:buNone/>
              <a:tabLst>
                <a:tab pos="457200" algn="l"/>
              </a:tabLst>
            </a:pPr>
            <a:r>
              <a:rPr lang="en-US" sz="900" b="1" dirty="0">
                <a:effectLst/>
                <a:latin typeface="Times New Roman" panose="02020603050405020304" pitchFamily="18" charset="0"/>
                <a:ea typeface="SimSun" panose="02010600030101010101" pitchFamily="2" charset="-122"/>
              </a:rPr>
              <a:t>Vitamin A (IU)</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đứng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đầu</a:t>
            </a:r>
            <a:r>
              <a:rPr lang="en-US" sz="900" dirty="0">
                <a:effectLst/>
                <a:latin typeface="Times New Roman" panose="02020603050405020304" pitchFamily="18" charset="0"/>
                <a:ea typeface="SimSun" panose="02010600030101010101" pitchFamily="2" charset="-122"/>
              </a:rPr>
              <a:t> danh </a:t>
            </a:r>
            <a:r>
              <a:rPr lang="en-US" sz="900" dirty="0" err="1">
                <a:effectLst/>
                <a:latin typeface="Times New Roman" panose="02020603050405020304" pitchFamily="18" charset="0"/>
                <a:ea typeface="SimSun" panose="02010600030101010101" pitchFamily="2" charset="-122"/>
              </a:rPr>
              <a:t>sách</a:t>
            </a:r>
            <a:br>
              <a:rPr lang="en-US" sz="900" dirty="0">
                <a:effectLst/>
                <a:latin typeface="Times New Roman" panose="02020603050405020304" pitchFamily="18" charset="0"/>
                <a:ea typeface="SimSun" panose="02010600030101010101" pitchFamily="2" charset="-122"/>
              </a:rPr>
            </a:b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Là</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chất</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có</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giá</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trị</a:t>
            </a:r>
            <a:r>
              <a:rPr lang="en-US" sz="900" dirty="0">
                <a:effectLst/>
                <a:latin typeface="Times New Roman" panose="02020603050405020304" pitchFamily="18" charset="0"/>
                <a:ea typeface="SimSun" panose="02010600030101010101" pitchFamily="2" charset="-122"/>
              </a:rPr>
              <a:t> trung </a:t>
            </a:r>
            <a:r>
              <a:rPr lang="en-US" sz="900" dirty="0" err="1">
                <a:effectLst/>
                <a:latin typeface="Times New Roman" panose="02020603050405020304" pitchFamily="18" charset="0"/>
                <a:ea typeface="SimSun" panose="02010600030101010101" pitchFamily="2" charset="-122"/>
              </a:rPr>
              <a:t>bình</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cao</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nhất</a:t>
            </a:r>
            <a:r>
              <a:rPr lang="en-US" sz="900" dirty="0">
                <a:effectLst/>
                <a:latin typeface="Times New Roman" panose="02020603050405020304" pitchFamily="18" charset="0"/>
                <a:ea typeface="SimSun" panose="02010600030101010101" pitchFamily="2" charset="-122"/>
              </a:rPr>
              <a:t>.</a:t>
            </a:r>
            <a:br>
              <a:rPr lang="en-US" sz="900" dirty="0">
                <a:effectLst/>
                <a:latin typeface="Times New Roman" panose="02020603050405020304" pitchFamily="18" charset="0"/>
                <a:ea typeface="SimSun" panose="02010600030101010101" pitchFamily="2" charset="-122"/>
              </a:rPr>
            </a:br>
            <a:r>
              <a:rPr lang="en-US" sz="900" dirty="0" err="1">
                <a:effectLst/>
                <a:latin typeface="Times New Roman" panose="02020603050405020304" pitchFamily="18" charset="0"/>
                <a:ea typeface="SimSun" panose="02010600030101010101" pitchFamily="2" charset="-122"/>
              </a:rPr>
              <a:t>Điều</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này</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cho</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thấy</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rất</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nhiều</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thực</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phẩm</a:t>
            </a:r>
            <a:r>
              <a:rPr lang="en-US" sz="900" dirty="0">
                <a:effectLst/>
                <a:latin typeface="Times New Roman" panose="02020603050405020304" pitchFamily="18" charset="0"/>
                <a:ea typeface="SimSun" panose="02010600030101010101" pitchFamily="2" charset="-122"/>
              </a:rPr>
              <a:t> trong </a:t>
            </a:r>
            <a:r>
              <a:rPr lang="en-US" sz="900" dirty="0" err="1">
                <a:effectLst/>
                <a:latin typeface="Times New Roman" panose="02020603050405020304" pitchFamily="18" charset="0"/>
                <a:ea typeface="SimSun" panose="02010600030101010101" pitchFamily="2" charset="-122"/>
              </a:rPr>
              <a:t>cơ</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sở</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dữ</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liệu</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có</a:t>
            </a:r>
            <a:r>
              <a:rPr lang="en-US" sz="900"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hàm</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lượng</a:t>
            </a:r>
            <a:r>
              <a:rPr lang="en-US" sz="900" b="1" dirty="0">
                <a:effectLst/>
                <a:latin typeface="Times New Roman" panose="02020603050405020304" pitchFamily="18" charset="0"/>
                <a:ea typeface="SimSun" panose="02010600030101010101" pitchFamily="2" charset="-122"/>
              </a:rPr>
              <a:t> Vitamin A </a:t>
            </a:r>
            <a:r>
              <a:rPr lang="en-US" sz="900" b="1" dirty="0" err="1">
                <a:effectLst/>
                <a:latin typeface="Times New Roman" panose="02020603050405020304" pitchFamily="18" charset="0"/>
                <a:ea typeface="SimSun" panose="02010600030101010101" pitchFamily="2" charset="-122"/>
              </a:rPr>
              <a:t>cao</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đặc</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biệt</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là</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rau</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củ</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có</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màu</a:t>
            </a:r>
            <a:r>
              <a:rPr lang="en-US" sz="900" dirty="0">
                <a:effectLst/>
                <a:latin typeface="Times New Roman" panose="02020603050405020304" pitchFamily="18" charset="0"/>
                <a:ea typeface="SimSun" panose="02010600030101010101" pitchFamily="2" charset="-122"/>
              </a:rPr>
              <a:t> cam, </a:t>
            </a:r>
            <a:r>
              <a:rPr lang="en-US" sz="900" dirty="0" err="1">
                <a:effectLst/>
                <a:latin typeface="Times New Roman" panose="02020603050405020304" pitchFamily="18" charset="0"/>
                <a:ea typeface="SimSun" panose="02010600030101010101" pitchFamily="2" charset="-122"/>
              </a:rPr>
              <a:t>vàng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như</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cà</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rốt</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bí</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đỏ</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hoặc</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gan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động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vật</a:t>
            </a:r>
            <a:r>
              <a:rPr lang="en-US" sz="900" dirty="0">
                <a:effectLst/>
                <a:latin typeface="Times New Roman" panose="02020603050405020304" pitchFamily="18" charset="0"/>
                <a:ea typeface="SimSun" panose="02010600030101010101" pitchFamily="2" charset="-122"/>
              </a:rPr>
              <a:t>.</a:t>
            </a:r>
            <a:br>
              <a:rPr lang="en-US" sz="900" dirty="0">
                <a:effectLst/>
                <a:latin typeface="Times New Roman" panose="02020603050405020304" pitchFamily="18" charset="0"/>
                <a:ea typeface="SimSun" panose="02010600030101010101" pitchFamily="2" charset="-122"/>
              </a:rPr>
            </a:br>
            <a:r>
              <a:rPr lang="en-US" sz="900" dirty="0">
                <a:effectLst/>
                <a:latin typeface="Times New Roman" panose="02020603050405020304" pitchFamily="18" charset="0"/>
                <a:ea typeface="SimSun" panose="02010600030101010101" pitchFamily="2" charset="-122"/>
              </a:rPr>
              <a:t>Vitamin A </a:t>
            </a:r>
            <a:r>
              <a:rPr lang="en-US" sz="900" dirty="0" err="1">
                <a:effectLst/>
                <a:latin typeface="Times New Roman" panose="02020603050405020304" pitchFamily="18" charset="0"/>
                <a:ea typeface="SimSun" panose="02010600030101010101" pitchFamily="2" charset="-122"/>
              </a:rPr>
              <a:t>quan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trọng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cho</a:t>
            </a:r>
            <a:r>
              <a:rPr lang="en-US" sz="900"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thị</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lực</a:t>
            </a:r>
            <a:r>
              <a:rPr lang="en-US" sz="900" b="1" dirty="0">
                <a:effectLst/>
                <a:latin typeface="Times New Roman" panose="02020603050405020304" pitchFamily="18" charset="0"/>
                <a:ea typeface="SimSun" panose="02010600030101010101" pitchFamily="2" charset="-122"/>
              </a:rPr>
              <a:t>, da </a:t>
            </a:r>
            <a:r>
              <a:rPr lang="en-US" sz="900" b="1" dirty="0" err="1">
                <a:effectLst/>
                <a:latin typeface="Times New Roman" panose="02020603050405020304" pitchFamily="18" charset="0"/>
                <a:ea typeface="SimSun" panose="02010600030101010101" pitchFamily="2" charset="-122"/>
              </a:rPr>
              <a:t>và</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hệ</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miễn</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dịch</a:t>
            </a:r>
            <a:r>
              <a:rPr lang="en-US" sz="900" dirty="0">
                <a:effectLst/>
                <a:latin typeface="Times New Roman" panose="02020603050405020304" pitchFamily="18" charset="0"/>
                <a:ea typeface="SimSun" panose="02010600030101010101" pitchFamily="2" charset="-122"/>
              </a:rPr>
              <a:t>.</a:t>
            </a:r>
          </a:p>
          <a:p>
            <a:pPr marL="342900" marR="0" lvl="0" indent="-342900">
              <a:lnSpc>
                <a:spcPct val="150000"/>
              </a:lnSpc>
              <a:buNone/>
              <a:tabLst>
                <a:tab pos="457200" algn="l"/>
              </a:tabLst>
            </a:pPr>
            <a:r>
              <a:rPr lang="en-US" sz="900" b="1" dirty="0">
                <a:effectLst/>
                <a:latin typeface="Times New Roman" panose="02020603050405020304" pitchFamily="18" charset="0"/>
                <a:ea typeface="SimSun" panose="02010600030101010101" pitchFamily="2" charset="-122"/>
              </a:rPr>
              <a:t>Energy (</a:t>
            </a:r>
            <a:r>
              <a:rPr lang="en-US" sz="900" b="1" dirty="0" err="1">
                <a:effectLst/>
                <a:latin typeface="Times New Roman" panose="02020603050405020304" pitchFamily="18" charset="0"/>
                <a:ea typeface="SimSun" panose="02010600030101010101" pitchFamily="2" charset="-122"/>
              </a:rPr>
              <a:t>năng</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lượng</a:t>
            </a:r>
            <a:r>
              <a:rPr lang="en-US" sz="900" b="1" dirty="0">
                <a:effectLst/>
                <a:latin typeface="Times New Roman" panose="02020603050405020304" pitchFamily="18" charset="0"/>
                <a:ea typeface="SimSun" panose="02010600030101010101" pitchFamily="2" charset="-122"/>
              </a:rPr>
              <a:t>)</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đứng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thứ</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hai</a:t>
            </a:r>
            <a:br>
              <a:rPr lang="en-US" sz="900" dirty="0">
                <a:effectLst/>
                <a:latin typeface="Times New Roman" panose="02020603050405020304" pitchFamily="18" charset="0"/>
                <a:ea typeface="SimSun" panose="02010600030101010101" pitchFamily="2" charset="-122"/>
              </a:rPr>
            </a:b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Phản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ánh</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mức</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năng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lượng</a:t>
            </a:r>
            <a:r>
              <a:rPr lang="en-US" sz="900" dirty="0">
                <a:effectLst/>
                <a:latin typeface="Times New Roman" panose="02020603050405020304" pitchFamily="18" charset="0"/>
                <a:ea typeface="SimSun" panose="02010600030101010101" pitchFamily="2" charset="-122"/>
              </a:rPr>
              <a:t> trung </a:t>
            </a:r>
            <a:r>
              <a:rPr lang="en-US" sz="900" dirty="0" err="1">
                <a:effectLst/>
                <a:latin typeface="Times New Roman" panose="02020603050405020304" pitchFamily="18" charset="0"/>
                <a:ea typeface="SimSun" panose="02010600030101010101" pitchFamily="2" charset="-122"/>
              </a:rPr>
              <a:t>bình</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của</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thực</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phẩm</a:t>
            </a:r>
            <a:r>
              <a:rPr lang="en-US" sz="900" dirty="0">
                <a:effectLst/>
                <a:latin typeface="Times New Roman" panose="02020603050405020304" pitchFamily="18" charset="0"/>
                <a:ea typeface="SimSun" panose="02010600030101010101" pitchFamily="2" charset="-122"/>
              </a:rPr>
              <a:t> </a:t>
            </a:r>
            <a:r>
              <a:rPr lang="en-US" sz="300" dirty="0">
                <a:latin typeface="Times New Roman" panose="02020603050405020304" pitchFamily="18" charset="0"/>
                <a:ea typeface="SimSun" panose="02010600030101010101" pitchFamily="2" charset="-122"/>
              </a:rPr>
              <a:t>trong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cơ</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sở</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dữ</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liệu</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biểu</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thị</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bằng</a:t>
            </a:r>
            <a:r>
              <a:rPr lang="en-US" sz="900" dirty="0">
                <a:effectLst/>
                <a:latin typeface="Times New Roman" panose="02020603050405020304" pitchFamily="18" charset="0"/>
                <a:ea typeface="SimSun" panose="02010600030101010101" pitchFamily="2" charset="-122"/>
              </a:rPr>
              <a:t> kcal.</a:t>
            </a:r>
            <a:br>
              <a:rPr lang="en-US" sz="900" dirty="0">
                <a:effectLst/>
                <a:latin typeface="Times New Roman" panose="02020603050405020304" pitchFamily="18" charset="0"/>
                <a:ea typeface="SimSun" panose="02010600030101010101" pitchFamily="2" charset="-122"/>
              </a:rPr>
            </a:br>
            <a:r>
              <a:rPr lang="en-US" sz="900" dirty="0">
                <a:effectLst/>
                <a:latin typeface="Times New Roman" panose="02020603050405020304" pitchFamily="18" charset="0"/>
                <a:ea typeface="SimSun" panose="02010600030101010101" pitchFamily="2" charset="-122"/>
              </a:rPr>
              <a:t>Thực </a:t>
            </a:r>
            <a:r>
              <a:rPr lang="en-US" sz="900" dirty="0" err="1">
                <a:effectLst/>
                <a:latin typeface="Times New Roman" panose="02020603050405020304" pitchFamily="18" charset="0"/>
                <a:ea typeface="SimSun" panose="02010600030101010101" pitchFamily="2" charset="-122"/>
              </a:rPr>
              <a:t>phẩm</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giàu</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năng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lượng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thường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là</a:t>
            </a:r>
            <a:r>
              <a:rPr lang="en-US" sz="900"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thực</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phẩm</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chứa</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chất</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béo</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hoặc</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tinh</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bột</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cao</a:t>
            </a:r>
            <a:r>
              <a:rPr lang="en-US" sz="900" dirty="0">
                <a:effectLst/>
                <a:latin typeface="Times New Roman" panose="02020603050405020304" pitchFamily="18" charset="0"/>
                <a:ea typeface="SimSun" panose="02010600030101010101" pitchFamily="2" charset="-122"/>
              </a:rPr>
              <a:t>.</a:t>
            </a:r>
          </a:p>
          <a:p>
            <a:pPr marL="342900" marR="0" lvl="0" indent="-342900">
              <a:lnSpc>
                <a:spcPct val="150000"/>
              </a:lnSpc>
              <a:buNone/>
              <a:tabLst>
                <a:tab pos="457200" algn="l"/>
              </a:tabLst>
            </a:pPr>
            <a:r>
              <a:rPr lang="en-US" sz="900" b="1" dirty="0">
                <a:effectLst/>
                <a:latin typeface="Times New Roman" panose="02020603050405020304" pitchFamily="18" charset="0"/>
                <a:ea typeface="SimSun" panose="02010600030101010101" pitchFamily="2" charset="-122"/>
              </a:rPr>
              <a:t>Sodium (Na)</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và</a:t>
            </a:r>
            <a:r>
              <a:rPr lang="en-US" sz="900" dirty="0">
                <a:effectLst/>
                <a:latin typeface="Times New Roman" panose="02020603050405020304" pitchFamily="18" charset="0"/>
                <a:ea typeface="SimSun" panose="02010600030101010101" pitchFamily="2" charset="-122"/>
              </a:rPr>
              <a:t> </a:t>
            </a:r>
            <a:r>
              <a:rPr lang="en-US" sz="900" b="1" dirty="0">
                <a:effectLst/>
                <a:latin typeface="Times New Roman" panose="02020603050405020304" pitchFamily="18" charset="0"/>
                <a:ea typeface="SimSun" panose="02010600030101010101" pitchFamily="2" charset="-122"/>
              </a:rPr>
              <a:t>Potassium (K)</a:t>
            </a:r>
            <a:br>
              <a:rPr lang="en-US" sz="900" dirty="0">
                <a:effectLst/>
                <a:latin typeface="Times New Roman" panose="02020603050405020304" pitchFamily="18" charset="0"/>
                <a:ea typeface="SimSun" panose="02010600030101010101" pitchFamily="2" charset="-122"/>
              </a:rPr>
            </a:br>
            <a:r>
              <a:rPr lang="en-US" sz="900" dirty="0">
                <a:effectLst/>
                <a:latin typeface="Times New Roman" panose="02020603050405020304" pitchFamily="18" charset="0"/>
                <a:ea typeface="SimSun" panose="02010600030101010101" pitchFamily="2" charset="-122"/>
              </a:rPr>
              <a:t>→ Hai </a:t>
            </a:r>
            <a:r>
              <a:rPr lang="en-US" sz="900" dirty="0" err="1">
                <a:effectLst/>
                <a:latin typeface="Times New Roman" panose="02020603050405020304" pitchFamily="18" charset="0"/>
                <a:ea typeface="SimSun" panose="02010600030101010101" pitchFamily="2" charset="-122"/>
              </a:rPr>
              <a:t>chất</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khoáng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phổ</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biến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giữ</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vai</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trò</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quan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trọng</a:t>
            </a:r>
            <a:r>
              <a:rPr lang="en-US" sz="900" dirty="0">
                <a:effectLst/>
                <a:latin typeface="Times New Roman" panose="02020603050405020304" pitchFamily="18" charset="0"/>
                <a:ea typeface="SimSun" panose="02010600030101010101" pitchFamily="2" charset="-122"/>
              </a:rPr>
              <a:t> trong </a:t>
            </a:r>
            <a:r>
              <a:rPr lang="en-US" sz="900" dirty="0" err="1">
                <a:effectLst/>
                <a:latin typeface="Times New Roman" panose="02020603050405020304" pitchFamily="18" charset="0"/>
                <a:ea typeface="SimSun" panose="02010600030101010101" pitchFamily="2" charset="-122"/>
              </a:rPr>
              <a:t>cân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bằng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điện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giải</a:t>
            </a:r>
            <a:r>
              <a:rPr lang="en-US" sz="900" dirty="0">
                <a:effectLst/>
                <a:latin typeface="Times New Roman" panose="02020603050405020304" pitchFamily="18" charset="0"/>
                <a:ea typeface="SimSun" panose="02010600030101010101" pitchFamily="2" charset="-122"/>
              </a:rPr>
              <a:t>.</a:t>
            </a:r>
            <a:br>
              <a:rPr lang="en-US" sz="900" dirty="0">
                <a:effectLst/>
                <a:latin typeface="Times New Roman" panose="02020603050405020304" pitchFamily="18" charset="0"/>
                <a:ea typeface="SimSun" panose="02010600030101010101" pitchFamily="2" charset="-122"/>
              </a:rPr>
            </a:br>
            <a:r>
              <a:rPr lang="en-US" sz="900" dirty="0">
                <a:effectLst/>
                <a:latin typeface="Times New Roman" panose="02020603050405020304" pitchFamily="18" charset="0"/>
                <a:ea typeface="SimSun" panose="02010600030101010101" pitchFamily="2" charset="-122"/>
              </a:rPr>
              <a:t>→ Sodium </a:t>
            </a:r>
            <a:r>
              <a:rPr lang="en-US" sz="900" dirty="0" err="1">
                <a:effectLst/>
                <a:latin typeface="Times New Roman" panose="02020603050405020304" pitchFamily="18" charset="0"/>
                <a:ea typeface="SimSun" panose="02010600030101010101" pitchFamily="2" charset="-122"/>
              </a:rPr>
              <a:t>có</a:t>
            </a:r>
            <a:r>
              <a:rPr lang="en-US" sz="900" dirty="0">
                <a:effectLst/>
                <a:latin typeface="Times New Roman" panose="02020603050405020304" pitchFamily="18" charset="0"/>
                <a:ea typeface="SimSun" panose="02010600030101010101" pitchFamily="2" charset="-122"/>
              </a:rPr>
              <a:t> xu </a:t>
            </a:r>
            <a:r>
              <a:rPr lang="en-US" sz="900" dirty="0" err="1">
                <a:effectLst/>
                <a:latin typeface="Times New Roman" panose="02020603050405020304" pitchFamily="18" charset="0"/>
                <a:ea typeface="SimSun" panose="02010600030101010101" pitchFamily="2" charset="-122"/>
              </a:rPr>
              <a:t>hướng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cao</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hơn</a:t>
            </a:r>
            <a:r>
              <a:rPr lang="en-US" sz="900" dirty="0">
                <a:effectLst/>
                <a:latin typeface="Times New Roman" panose="02020603050405020304" pitchFamily="18" charset="0"/>
                <a:ea typeface="SimSun" panose="02010600030101010101" pitchFamily="2" charset="-122"/>
              </a:rPr>
              <a:t> Potassium trong </a:t>
            </a:r>
            <a:r>
              <a:rPr lang="en-US" sz="900" dirty="0" err="1">
                <a:effectLst/>
                <a:latin typeface="Times New Roman" panose="02020603050405020304" pitchFamily="18" charset="0"/>
                <a:ea typeface="SimSun" panose="02010600030101010101" pitchFamily="2" charset="-122"/>
              </a:rPr>
              <a:t>thực</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phẩm</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chế</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biến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sẵn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thức</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ăn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nhanh</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đồ</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hộp</a:t>
            </a:r>
            <a:r>
              <a:rPr lang="en-US" sz="900" dirty="0">
                <a:effectLst/>
                <a:latin typeface="Times New Roman" panose="02020603050405020304" pitchFamily="18" charset="0"/>
                <a:ea typeface="SimSun" panose="02010600030101010101" pitchFamily="2" charset="-122"/>
              </a:rPr>
              <a:t>…).</a:t>
            </a:r>
          </a:p>
          <a:p>
            <a:pPr marL="342900" marR="0" lvl="0" indent="-342900">
              <a:lnSpc>
                <a:spcPct val="150000"/>
              </a:lnSpc>
              <a:buNone/>
              <a:tabLst>
                <a:tab pos="457200" algn="l"/>
              </a:tabLst>
            </a:pPr>
            <a:r>
              <a:rPr lang="en-US" sz="900" b="1" dirty="0">
                <a:effectLst/>
                <a:latin typeface="Times New Roman" panose="02020603050405020304" pitchFamily="18" charset="0"/>
                <a:ea typeface="SimSun" panose="02010600030101010101" pitchFamily="2" charset="-122"/>
              </a:rPr>
              <a:t>Carotene (beta)</a:t>
            </a:r>
            <a:r>
              <a:rPr lang="en-US" sz="900" dirty="0">
                <a:effectLst/>
                <a:latin typeface="Times New Roman" panose="02020603050405020304" pitchFamily="18" charset="0"/>
                <a:ea typeface="SimSun" panose="02010600030101010101" pitchFamily="2" charset="-122"/>
              </a:rPr>
              <a:t>, </a:t>
            </a:r>
            <a:r>
              <a:rPr lang="en-US" sz="900" b="1" dirty="0">
                <a:effectLst/>
                <a:latin typeface="Times New Roman" panose="02020603050405020304" pitchFamily="18" charset="0"/>
                <a:ea typeface="SimSun" panose="02010600030101010101" pitchFamily="2" charset="-122"/>
              </a:rPr>
              <a:t>Lutein + Zeaxanthin</a:t>
            </a:r>
            <a:r>
              <a:rPr lang="en-US" sz="900" dirty="0">
                <a:effectLst/>
                <a:latin typeface="Times New Roman" panose="02020603050405020304" pitchFamily="18" charset="0"/>
                <a:ea typeface="SimSun" panose="02010600030101010101" pitchFamily="2" charset="-122"/>
              </a:rPr>
              <a:t>, </a:t>
            </a:r>
            <a:r>
              <a:rPr lang="en-US" sz="900" b="1" dirty="0">
                <a:effectLst/>
                <a:latin typeface="Times New Roman" panose="02020603050405020304" pitchFamily="18" charset="0"/>
                <a:ea typeface="SimSun" panose="02010600030101010101" pitchFamily="2" charset="-122"/>
              </a:rPr>
              <a:t>Lycopene</a:t>
            </a:r>
            <a:br>
              <a:rPr lang="en-US" sz="900" dirty="0">
                <a:effectLst/>
                <a:latin typeface="Times New Roman" panose="02020603050405020304" pitchFamily="18" charset="0"/>
                <a:ea typeface="SimSun" panose="02010600030101010101" pitchFamily="2" charset="-122"/>
              </a:rPr>
            </a:b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Là</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nhóm</a:t>
            </a:r>
            <a:r>
              <a:rPr lang="en-US" sz="900"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chất</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chống</a:t>
            </a:r>
            <a:r>
              <a:rPr lang="en-US" sz="900" b="1" dirty="0">
                <a:effectLst/>
                <a:latin typeface="Times New Roman" panose="02020603050405020304" pitchFamily="18" charset="0"/>
                <a:ea typeface="SimSun" panose="02010600030101010101" pitchFamily="2" charset="-122"/>
              </a:rPr>
              <a:t> oxy </a:t>
            </a:r>
            <a:r>
              <a:rPr lang="en-US" sz="900" b="1" dirty="0" err="1">
                <a:effectLst/>
                <a:latin typeface="Times New Roman" panose="02020603050405020304" pitchFamily="18" charset="0"/>
                <a:ea typeface="SimSun" panose="02010600030101010101" pitchFamily="2" charset="-122"/>
              </a:rPr>
              <a:t>hóa</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tự</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nhiên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thường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có</a:t>
            </a:r>
            <a:r>
              <a:rPr lang="en-US" sz="900" dirty="0">
                <a:effectLst/>
                <a:latin typeface="Times New Roman" panose="02020603050405020304" pitchFamily="18" charset="0"/>
                <a:ea typeface="SimSun" panose="02010600030101010101" pitchFamily="2" charset="-122"/>
              </a:rPr>
              <a:t> trong </a:t>
            </a:r>
            <a:r>
              <a:rPr lang="en-US" sz="900" dirty="0" err="1">
                <a:effectLst/>
                <a:latin typeface="Times New Roman" panose="02020603050405020304" pitchFamily="18" charset="0"/>
                <a:ea typeface="SimSun" panose="02010600030101010101" pitchFamily="2" charset="-122"/>
              </a:rPr>
              <a:t>rau</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củ</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quả</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giúp</a:t>
            </a:r>
            <a:r>
              <a:rPr lang="en-US" sz="900" dirty="0">
                <a:effectLst/>
                <a:latin typeface="Times New Roman" panose="02020603050405020304" pitchFamily="18" charset="0"/>
                <a:ea typeface="SimSun" panose="02010600030101010101" pitchFamily="2" charset="-122"/>
              </a:rPr>
              <a:t> bảo </a:t>
            </a:r>
            <a:r>
              <a:rPr lang="en-US" sz="900" dirty="0" err="1">
                <a:effectLst/>
                <a:latin typeface="Times New Roman" panose="02020603050405020304" pitchFamily="18" charset="0"/>
                <a:ea typeface="SimSun" panose="02010600030101010101" pitchFamily="2" charset="-122"/>
              </a:rPr>
              <a:t>vệ</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tế</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bào</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và</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ngăn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ngừa</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bệnh</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mãn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tính</a:t>
            </a:r>
            <a:r>
              <a:rPr lang="en-US" sz="900" dirty="0">
                <a:effectLst/>
                <a:latin typeface="Times New Roman" panose="02020603050405020304" pitchFamily="18" charset="0"/>
                <a:ea typeface="SimSun" panose="02010600030101010101" pitchFamily="2" charset="-122"/>
              </a:rPr>
              <a:t>.</a:t>
            </a:r>
          </a:p>
          <a:p>
            <a:pPr marL="342900" marR="0" lvl="0" indent="-342900">
              <a:lnSpc>
                <a:spcPct val="150000"/>
              </a:lnSpc>
              <a:buNone/>
              <a:tabLst>
                <a:tab pos="457200" algn="l"/>
              </a:tabLst>
            </a:pPr>
            <a:r>
              <a:rPr lang="en-US" sz="900" b="1" dirty="0">
                <a:effectLst/>
                <a:latin typeface="Times New Roman" panose="02020603050405020304" pitchFamily="18" charset="0"/>
                <a:ea typeface="SimSun" panose="02010600030101010101" pitchFamily="2" charset="-122"/>
              </a:rPr>
              <a:t>Phosphorus (P)</a:t>
            </a:r>
            <a:r>
              <a:rPr lang="en-US" sz="900" dirty="0">
                <a:effectLst/>
                <a:latin typeface="Times New Roman" panose="02020603050405020304" pitchFamily="18" charset="0"/>
                <a:ea typeface="SimSun" panose="02010600030101010101" pitchFamily="2" charset="-122"/>
              </a:rPr>
              <a:t>, </a:t>
            </a:r>
            <a:r>
              <a:rPr lang="en-US" sz="900" b="1" dirty="0">
                <a:effectLst/>
                <a:latin typeface="Times New Roman" panose="02020603050405020304" pitchFamily="18" charset="0"/>
                <a:ea typeface="SimSun" panose="02010600030101010101" pitchFamily="2" charset="-122"/>
              </a:rPr>
              <a:t>Calcium (Ca)</a:t>
            </a:r>
            <a:br>
              <a:rPr lang="en-US" sz="900" dirty="0">
                <a:effectLst/>
                <a:latin typeface="Times New Roman" panose="02020603050405020304" pitchFamily="18" charset="0"/>
                <a:ea typeface="SimSun" panose="02010600030101010101" pitchFamily="2" charset="-122"/>
              </a:rPr>
            </a:b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Là</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các</a:t>
            </a:r>
            <a:r>
              <a:rPr lang="en-US" sz="900"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chất</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khoáng</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thiết</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yếu</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cho</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xương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và</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răng</a:t>
            </a:r>
            <a:r>
              <a:rPr lang="en-US" sz="900" dirty="0">
                <a:effectLst/>
                <a:latin typeface="Times New Roman" panose="02020603050405020304" pitchFamily="18" charset="0"/>
                <a:ea typeface="SimSun" panose="02010600030101010101" pitchFamily="2" charset="-122"/>
              </a:rPr>
              <a:t>.</a:t>
            </a:r>
            <a:br>
              <a:rPr lang="en-US" sz="900" dirty="0">
                <a:effectLst/>
                <a:latin typeface="Times New Roman" panose="02020603050405020304" pitchFamily="18" charset="0"/>
                <a:ea typeface="SimSun" panose="02010600030101010101" pitchFamily="2" charset="-122"/>
              </a:rPr>
            </a:b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Có</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mặt</a:t>
            </a:r>
            <a:r>
              <a:rPr lang="en-US" sz="900" dirty="0">
                <a:effectLst/>
                <a:latin typeface="Times New Roman" panose="02020603050405020304" pitchFamily="18" charset="0"/>
                <a:ea typeface="SimSun" panose="02010600030101010101" pitchFamily="2" charset="-122"/>
              </a:rPr>
              <a:t> trong </a:t>
            </a:r>
            <a:r>
              <a:rPr lang="en-US" sz="900" dirty="0" err="1">
                <a:effectLst/>
                <a:latin typeface="Times New Roman" panose="02020603050405020304" pitchFamily="18" charset="0"/>
                <a:ea typeface="SimSun" panose="02010600030101010101" pitchFamily="2" charset="-122"/>
              </a:rPr>
              <a:t>sữa</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thịt</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và</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các</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loại</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hạt</a:t>
            </a:r>
            <a:r>
              <a:rPr lang="en-US" sz="900" dirty="0">
                <a:effectLst/>
                <a:latin typeface="Times New Roman" panose="02020603050405020304" pitchFamily="18" charset="0"/>
                <a:ea typeface="SimSun" panose="02010600030101010101" pitchFamily="2" charset="-122"/>
              </a:rPr>
              <a:t>.</a:t>
            </a:r>
          </a:p>
          <a:p>
            <a:pPr marL="342900" marR="0" lvl="0" indent="-342900">
              <a:lnSpc>
                <a:spcPct val="150000"/>
              </a:lnSpc>
              <a:buNone/>
              <a:tabLst>
                <a:tab pos="457200" algn="l"/>
              </a:tabLst>
            </a:pPr>
            <a:r>
              <a:rPr lang="en-US" sz="900" b="1" dirty="0">
                <a:effectLst/>
                <a:latin typeface="Times New Roman" panose="02020603050405020304" pitchFamily="18" charset="0"/>
                <a:ea typeface="SimSun" panose="02010600030101010101" pitchFamily="2" charset="-122"/>
              </a:rPr>
              <a:t>Folate (DFE, total)</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và</a:t>
            </a:r>
            <a:r>
              <a:rPr lang="en-US" sz="900" dirty="0">
                <a:effectLst/>
                <a:latin typeface="Times New Roman" panose="02020603050405020304" pitchFamily="18" charset="0"/>
                <a:ea typeface="SimSun" panose="02010600030101010101" pitchFamily="2" charset="-122"/>
              </a:rPr>
              <a:t> </a:t>
            </a:r>
            <a:r>
              <a:rPr lang="en-US" sz="900" b="1" dirty="0">
                <a:effectLst/>
                <a:latin typeface="Times New Roman" panose="02020603050405020304" pitchFamily="18" charset="0"/>
                <a:ea typeface="SimSun" panose="02010600030101010101" pitchFamily="2" charset="-122"/>
              </a:rPr>
              <a:t>Beta-sitosterol, Phytosterols</a:t>
            </a:r>
            <a:br>
              <a:rPr lang="en-US" sz="900" dirty="0">
                <a:effectLst/>
                <a:latin typeface="Times New Roman" panose="02020603050405020304" pitchFamily="18" charset="0"/>
                <a:ea typeface="SimSun" panose="02010600030101010101" pitchFamily="2" charset="-122"/>
              </a:rPr>
            </a:b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Nằm</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cuối</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bảng</a:t>
            </a:r>
            <a:r>
              <a:rPr lang="en-US" sz="900" dirty="0">
                <a:effectLst/>
                <a:latin typeface="Times New Roman" panose="02020603050405020304" pitchFamily="18" charset="0"/>
                <a:ea typeface="SimSun" panose="02010600030101010101" pitchFamily="2" charset="-122"/>
              </a:rPr>
              <a:t> Top 15 </a:t>
            </a:r>
            <a:r>
              <a:rPr lang="en-US" sz="900" dirty="0" err="1">
                <a:effectLst/>
                <a:latin typeface="Times New Roman" panose="02020603050405020304" pitchFamily="18" charset="0"/>
                <a:ea typeface="SimSun" panose="02010600030101010101" pitchFamily="2" charset="-122"/>
              </a:rPr>
              <a:t>nhưng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vẫn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quan</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trọng</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hỗ</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trợ</a:t>
            </a:r>
            <a:r>
              <a:rPr lang="en-US" sz="900"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hệ</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thần</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kinh</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tim</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mạch</a:t>
            </a:r>
            <a:r>
              <a:rPr lang="en-US" sz="900" dirty="0">
                <a:effectLst/>
                <a:latin typeface="Times New Roman" panose="02020603050405020304" pitchFamily="18" charset="0"/>
                <a:ea typeface="SimSun" panose="02010600030101010101" pitchFamily="2" charset="-122"/>
              </a:rPr>
              <a:t> </a:t>
            </a:r>
            <a:r>
              <a:rPr lang="en-US" sz="900" dirty="0" err="1">
                <a:effectLst/>
                <a:latin typeface="Times New Roman" panose="02020603050405020304" pitchFamily="18" charset="0"/>
                <a:ea typeface="SimSun" panose="02010600030101010101" pitchFamily="2" charset="-122"/>
              </a:rPr>
              <a:t>và</a:t>
            </a:r>
            <a:r>
              <a:rPr lang="en-US" sz="900"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chuyển</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hóa</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tế</a:t>
            </a:r>
            <a:r>
              <a:rPr lang="en-US" sz="900" b="1" dirty="0">
                <a:effectLst/>
                <a:latin typeface="Times New Roman" panose="02020603050405020304" pitchFamily="18" charset="0"/>
                <a:ea typeface="SimSun" panose="02010600030101010101" pitchFamily="2" charset="-122"/>
              </a:rPr>
              <a:t> </a:t>
            </a:r>
            <a:r>
              <a:rPr lang="en-US" sz="900" b="1" dirty="0" err="1">
                <a:effectLst/>
                <a:latin typeface="Times New Roman" panose="02020603050405020304" pitchFamily="18" charset="0"/>
                <a:ea typeface="SimSun" panose="02010600030101010101" pitchFamily="2" charset="-122"/>
              </a:rPr>
              <a:t>bào</a:t>
            </a:r>
            <a:r>
              <a:rPr lang="en-US" sz="900" dirty="0">
                <a:effectLst/>
                <a:latin typeface="Times New Roman" panose="02020603050405020304" pitchFamily="18" charset="0"/>
                <a:ea typeface="SimSun" panose="02010600030101010101" pitchFamily="2" charset="-122"/>
              </a:rPr>
              <a:t>.</a:t>
            </a:r>
          </a:p>
          <a:p>
            <a:pPr marL="0" marR="0">
              <a:buNone/>
            </a:pPr>
            <a:r>
              <a:rPr lang="vi-VN" sz="900" dirty="0">
                <a:effectLst/>
                <a:latin typeface="Times New Roman" panose="02020603050405020304" pitchFamily="18" charset="0"/>
                <a:ea typeface="SimSun" panose="02010600030101010101" pitchFamily="2" charset="-122"/>
              </a:rPr>
              <a:t>Ý nghĩa tổng quát:</a:t>
            </a:r>
            <a:endParaRPr lang="en-US" sz="900" dirty="0">
              <a:effectLst/>
              <a:latin typeface="Times New Roman" panose="02020603050405020304" pitchFamily="18" charset="0"/>
              <a:ea typeface="SimSun" panose="02010600030101010101" pitchFamily="2" charset="-122"/>
            </a:endParaRPr>
          </a:p>
          <a:p>
            <a:pPr marL="0" marR="0">
              <a:buNone/>
            </a:pPr>
            <a:r>
              <a:rPr lang="en-US" sz="900" dirty="0">
                <a:effectLst/>
                <a:latin typeface="Times New Roman" panose="02020603050405020304" pitchFamily="18" charset="0"/>
                <a:ea typeface="SimSun" panose="02010600030101010101" pitchFamily="2" charset="-122"/>
              </a:rPr>
              <a:t> </a:t>
            </a:r>
          </a:p>
          <a:p>
            <a:pPr marL="342900" marR="0" lvl="0" indent="-342900">
              <a:buFont typeface="Symbol" panose="05050102010706020507" pitchFamily="18" charset="2"/>
              <a:buChar char="-"/>
            </a:pPr>
            <a:r>
              <a:rPr lang="vi-VN" sz="900" u="none" strike="noStrike" dirty="0">
                <a:effectLst/>
                <a:latin typeface="Times New Roman" panose="02020603050405020304" pitchFamily="18" charset="0"/>
                <a:ea typeface="SimSun" panose="02010600030101010101" pitchFamily="2" charset="-122"/>
              </a:rPr>
              <a:t>Vitamin, khoáng chất và năng lượng là các nhóm chất được phân bố phổ biến nhất, phản ánh tầm quan trọng của chúng trong khẩu phần ăn hằng ngày.</a:t>
            </a:r>
            <a:br>
              <a:rPr lang="vi-VN" sz="900" u="none" strike="noStrike" dirty="0">
                <a:effectLst/>
                <a:latin typeface="Times New Roman" panose="02020603050405020304" pitchFamily="18" charset="0"/>
                <a:ea typeface="SimSun" panose="02010600030101010101" pitchFamily="2" charset="-122"/>
              </a:rPr>
            </a:br>
            <a:r>
              <a:rPr lang="vi-VN" sz="900" u="none" strike="noStrike" dirty="0">
                <a:effectLst/>
                <a:latin typeface="Times New Roman" panose="02020603050405020304" pitchFamily="18" charset="0"/>
                <a:ea typeface="SimSun" panose="02010600030101010101" pitchFamily="2" charset="-122"/>
              </a:rPr>
              <a:t>     </a:t>
            </a:r>
            <a:endParaRPr lang="en-US" sz="900" u="none" strike="noStrike" dirty="0">
              <a:effectLst/>
              <a:latin typeface="Times New Roman" panose="02020603050405020304" pitchFamily="18" charset="0"/>
              <a:ea typeface="SimSun" panose="02010600030101010101" pitchFamily="2" charset="-122"/>
            </a:endParaRPr>
          </a:p>
          <a:p>
            <a:pPr marL="342900" marR="0" lvl="0" indent="-342900">
              <a:buFont typeface="Symbol" panose="05050102010706020507" pitchFamily="18" charset="2"/>
              <a:buChar char="-"/>
            </a:pPr>
            <a:r>
              <a:rPr lang="vi-VN" sz="900" u="none" strike="noStrike" dirty="0">
                <a:effectLst/>
                <a:latin typeface="Times New Roman" panose="02020603050405020304" pitchFamily="18" charset="0"/>
                <a:ea typeface="SimSun" panose="02010600030101010101" pitchFamily="2" charset="-122"/>
              </a:rPr>
              <a:t>Dữ liệu cũng nhấn mạnh rằng nguồn dinh dưỡng trong thực phẩm tự nhiên rất phong phú – đặc biệt là vitamin, khoáng chất và các hợp chất thực vật có lợi</a:t>
            </a:r>
            <a:r>
              <a:rPr lang="en-US" sz="900" u="none" strike="noStrike" dirty="0">
                <a:effectLst/>
                <a:latin typeface="Times New Roman" panose="02020603050405020304" pitchFamily="18" charset="0"/>
                <a:ea typeface="SimSun" panose="02010600030101010101" pitchFamily="2" charset="-122"/>
              </a:rPr>
              <a:t>.</a:t>
            </a:r>
          </a:p>
        </p:txBody>
      </p:sp>
    </p:spTree>
    <p:extLst>
      <p:ext uri="{BB962C8B-B14F-4D97-AF65-F5344CB8AC3E}">
        <p14:creationId xmlns:p14="http://schemas.microsoft.com/office/powerpoint/2010/main" val="162232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D18FC-3429-C84B-E4A3-00D20B6ED0DB}"/>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84D88DF1-EA11-B2B2-D718-F5BCBD96EE2D}"/>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60354659-2B2E-C100-54B5-03FF958D2F17}"/>
              </a:ext>
            </a:extLst>
          </p:cNvPr>
          <p:cNvCxnSpPr>
            <a:cxnSpLocks/>
          </p:cNvCxnSpPr>
          <p:nvPr/>
        </p:nvCxnSpPr>
        <p:spPr>
          <a:xfrm>
            <a:off x="10002416" y="522898"/>
            <a:ext cx="218958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36E823E-4449-CB4D-4C81-BE4DAE9E0FF8}"/>
              </a:ext>
            </a:extLst>
          </p:cNvPr>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PHÂN TÍCH</a:t>
            </a:r>
          </a:p>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B425CB7D-9284-7D16-D030-A603994D164F}"/>
              </a:ext>
            </a:extLst>
          </p:cNvPr>
          <p:cNvCxnSpPr>
            <a:cxnSpLocks/>
          </p:cNvCxnSpPr>
          <p:nvPr/>
        </p:nvCxnSpPr>
        <p:spPr>
          <a:xfrm>
            <a:off x="0" y="522898"/>
            <a:ext cx="230466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17E6D7D0-C551-66CB-FD74-DDEAFF70AA13}"/>
              </a:ext>
            </a:extLst>
          </p:cNvPr>
          <p:cNvSpPr>
            <a:spLocks noChangeArrowheads="1"/>
          </p:cNvSpPr>
          <p:nvPr/>
        </p:nvSpPr>
        <p:spPr bwMode="auto">
          <a:xfrm>
            <a:off x="629920" y="559629"/>
            <a:ext cx="9804400" cy="9309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38088" numCol="1" anchor="ctr" anchorCtr="0" compatLnSpc="1">
            <a:prstTxWarp prst="textNoShape">
              <a:avLst/>
            </a:prstTxWarp>
            <a:spAutoFit/>
          </a:bodyPr>
          <a:lstStyle/>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 EDA trực quan bằng sơ đồ (Graphical EDA)</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2.3</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Biểu đồ </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Top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nhóm</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thực</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phẩm</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có</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hàm</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lượng</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Protein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cao</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nhất</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EE07EA6-BEE0-2C23-3374-7ADA269305C8}"/>
              </a:ext>
            </a:extLst>
          </p:cNvPr>
          <p:cNvSpPr txBox="1"/>
          <p:nvPr/>
        </p:nvSpPr>
        <p:spPr>
          <a:xfrm>
            <a:off x="1557020" y="5464610"/>
            <a:ext cx="6101080" cy="315151"/>
          </a:xfrm>
          <a:prstGeom prst="rect">
            <a:avLst/>
          </a:prstGeom>
          <a:noFill/>
        </p:spPr>
        <p:txBody>
          <a:bodyPr wrap="square">
            <a:spAutoFit/>
          </a:bodyPr>
          <a:lstStyle>
            <a:defPPr>
              <a:defRPr lang="en-US"/>
            </a:defPPr>
            <a:lvl1pPr marR="0" algn="just">
              <a:lnSpc>
                <a:spcPct val="135000"/>
              </a:lnSpc>
              <a:buNone/>
              <a:defRPr sz="1200">
                <a:solidFill>
                  <a:srgbClr val="000000"/>
                </a:solidFill>
                <a:effectLst/>
                <a:latin typeface="Times New Roman" panose="02020603050405020304" pitchFamily="18" charset="0"/>
                <a:ea typeface="SimHei" panose="02010609060101010101" pitchFamily="49" charset="-122"/>
              </a:defRPr>
            </a:lvl1pPr>
          </a:lstStyle>
          <a:p>
            <a:r>
              <a:rPr lang="vi-VN" dirty="0"/>
              <a:t>Hình 5: </a:t>
            </a:r>
            <a:r>
              <a:rPr lang="en-US" dirty="0"/>
              <a:t>Top 10 </a:t>
            </a:r>
            <a:r>
              <a:rPr lang="en-US" dirty="0" err="1"/>
              <a:t>nhóm</a:t>
            </a:r>
            <a:r>
              <a:rPr lang="en-US" dirty="0"/>
              <a:t> </a:t>
            </a:r>
            <a:r>
              <a:rPr lang="en-US" dirty="0" err="1"/>
              <a:t>thực</a:t>
            </a:r>
            <a:r>
              <a:rPr lang="en-US" dirty="0"/>
              <a:t> </a:t>
            </a:r>
            <a:r>
              <a:rPr lang="en-US" dirty="0" err="1"/>
              <a:t>phẩm</a:t>
            </a:r>
            <a:r>
              <a:rPr lang="en-US" dirty="0"/>
              <a:t> </a:t>
            </a:r>
            <a:r>
              <a:rPr lang="en-US" dirty="0" err="1"/>
              <a:t>có</a:t>
            </a:r>
            <a:r>
              <a:rPr lang="en-US" dirty="0"/>
              <a:t> </a:t>
            </a:r>
            <a:r>
              <a:rPr lang="en-US" dirty="0" err="1"/>
              <a:t>hàm</a:t>
            </a:r>
            <a:r>
              <a:rPr lang="en-US" dirty="0"/>
              <a:t> lương Protein </a:t>
            </a:r>
            <a:r>
              <a:rPr lang="en-US" dirty="0" err="1"/>
              <a:t>cao</a:t>
            </a:r>
            <a:r>
              <a:rPr lang="en-US" dirty="0"/>
              <a:t> </a:t>
            </a:r>
            <a:r>
              <a:rPr lang="en-US" dirty="0" err="1"/>
              <a:t>nhất</a:t>
            </a:r>
            <a:endParaRPr lang="en-US" dirty="0"/>
          </a:p>
        </p:txBody>
      </p:sp>
      <p:sp>
        <p:nvSpPr>
          <p:cNvPr id="12" name="TextBox 11">
            <a:extLst>
              <a:ext uri="{FF2B5EF4-FFF2-40B4-BE49-F238E27FC236}">
                <a16:creationId xmlns:a16="http://schemas.microsoft.com/office/drawing/2014/main" id="{8BB629EC-3A08-5910-6CC1-5A932B41771E}"/>
              </a:ext>
            </a:extLst>
          </p:cNvPr>
          <p:cNvSpPr txBox="1"/>
          <p:nvPr/>
        </p:nvSpPr>
        <p:spPr>
          <a:xfrm>
            <a:off x="6695440" y="1534810"/>
            <a:ext cx="5394960" cy="5170646"/>
          </a:xfrm>
          <a:prstGeom prst="rect">
            <a:avLst/>
          </a:prstGeom>
          <a:solidFill>
            <a:schemeClr val="bg1">
              <a:lumMod val="95000"/>
            </a:schemeClr>
          </a:solidFill>
        </p:spPr>
        <p:txBody>
          <a:bodyPr wrap="square">
            <a:spAutoFit/>
          </a:bodyPr>
          <a:lstStyle/>
          <a:p>
            <a:pPr marL="457200" marR="0">
              <a:buNone/>
            </a:pPr>
            <a:r>
              <a:rPr lang="en-US" sz="1100" b="1" dirty="0">
                <a:effectLst/>
                <a:latin typeface="Times New Roman" panose="02020603050405020304" pitchFamily="18" charset="0"/>
                <a:ea typeface="SimSun" panose="02010600030101010101" pitchFamily="2" charset="-122"/>
              </a:rPr>
              <a:t>+ Beef Products (</a:t>
            </a:r>
            <a:r>
              <a:rPr lang="en-US" sz="1100" b="1" dirty="0" err="1">
                <a:effectLst/>
                <a:latin typeface="Times New Roman" panose="02020603050405020304" pitchFamily="18" charset="0"/>
                <a:ea typeface="SimSun" panose="02010600030101010101" pitchFamily="2" charset="-122"/>
              </a:rPr>
              <a:t>Thịt</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bò</a:t>
            </a:r>
            <a:r>
              <a:rPr lang="en-US" sz="1100" b="1" dirty="0">
                <a:effectLst/>
                <a:latin typeface="Times New Roman" panose="02020603050405020304" pitchFamily="18" charset="0"/>
                <a:ea typeface="SimSun" panose="02010600030101010101" pitchFamily="2" charset="-122"/>
              </a:rPr>
              <a:t>)</a:t>
            </a:r>
            <a:br>
              <a:rPr lang="en-US" sz="1100" dirty="0">
                <a:effectLst/>
                <a:latin typeface="Times New Roman" panose="02020603050405020304" pitchFamily="18" charset="0"/>
                <a:ea typeface="SimSun" panose="02010600030101010101" pitchFamily="2" charset="-122"/>
              </a:rPr>
            </a:b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Là</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nhóm</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có</a:t>
            </a:r>
            <a:r>
              <a:rPr lang="en-US" sz="1100"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hàm</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lượng</a:t>
            </a:r>
            <a:r>
              <a:rPr lang="en-US" sz="1100" b="1" dirty="0">
                <a:effectLst/>
                <a:latin typeface="Times New Roman" panose="02020603050405020304" pitchFamily="18" charset="0"/>
                <a:ea typeface="SimSun" panose="02010600030101010101" pitchFamily="2" charset="-122"/>
              </a:rPr>
              <a:t> protein trung </a:t>
            </a:r>
            <a:r>
              <a:rPr lang="en-US" sz="1100" b="1" dirty="0" err="1">
                <a:effectLst/>
                <a:latin typeface="Times New Roman" panose="02020603050405020304" pitchFamily="18" charset="0"/>
                <a:ea typeface="SimSun" panose="02010600030101010101" pitchFamily="2" charset="-122"/>
              </a:rPr>
              <a:t>bình</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cao</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nhất</a:t>
            </a:r>
            <a:r>
              <a:rPr lang="en-US" sz="1100" b="1" dirty="0">
                <a:effectLst/>
                <a:latin typeface="Times New Roman" panose="02020603050405020304" pitchFamily="18" charset="0"/>
                <a:ea typeface="SimSun" panose="02010600030101010101" pitchFamily="2" charset="-122"/>
              </a:rPr>
              <a:t> (~25g/100g)</a:t>
            </a:r>
            <a:r>
              <a:rPr lang="en-US" sz="1100" dirty="0">
                <a:effectLst/>
                <a:latin typeface="Times New Roman" panose="02020603050405020304" pitchFamily="18" charset="0"/>
                <a:ea typeface="SimSun" panose="02010600030101010101" pitchFamily="2" charset="-122"/>
              </a:rPr>
              <a:t>.</a:t>
            </a:r>
            <a:br>
              <a:rPr lang="en-US" sz="1100" dirty="0">
                <a:effectLst/>
                <a:latin typeface="Times New Roman" panose="02020603050405020304" pitchFamily="18" charset="0"/>
                <a:ea typeface="SimSun" panose="02010600030101010101" pitchFamily="2" charset="-122"/>
              </a:rPr>
            </a:b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Điều</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này</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hoàn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toàn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hợp</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lý</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vì</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thịt</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bò</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là</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nguồn</a:t>
            </a: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protein </a:t>
            </a:r>
            <a:r>
              <a:rPr lang="en-US" sz="1100" b="1" dirty="0" err="1">
                <a:effectLst/>
                <a:latin typeface="Times New Roman" panose="02020603050405020304" pitchFamily="18" charset="0"/>
                <a:ea typeface="SimSun" panose="02010600030101010101" pitchFamily="2" charset="-122"/>
              </a:rPr>
              <a:t>hoàn</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chỉnh</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chứa</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đầy</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đủ</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các</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axit</a:t>
            </a:r>
            <a:r>
              <a:rPr lang="en-US" sz="1100" dirty="0">
                <a:effectLst/>
                <a:latin typeface="Times New Roman" panose="02020603050405020304" pitchFamily="18" charset="0"/>
                <a:ea typeface="SimSun" panose="02010600030101010101" pitchFamily="2" charset="-122"/>
              </a:rPr>
              <a:t> amin </a:t>
            </a:r>
            <a:r>
              <a:rPr lang="en-US" sz="1100" dirty="0" err="1">
                <a:effectLst/>
                <a:latin typeface="Times New Roman" panose="02020603050405020304" pitchFamily="18" charset="0"/>
                <a:ea typeface="SimSun" panose="02010600030101010101" pitchFamily="2" charset="-122"/>
              </a:rPr>
              <a:t>thiết</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yếu</a:t>
            </a:r>
            <a:r>
              <a:rPr lang="en-US" sz="1100" dirty="0">
                <a:effectLst/>
                <a:latin typeface="Times New Roman" panose="02020603050405020304" pitchFamily="18" charset="0"/>
                <a:ea typeface="SimSun" panose="02010600030101010101" pitchFamily="2" charset="-122"/>
              </a:rPr>
              <a:t>.</a:t>
            </a:r>
          </a:p>
          <a:p>
            <a:pPr marL="457200" marR="0">
              <a:buNone/>
            </a:pPr>
            <a:r>
              <a:rPr lang="en-US" sz="1100" dirty="0">
                <a:effectLst/>
                <a:latin typeface="Times New Roman" panose="02020603050405020304" pitchFamily="18" charset="0"/>
                <a:ea typeface="SimSun" panose="02010600030101010101" pitchFamily="2" charset="-122"/>
              </a:rPr>
              <a:t> </a:t>
            </a:r>
          </a:p>
          <a:p>
            <a:pPr marL="457200" marR="0">
              <a:buNone/>
            </a:pPr>
            <a:r>
              <a:rPr lang="en-US" sz="1100" dirty="0">
                <a:effectLst/>
                <a:latin typeface="Times New Roman" panose="02020603050405020304" pitchFamily="18" charset="0"/>
                <a:ea typeface="SimSun" panose="02010600030101010101" pitchFamily="2" charset="-122"/>
              </a:rPr>
              <a:t> + </a:t>
            </a:r>
            <a:r>
              <a:rPr lang="en-US" sz="1100" b="1" dirty="0">
                <a:effectLst/>
                <a:latin typeface="Times New Roman" panose="02020603050405020304" pitchFamily="18" charset="0"/>
                <a:ea typeface="SimSun" panose="02010600030101010101" pitchFamily="2" charset="-122"/>
              </a:rPr>
              <a:t>Poultry Products (Gia </a:t>
            </a:r>
            <a:r>
              <a:rPr lang="en-US" sz="1100" b="1" dirty="0" err="1">
                <a:effectLst/>
                <a:latin typeface="Times New Roman" panose="02020603050405020304" pitchFamily="18" charset="0"/>
                <a:ea typeface="SimSun" panose="02010600030101010101" pitchFamily="2" charset="-122"/>
              </a:rPr>
              <a:t>cầm</a:t>
            </a:r>
            <a:r>
              <a:rPr lang="en-US" sz="1100" b="1" dirty="0">
                <a:effectLst/>
                <a:latin typeface="Times New Roman" panose="02020603050405020304" pitchFamily="18" charset="0"/>
                <a:ea typeface="SimSun" panose="02010600030101010101" pitchFamily="2" charset="-122"/>
              </a:rPr>
              <a:t>)</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và</a:t>
            </a: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Lamb, Veal, and Game Products (</a:t>
            </a:r>
            <a:r>
              <a:rPr lang="en-US" sz="1100" b="1" dirty="0" err="1">
                <a:effectLst/>
                <a:latin typeface="Times New Roman" panose="02020603050405020304" pitchFamily="18" charset="0"/>
                <a:ea typeface="SimSun" panose="02010600030101010101" pitchFamily="2" charset="-122"/>
              </a:rPr>
              <a:t>Thịt</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cừu</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bê</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thú</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rừng</a:t>
            </a:r>
            <a:r>
              <a:rPr lang="en-US" sz="1100" b="1" dirty="0">
                <a:effectLst/>
                <a:latin typeface="Times New Roman" panose="02020603050405020304" pitchFamily="18" charset="0"/>
                <a:ea typeface="SimSun" panose="02010600030101010101" pitchFamily="2" charset="-122"/>
              </a:rPr>
              <a:t>)</a:t>
            </a:r>
            <a:br>
              <a:rPr lang="en-US" sz="1100" dirty="0">
                <a:effectLst/>
                <a:latin typeface="Times New Roman" panose="02020603050405020304" pitchFamily="18" charset="0"/>
                <a:ea typeface="SimSun" panose="02010600030101010101" pitchFamily="2" charset="-122"/>
              </a:rPr>
            </a:b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Đều</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có</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hàm</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lượng</a:t>
            </a:r>
            <a:r>
              <a:rPr lang="en-US" sz="1100" dirty="0">
                <a:effectLst/>
                <a:latin typeface="Times New Roman" panose="02020603050405020304" pitchFamily="18" charset="0"/>
                <a:ea typeface="SimSun" panose="02010600030101010101" pitchFamily="2" charset="-122"/>
              </a:rPr>
              <a:t> protein </a:t>
            </a:r>
            <a:r>
              <a:rPr lang="en-US" sz="1100" dirty="0" err="1">
                <a:effectLst/>
                <a:latin typeface="Times New Roman" panose="02020603050405020304" pitchFamily="18" charset="0"/>
                <a:ea typeface="SimSun" panose="02010600030101010101" pitchFamily="2" charset="-122"/>
              </a:rPr>
              <a:t>xấp</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xỉ</a:t>
            </a: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22–23g/100g</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chỉ</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thấp</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hơn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thịt</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bò</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một</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chút</a:t>
            </a:r>
            <a:r>
              <a:rPr lang="en-US" sz="1100" dirty="0">
                <a:effectLst/>
                <a:latin typeface="Times New Roman" panose="02020603050405020304" pitchFamily="18" charset="0"/>
                <a:ea typeface="SimSun" panose="02010600030101010101" pitchFamily="2" charset="-122"/>
              </a:rPr>
              <a:t>.</a:t>
            </a:r>
            <a:br>
              <a:rPr lang="en-US" sz="1100" dirty="0">
                <a:effectLst/>
                <a:latin typeface="Times New Roman" panose="02020603050405020304" pitchFamily="18" charset="0"/>
                <a:ea typeface="SimSun" panose="02010600030101010101" pitchFamily="2" charset="-122"/>
              </a:rPr>
            </a:b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Đây</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là</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nhóm</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thực</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phẩm</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giàu</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đạm</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động</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vật</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dễ</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hấp</a:t>
            </a:r>
            <a:r>
              <a:rPr lang="en-US" sz="1100" dirty="0">
                <a:effectLst/>
                <a:latin typeface="Times New Roman" panose="02020603050405020304" pitchFamily="18" charset="0"/>
                <a:ea typeface="SimSun" panose="02010600030101010101" pitchFamily="2" charset="-122"/>
              </a:rPr>
              <a:t> thu.</a:t>
            </a:r>
          </a:p>
          <a:p>
            <a:pPr marL="457200" marR="0">
              <a:buNone/>
            </a:pPr>
            <a:r>
              <a:rPr lang="en-US" sz="1100" dirty="0">
                <a:effectLst/>
                <a:latin typeface="Times New Roman" panose="02020603050405020304" pitchFamily="18" charset="0"/>
                <a:ea typeface="SimSun" panose="02010600030101010101" pitchFamily="2" charset="-122"/>
              </a:rPr>
              <a:t> </a:t>
            </a:r>
          </a:p>
          <a:p>
            <a:pPr marL="457200" marR="0">
              <a:buNone/>
            </a:pPr>
            <a:r>
              <a:rPr lang="en-US" sz="1100" dirty="0">
                <a:effectLst/>
                <a:latin typeface="Times New Roman" panose="02020603050405020304" pitchFamily="18" charset="0"/>
                <a:ea typeface="SimSun" panose="02010600030101010101" pitchFamily="2" charset="-122"/>
              </a:rPr>
              <a:t> + </a:t>
            </a:r>
            <a:r>
              <a:rPr lang="en-US" sz="1100" b="1" dirty="0">
                <a:effectLst/>
                <a:latin typeface="Times New Roman" panose="02020603050405020304" pitchFamily="18" charset="0"/>
                <a:ea typeface="SimSun" panose="02010600030101010101" pitchFamily="2" charset="-122"/>
              </a:rPr>
              <a:t>Pork Products (</a:t>
            </a:r>
            <a:r>
              <a:rPr lang="en-US" sz="1100" b="1" dirty="0" err="1">
                <a:effectLst/>
                <a:latin typeface="Times New Roman" panose="02020603050405020304" pitchFamily="18" charset="0"/>
                <a:ea typeface="SimSun" panose="02010600030101010101" pitchFamily="2" charset="-122"/>
              </a:rPr>
              <a:t>Thịt</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heo</a:t>
            </a:r>
            <a:r>
              <a:rPr lang="en-US" sz="1100" b="1" dirty="0">
                <a:effectLst/>
                <a:latin typeface="Times New Roman" panose="02020603050405020304" pitchFamily="18" charset="0"/>
                <a:ea typeface="SimSun" panose="02010600030101010101" pitchFamily="2" charset="-122"/>
              </a:rPr>
              <a:t>)</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và</a:t>
            </a: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Finfish and Shellfish Products (</a:t>
            </a:r>
            <a:r>
              <a:rPr lang="en-US" sz="1100" b="1" dirty="0" err="1">
                <a:effectLst/>
                <a:latin typeface="Times New Roman" panose="02020603050405020304" pitchFamily="18" charset="0"/>
                <a:ea typeface="SimSun" panose="02010600030101010101" pitchFamily="2" charset="-122"/>
              </a:rPr>
              <a:t>Cá</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và</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hải</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sản</a:t>
            </a:r>
            <a:r>
              <a:rPr lang="en-US" sz="1100" b="1" dirty="0">
                <a:effectLst/>
                <a:latin typeface="Times New Roman" panose="02020603050405020304" pitchFamily="18" charset="0"/>
                <a:ea typeface="SimSun" panose="02010600030101010101" pitchFamily="2" charset="-122"/>
              </a:rPr>
              <a:t>)</a:t>
            </a:r>
            <a:br>
              <a:rPr lang="en-US" sz="1100" dirty="0">
                <a:effectLst/>
                <a:latin typeface="Times New Roman" panose="02020603050405020304" pitchFamily="18" charset="0"/>
                <a:ea typeface="SimSun" panose="02010600030101010101" pitchFamily="2" charset="-122"/>
              </a:rPr>
            </a:br>
            <a:r>
              <a:rPr lang="en-US" sz="1100" dirty="0">
                <a:effectLst/>
                <a:latin typeface="Times New Roman" panose="02020603050405020304" pitchFamily="18" charset="0"/>
                <a:ea typeface="SimSun" panose="02010600030101010101" pitchFamily="2" charset="-122"/>
              </a:rPr>
              <a:t> - </a:t>
            </a:r>
            <a:r>
              <a:rPr lang="en-US" sz="1100" dirty="0" err="1">
                <a:effectLst/>
                <a:latin typeface="Times New Roman" panose="02020603050405020304" pitchFamily="18" charset="0"/>
                <a:ea typeface="SimSun" panose="02010600030101010101" pitchFamily="2" charset="-122"/>
              </a:rPr>
              <a:t>Có</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lượng</a:t>
            </a:r>
            <a:r>
              <a:rPr lang="en-US" sz="1100" dirty="0">
                <a:effectLst/>
                <a:latin typeface="Times New Roman" panose="02020603050405020304" pitchFamily="18" charset="0"/>
                <a:ea typeface="SimSun" panose="02010600030101010101" pitchFamily="2" charset="-122"/>
              </a:rPr>
              <a:t> protein </a:t>
            </a:r>
            <a:r>
              <a:rPr lang="en-US" sz="1100" dirty="0" err="1">
                <a:effectLst/>
                <a:latin typeface="Times New Roman" panose="02020603050405020304" pitchFamily="18" charset="0"/>
                <a:ea typeface="SimSun" panose="02010600030101010101" pitchFamily="2" charset="-122"/>
              </a:rPr>
              <a:t>cao</a:t>
            </a:r>
            <a:r>
              <a:rPr lang="en-US" sz="1100" dirty="0">
                <a:effectLst/>
                <a:latin typeface="Times New Roman" panose="02020603050405020304" pitchFamily="18" charset="0"/>
                <a:ea typeface="SimSun" panose="02010600030101010101" pitchFamily="2" charset="-122"/>
              </a:rPr>
              <a:t>, dao </a:t>
            </a:r>
            <a:r>
              <a:rPr lang="en-US" sz="1100" dirty="0" err="1">
                <a:effectLst/>
                <a:latin typeface="Times New Roman" panose="02020603050405020304" pitchFamily="18" charset="0"/>
                <a:ea typeface="SimSun" panose="02010600030101010101" pitchFamily="2" charset="-122"/>
              </a:rPr>
              <a:t>động</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từ</a:t>
            </a: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20–22g/100g</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chứng</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tỏ</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hải</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sản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là</a:t>
            </a:r>
            <a:r>
              <a:rPr lang="en-US" sz="1100"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nguồn</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đạm</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chất</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lượng</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cao</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nhưng</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ít</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chất</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béo</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hơn</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thịt</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đỏ</a:t>
            </a:r>
            <a:r>
              <a:rPr lang="en-US" sz="1100" dirty="0">
                <a:effectLst/>
                <a:latin typeface="Times New Roman" panose="02020603050405020304" pitchFamily="18" charset="0"/>
                <a:ea typeface="SimSun" panose="02010600030101010101" pitchFamily="2" charset="-122"/>
              </a:rPr>
              <a:t>.</a:t>
            </a:r>
          </a:p>
          <a:p>
            <a:pPr marL="457200" marR="0">
              <a:buNone/>
            </a:pP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Ethnic Foods</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và</a:t>
            </a: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Sausages and Luncheon Meats</a:t>
            </a:r>
            <a:br>
              <a:rPr lang="en-US" sz="1100" dirty="0">
                <a:effectLst/>
                <a:latin typeface="Times New Roman" panose="02020603050405020304" pitchFamily="18" charset="0"/>
                <a:ea typeface="SimSun" panose="02010600030101010101" pitchFamily="2" charset="-122"/>
              </a:rPr>
            </a:b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Hàm</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lượng</a:t>
            </a:r>
            <a:r>
              <a:rPr lang="en-US" sz="1100" dirty="0">
                <a:effectLst/>
                <a:latin typeface="Times New Roman" panose="02020603050405020304" pitchFamily="18" charset="0"/>
                <a:ea typeface="SimSun" panose="02010600030101010101" pitchFamily="2" charset="-122"/>
              </a:rPr>
              <a:t> protein trung </a:t>
            </a:r>
            <a:r>
              <a:rPr lang="en-US" sz="1100" dirty="0" err="1">
                <a:effectLst/>
                <a:latin typeface="Times New Roman" panose="02020603050405020304" pitchFamily="18" charset="0"/>
                <a:ea typeface="SimSun" panose="02010600030101010101" pitchFamily="2" charset="-122"/>
              </a:rPr>
              <a:t>bình</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thấp</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hơn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khoảng</a:t>
            </a: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15–17g/100g</a:t>
            </a:r>
            <a:r>
              <a:rPr lang="en-US" sz="1100" dirty="0">
                <a:effectLst/>
                <a:latin typeface="Times New Roman" panose="02020603050405020304" pitchFamily="18" charset="0"/>
                <a:ea typeface="SimSun" panose="02010600030101010101" pitchFamily="2" charset="-122"/>
              </a:rPr>
              <a:t>.</a:t>
            </a:r>
            <a:br>
              <a:rPr lang="en-US" sz="1100" dirty="0">
                <a:effectLst/>
                <a:latin typeface="Times New Roman" panose="02020603050405020304" pitchFamily="18" charset="0"/>
                <a:ea typeface="SimSun" panose="02010600030101010101" pitchFamily="2" charset="-122"/>
              </a:rPr>
            </a:b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Đây</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là</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các</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món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ăn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chế</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biến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sẵn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có</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thể</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chứa</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thêm</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chất</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béo</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hoặc</a:t>
            </a:r>
            <a:r>
              <a:rPr lang="en-US" sz="1100" dirty="0">
                <a:effectLst/>
                <a:latin typeface="Times New Roman" panose="02020603050405020304" pitchFamily="18" charset="0"/>
                <a:ea typeface="SimSun" panose="02010600030101010101" pitchFamily="2" charset="-122"/>
              </a:rPr>
              <a:t> carbohydrate </a:t>
            </a:r>
            <a:r>
              <a:rPr lang="en-US" sz="1100" dirty="0" err="1">
                <a:effectLst/>
                <a:latin typeface="Times New Roman" panose="02020603050405020304" pitchFamily="18" charset="0"/>
                <a:ea typeface="SimSun" panose="02010600030101010101" pitchFamily="2" charset="-122"/>
              </a:rPr>
              <a:t>nên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tỷ</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lệ</a:t>
            </a:r>
            <a:r>
              <a:rPr lang="en-US" sz="1100" dirty="0">
                <a:effectLst/>
                <a:latin typeface="Times New Roman" panose="02020603050405020304" pitchFamily="18" charset="0"/>
                <a:ea typeface="SimSun" panose="02010600030101010101" pitchFamily="2" charset="-122"/>
              </a:rPr>
              <a:t> protein </a:t>
            </a:r>
            <a:r>
              <a:rPr lang="en-US" sz="1100" dirty="0" err="1">
                <a:effectLst/>
                <a:latin typeface="Times New Roman" panose="02020603050405020304" pitchFamily="18" charset="0"/>
                <a:ea typeface="SimSun" panose="02010600030101010101" pitchFamily="2" charset="-122"/>
              </a:rPr>
              <a:t>bị</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giảm</a:t>
            </a:r>
            <a:r>
              <a:rPr lang="en-US" sz="1100" dirty="0">
                <a:effectLst/>
                <a:latin typeface="Times New Roman" panose="02020603050405020304" pitchFamily="18" charset="0"/>
                <a:ea typeface="SimSun" panose="02010600030101010101" pitchFamily="2" charset="-122"/>
              </a:rPr>
              <a:t>.</a:t>
            </a:r>
          </a:p>
          <a:p>
            <a:pPr marL="457200" marR="0">
              <a:buNone/>
            </a:pP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Nut and Seed Products</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và</a:t>
            </a:r>
            <a:r>
              <a:rPr lang="en-US" sz="1100" dirty="0">
                <a:effectLst/>
                <a:latin typeface="Times New Roman" panose="02020603050405020304" pitchFamily="18" charset="0"/>
                <a:ea typeface="SimSun" panose="02010600030101010101" pitchFamily="2" charset="-122"/>
              </a:rPr>
              <a:t> </a:t>
            </a:r>
            <a:r>
              <a:rPr lang="en-US" sz="1100" dirty="0">
                <a:effectLst/>
                <a:latin typeface="Segoe UI Emoji" panose="020B0502040204020203" pitchFamily="34" charset="0"/>
                <a:ea typeface="SimSun" panose="02010600030101010101" pitchFamily="2" charset="-122"/>
                <a:cs typeface="Segoe UI Emoji" panose="020B0502040204020203" pitchFamily="34" charset="0"/>
              </a:rPr>
              <a:t>🌿</a:t>
            </a: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Spices and Herbs</a:t>
            </a:r>
            <a:br>
              <a:rPr lang="en-US" sz="1100" dirty="0">
                <a:effectLst/>
                <a:latin typeface="Times New Roman" panose="02020603050405020304" pitchFamily="18" charset="0"/>
                <a:ea typeface="SimSun" panose="02010600030101010101" pitchFamily="2" charset="-122"/>
              </a:rPr>
            </a:b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Có</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hàm</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lượng</a:t>
            </a:r>
            <a:r>
              <a:rPr lang="en-US" sz="1100" dirty="0">
                <a:effectLst/>
                <a:latin typeface="Times New Roman" panose="02020603050405020304" pitchFamily="18" charset="0"/>
                <a:ea typeface="SimSun" panose="02010600030101010101" pitchFamily="2" charset="-122"/>
              </a:rPr>
              <a:t> protein </a:t>
            </a:r>
            <a:r>
              <a:rPr lang="en-US" sz="1100" dirty="0" err="1">
                <a:effectLst/>
                <a:latin typeface="Times New Roman" panose="02020603050405020304" pitchFamily="18" charset="0"/>
                <a:ea typeface="SimSun" panose="02010600030101010101" pitchFamily="2" charset="-122"/>
              </a:rPr>
              <a:t>khoảng</a:t>
            </a: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14–15g/100g</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khá</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cao</a:t>
            </a:r>
            <a:r>
              <a:rPr lang="en-US" sz="1100" dirty="0">
                <a:effectLst/>
                <a:latin typeface="Times New Roman" panose="02020603050405020304" pitchFamily="18" charset="0"/>
                <a:ea typeface="SimSun" panose="02010600030101010101" pitchFamily="2" charset="-122"/>
              </a:rPr>
              <a:t> so </a:t>
            </a:r>
            <a:r>
              <a:rPr lang="en-US" sz="1100" dirty="0" err="1">
                <a:effectLst/>
                <a:latin typeface="Times New Roman" panose="02020603050405020304" pitchFamily="18" charset="0"/>
                <a:ea typeface="SimSun" panose="02010600030101010101" pitchFamily="2" charset="-122"/>
              </a:rPr>
              <a:t>với</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các</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thực</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phẩm</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thực</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vật</a:t>
            </a:r>
            <a:r>
              <a:rPr lang="en-US" sz="1100" dirty="0">
                <a:effectLst/>
                <a:latin typeface="Times New Roman" panose="02020603050405020304" pitchFamily="18" charset="0"/>
                <a:ea typeface="SimSun" panose="02010600030101010101" pitchFamily="2" charset="-122"/>
              </a:rPr>
              <a:t>.</a:t>
            </a:r>
            <a:br>
              <a:rPr lang="en-US" sz="1100" dirty="0">
                <a:effectLst/>
                <a:latin typeface="Times New Roman" panose="02020603050405020304" pitchFamily="18" charset="0"/>
                <a:ea typeface="SimSun" panose="02010600030101010101" pitchFamily="2" charset="-122"/>
              </a:rPr>
            </a:b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Đặc</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biệt</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nhóm</a:t>
            </a:r>
            <a:r>
              <a:rPr lang="en-US" sz="1100"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hạt</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và</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đậu</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là</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nguồn</a:t>
            </a:r>
            <a:r>
              <a:rPr lang="en-US" sz="1100" dirty="0">
                <a:effectLst/>
                <a:latin typeface="Times New Roman" panose="02020603050405020304" pitchFamily="18" charset="0"/>
                <a:ea typeface="SimSun" panose="02010600030101010101" pitchFamily="2" charset="-122"/>
              </a:rPr>
              <a:t> </a:t>
            </a:r>
            <a:r>
              <a:rPr lang="en-US" sz="1100" b="1" dirty="0">
                <a:effectLst/>
                <a:latin typeface="Times New Roman" panose="02020603050405020304" pitchFamily="18" charset="0"/>
                <a:ea typeface="SimSun" panose="02010600030101010101" pitchFamily="2" charset="-122"/>
              </a:rPr>
              <a:t>protein </a:t>
            </a:r>
            <a:r>
              <a:rPr lang="en-US" sz="1100" b="1" dirty="0" err="1">
                <a:effectLst/>
                <a:latin typeface="Times New Roman" panose="02020603050405020304" pitchFamily="18" charset="0"/>
                <a:ea typeface="SimSun" panose="02010600030101010101" pitchFamily="2" charset="-122"/>
              </a:rPr>
              <a:t>thực</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vật</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quan</a:t>
            </a:r>
            <a:r>
              <a:rPr lang="en-US" sz="1100" b="1" dirty="0">
                <a:effectLst/>
                <a:latin typeface="Times New Roman" panose="02020603050405020304" pitchFamily="18" charset="0"/>
                <a:ea typeface="SimSun" panose="02010600030101010101" pitchFamily="2" charset="-122"/>
              </a:rPr>
              <a:t> </a:t>
            </a:r>
            <a:r>
              <a:rPr lang="en-US" sz="1100" b="1" dirty="0" err="1">
                <a:effectLst/>
                <a:latin typeface="Times New Roman" panose="02020603050405020304" pitchFamily="18" charset="0"/>
                <a:ea typeface="SimSun" panose="02010600030101010101" pitchFamily="2" charset="-122"/>
              </a:rPr>
              <a:t>trọng</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phù</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hợp</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với</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người</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ăn</a:t>
            </a:r>
            <a:r>
              <a:rPr lang="en-US" sz="1100" dirty="0">
                <a:effectLst/>
                <a:latin typeface="Times New Roman" panose="02020603050405020304" pitchFamily="18" charset="0"/>
                <a:ea typeface="SimSun" panose="02010600030101010101" pitchFamily="2" charset="-122"/>
              </a:rPr>
              <a:t> </a:t>
            </a:r>
            <a:r>
              <a:rPr lang="en-US" sz="1100" dirty="0" err="1">
                <a:effectLst/>
                <a:latin typeface="Times New Roman" panose="02020603050405020304" pitchFamily="18" charset="0"/>
                <a:ea typeface="SimSun" panose="02010600030101010101" pitchFamily="2" charset="-122"/>
              </a:rPr>
              <a:t>chay</a:t>
            </a:r>
            <a:r>
              <a:rPr lang="en-US" sz="1100" dirty="0">
                <a:effectLst/>
                <a:latin typeface="Times New Roman" panose="02020603050405020304" pitchFamily="18" charset="0"/>
                <a:ea typeface="SimSun" panose="02010600030101010101" pitchFamily="2" charset="-122"/>
              </a:rPr>
              <a:t>.</a:t>
            </a:r>
          </a:p>
          <a:p>
            <a:pPr marL="0" marR="0">
              <a:buNone/>
            </a:pPr>
            <a:r>
              <a:rPr lang="en-US" sz="1100" dirty="0">
                <a:effectLst/>
                <a:latin typeface="Times New Roman" panose="02020603050405020304" pitchFamily="18" charset="0"/>
                <a:ea typeface="SimSun" panose="02010600030101010101" pitchFamily="2" charset="-122"/>
              </a:rPr>
              <a:t> </a:t>
            </a:r>
          </a:p>
          <a:p>
            <a:pPr marL="0" marR="0">
              <a:buNone/>
            </a:pPr>
            <a:r>
              <a:rPr lang="vi-VN" sz="1100" dirty="0">
                <a:effectLst/>
                <a:latin typeface="Times New Roman" panose="02020603050405020304" pitchFamily="18" charset="0"/>
                <a:ea typeface="SimSun" panose="02010600030101010101" pitchFamily="2" charset="-122"/>
              </a:rPr>
              <a:t> </a:t>
            </a:r>
            <a:endParaRPr lang="en-US" sz="1100" dirty="0">
              <a:effectLst/>
              <a:latin typeface="Times New Roman" panose="02020603050405020304" pitchFamily="18" charset="0"/>
              <a:ea typeface="SimSun" panose="02010600030101010101" pitchFamily="2" charset="-122"/>
            </a:endParaRPr>
          </a:p>
          <a:p>
            <a:pPr lvl="1"/>
            <a:r>
              <a:rPr lang="vi-VN" sz="1100" b="1" dirty="0">
                <a:effectLst/>
                <a:latin typeface="Times New Roman" panose="02020603050405020304" pitchFamily="18" charset="0"/>
                <a:ea typeface="SimSun" panose="02010600030101010101" pitchFamily="2" charset="-122"/>
              </a:rPr>
              <a:t>Nhận xét: </a:t>
            </a:r>
            <a:r>
              <a:rPr lang="vi-VN" sz="1100" dirty="0">
                <a:effectLst/>
                <a:latin typeface="Times New Roman" panose="02020603050405020304" pitchFamily="18" charset="0"/>
                <a:ea typeface="SimSun" panose="02010600030101010101" pitchFamily="2" charset="-122"/>
              </a:rPr>
              <a:t>Biểu đồ cho thấy </a:t>
            </a:r>
            <a:r>
              <a:rPr lang="vi-VN" sz="1100" b="1" dirty="0">
                <a:effectLst/>
                <a:latin typeface="Times New Roman" panose="02020603050405020304" pitchFamily="18" charset="0"/>
                <a:ea typeface="SimSun" panose="02010600030101010101" pitchFamily="2" charset="-122"/>
              </a:rPr>
              <a:t>nguồn cung cấp protein phong phú</a:t>
            </a:r>
            <a:r>
              <a:rPr lang="vi-VN" sz="1100" dirty="0">
                <a:effectLst/>
                <a:latin typeface="Times New Roman" panose="02020603050405020304" pitchFamily="18" charset="0"/>
                <a:ea typeface="SimSun" panose="02010600030101010101" pitchFamily="2" charset="-122"/>
              </a:rPr>
              <a:t> đến từ cả </a:t>
            </a:r>
            <a:r>
              <a:rPr lang="vi-VN" sz="1100" b="1" dirty="0">
                <a:effectLst/>
                <a:latin typeface="Times New Roman" panose="02020603050405020304" pitchFamily="18" charset="0"/>
                <a:ea typeface="SimSun" panose="02010600030101010101" pitchFamily="2" charset="-122"/>
              </a:rPr>
              <a:t>động vật và thực vật</a:t>
            </a:r>
            <a:r>
              <a:rPr lang="vi-VN" sz="1100" dirty="0">
                <a:effectLst/>
                <a:latin typeface="Times New Roman" panose="02020603050405020304" pitchFamily="18" charset="0"/>
                <a:ea typeface="SimSun" panose="02010600030101010101" pitchFamily="2" charset="-122"/>
              </a:rPr>
              <a:t>, trong đó </a:t>
            </a:r>
            <a:r>
              <a:rPr lang="vi-VN" sz="1100" b="1" dirty="0">
                <a:effectLst/>
                <a:latin typeface="Times New Roman" panose="02020603050405020304" pitchFamily="18" charset="0"/>
                <a:ea typeface="SimSun" panose="02010600030101010101" pitchFamily="2" charset="-122"/>
              </a:rPr>
              <a:t>thịt đỏ, thịt gia cầm và hải sản</a:t>
            </a:r>
            <a:r>
              <a:rPr lang="vi-VN" sz="1100" dirty="0">
                <a:effectLst/>
                <a:latin typeface="Times New Roman" panose="02020603050405020304" pitchFamily="18" charset="0"/>
                <a:ea typeface="SimSun" panose="02010600030101010101" pitchFamily="2" charset="-122"/>
              </a:rPr>
              <a:t> là nhóm có hàm lượng protein cao nhất.</a:t>
            </a:r>
            <a:br>
              <a:rPr lang="vi-VN" sz="1100" dirty="0">
                <a:effectLst/>
                <a:latin typeface="Times New Roman" panose="02020603050405020304" pitchFamily="18" charset="0"/>
                <a:ea typeface="SimSun" panose="02010600030101010101" pitchFamily="2" charset="-122"/>
              </a:rPr>
            </a:br>
            <a:r>
              <a:rPr lang="vi-VN" sz="1100" dirty="0">
                <a:effectLst/>
                <a:latin typeface="Times New Roman" panose="02020603050405020304" pitchFamily="18" charset="0"/>
                <a:ea typeface="SimSun" panose="02010600030101010101" pitchFamily="2" charset="-122"/>
              </a:rPr>
              <a:t>Tuy nhiên, </a:t>
            </a:r>
            <a:r>
              <a:rPr lang="vi-VN" sz="1100" b="1" dirty="0">
                <a:effectLst/>
                <a:latin typeface="Times New Roman" panose="02020603050405020304" pitchFamily="18" charset="0"/>
                <a:ea typeface="SimSun" panose="02010600030101010101" pitchFamily="2" charset="-122"/>
              </a:rPr>
              <a:t>các loại hạt và đậu</a:t>
            </a:r>
            <a:r>
              <a:rPr lang="vi-VN" sz="1100" dirty="0">
                <a:effectLst/>
                <a:latin typeface="Times New Roman" panose="02020603050405020304" pitchFamily="18" charset="0"/>
                <a:ea typeface="SimSun" panose="02010600030101010101" pitchFamily="2" charset="-122"/>
              </a:rPr>
              <a:t> cũng đóng vai trò quan trọng trong việc cung cấp protein lành mạnh và bền vững, đặc biệt cho chế độ ăn ít thịt hoặc thuần </a:t>
            </a:r>
            <a:r>
              <a:rPr lang="en-US" sz="1100" dirty="0" err="1">
                <a:effectLst/>
                <a:latin typeface="Times New Roman" panose="02020603050405020304" pitchFamily="18" charset="0"/>
                <a:ea typeface="SimSun" panose="02010600030101010101" pitchFamily="2" charset="-122"/>
              </a:rPr>
              <a:t>chay</a:t>
            </a:r>
            <a:r>
              <a:rPr lang="en-US" sz="1100" dirty="0">
                <a:effectLst/>
                <a:latin typeface="Times New Roman" panose="02020603050405020304" pitchFamily="18" charset="0"/>
                <a:ea typeface="SimSun" panose="02010600030101010101" pitchFamily="2" charset="-122"/>
              </a:rPr>
              <a:t>.</a:t>
            </a:r>
          </a:p>
        </p:txBody>
      </p:sp>
      <p:pic>
        <p:nvPicPr>
          <p:cNvPr id="2" name="Picture 1" descr="A graph with blue and white bars&#10;&#10;AI-generated content may be incorrect.">
            <a:extLst>
              <a:ext uri="{FF2B5EF4-FFF2-40B4-BE49-F238E27FC236}">
                <a16:creationId xmlns:a16="http://schemas.microsoft.com/office/drawing/2014/main" id="{BA703510-4E35-D9B3-2C88-CCDD0D4C197B}"/>
              </a:ext>
            </a:extLst>
          </p:cNvPr>
          <p:cNvPicPr>
            <a:picLocks noChangeAspect="1"/>
          </p:cNvPicPr>
          <p:nvPr/>
        </p:nvPicPr>
        <p:blipFill>
          <a:blip r:embed="rId3"/>
          <a:stretch>
            <a:fillRect/>
          </a:stretch>
        </p:blipFill>
        <p:spPr>
          <a:xfrm>
            <a:off x="0" y="1761328"/>
            <a:ext cx="7010400" cy="3453425"/>
          </a:xfrm>
          <a:prstGeom prst="rect">
            <a:avLst/>
          </a:prstGeom>
        </p:spPr>
      </p:pic>
    </p:spTree>
    <p:extLst>
      <p:ext uri="{BB962C8B-B14F-4D97-AF65-F5344CB8AC3E}">
        <p14:creationId xmlns:p14="http://schemas.microsoft.com/office/powerpoint/2010/main" val="3079544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C25CB-6E0B-AF1B-DE81-4F702A4184E6}"/>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E3ADC0C6-424A-5A34-1585-B1B7549A8B77}"/>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0759C802-0046-5E28-743E-672DCD67FDC5}"/>
              </a:ext>
            </a:extLst>
          </p:cNvPr>
          <p:cNvCxnSpPr>
            <a:cxnSpLocks/>
          </p:cNvCxnSpPr>
          <p:nvPr/>
        </p:nvCxnSpPr>
        <p:spPr>
          <a:xfrm>
            <a:off x="10002416" y="522898"/>
            <a:ext cx="218958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F78A7475-6140-F446-756F-E1580B3F7985}"/>
              </a:ext>
            </a:extLst>
          </p:cNvPr>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PHÂN TÍCH</a:t>
            </a:r>
          </a:p>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8B493A3-9193-CCC9-B813-23C5659BC707}"/>
              </a:ext>
            </a:extLst>
          </p:cNvPr>
          <p:cNvCxnSpPr>
            <a:cxnSpLocks/>
          </p:cNvCxnSpPr>
          <p:nvPr/>
        </p:nvCxnSpPr>
        <p:spPr>
          <a:xfrm>
            <a:off x="0" y="522898"/>
            <a:ext cx="230466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1BB8664A-91AB-02E7-7740-C91F4741E080}"/>
              </a:ext>
            </a:extLst>
          </p:cNvPr>
          <p:cNvSpPr>
            <a:spLocks noChangeArrowheads="1"/>
          </p:cNvSpPr>
          <p:nvPr/>
        </p:nvSpPr>
        <p:spPr bwMode="auto">
          <a:xfrm>
            <a:off x="711200" y="672814"/>
            <a:ext cx="9804400" cy="13002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38088" numCol="1" anchor="ctr" anchorCtr="0" compatLnSpc="1">
            <a:prstTxWarp prst="textNoShape">
              <a:avLst/>
            </a:prstTxWarp>
            <a:spAutoFit/>
          </a:bodyPr>
          <a:lstStyle/>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 EDA trực quan bằng sơ đồ (Graphical EDA)</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2.4</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Top 10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nhóm</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thực</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phẩm</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có</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hàm</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lượng</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calo trung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bình</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cao</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nhất</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3" name="Picture 2" descr="A graph with red lines&#10;&#10;AI-generated content may be incorrect.">
            <a:extLst>
              <a:ext uri="{FF2B5EF4-FFF2-40B4-BE49-F238E27FC236}">
                <a16:creationId xmlns:a16="http://schemas.microsoft.com/office/drawing/2014/main" id="{62E44AE9-AE58-6F9B-09B6-60DCB239816B}"/>
              </a:ext>
            </a:extLst>
          </p:cNvPr>
          <p:cNvPicPr>
            <a:picLocks noChangeAspect="1"/>
          </p:cNvPicPr>
          <p:nvPr/>
        </p:nvPicPr>
        <p:blipFill>
          <a:blip r:embed="rId3"/>
          <a:stretch>
            <a:fillRect/>
          </a:stretch>
        </p:blipFill>
        <p:spPr>
          <a:xfrm>
            <a:off x="74533" y="1742173"/>
            <a:ext cx="7520067" cy="3670509"/>
          </a:xfrm>
          <a:prstGeom prst="rect">
            <a:avLst/>
          </a:prstGeom>
        </p:spPr>
      </p:pic>
      <p:sp>
        <p:nvSpPr>
          <p:cNvPr id="9" name="TextBox 8">
            <a:extLst>
              <a:ext uri="{FF2B5EF4-FFF2-40B4-BE49-F238E27FC236}">
                <a16:creationId xmlns:a16="http://schemas.microsoft.com/office/drawing/2014/main" id="{77609B33-90C0-8C0D-72A3-B8F6F41176AD}"/>
              </a:ext>
            </a:extLst>
          </p:cNvPr>
          <p:cNvSpPr txBox="1"/>
          <p:nvPr/>
        </p:nvSpPr>
        <p:spPr>
          <a:xfrm>
            <a:off x="1940560" y="5643384"/>
            <a:ext cx="6101080" cy="315151"/>
          </a:xfrm>
          <a:prstGeom prst="rect">
            <a:avLst/>
          </a:prstGeom>
          <a:noFill/>
        </p:spPr>
        <p:txBody>
          <a:bodyPr wrap="square">
            <a:spAutoFit/>
          </a:bodyPr>
          <a:lstStyle>
            <a:defPPr>
              <a:defRPr lang="en-US"/>
            </a:defPPr>
            <a:lvl1pPr marR="0" algn="just">
              <a:lnSpc>
                <a:spcPct val="135000"/>
              </a:lnSpc>
              <a:buNone/>
              <a:defRPr sz="1200">
                <a:solidFill>
                  <a:srgbClr val="000000"/>
                </a:solidFill>
                <a:effectLst/>
                <a:latin typeface="Times New Roman" panose="02020603050405020304" pitchFamily="18" charset="0"/>
                <a:ea typeface="SimHei" panose="02010609060101010101" pitchFamily="49" charset="-122"/>
              </a:defRPr>
            </a:lvl1pPr>
          </a:lstStyle>
          <a:p>
            <a:r>
              <a:rPr lang="vi-VN" dirty="0"/>
              <a:t>Hình 6: Biểu đồ phân bố </a:t>
            </a:r>
            <a:r>
              <a:rPr lang="en-US" dirty="0"/>
              <a:t>top 10 </a:t>
            </a:r>
            <a:r>
              <a:rPr lang="en-US" dirty="0" err="1"/>
              <a:t>nhóm</a:t>
            </a:r>
            <a:r>
              <a:rPr lang="en-US" dirty="0"/>
              <a:t> </a:t>
            </a:r>
            <a:r>
              <a:rPr lang="en-US" dirty="0" err="1"/>
              <a:t>thực</a:t>
            </a:r>
            <a:r>
              <a:rPr lang="en-US" dirty="0"/>
              <a:t> </a:t>
            </a:r>
            <a:r>
              <a:rPr lang="en-US" dirty="0" err="1"/>
              <a:t>phẩm</a:t>
            </a:r>
            <a:r>
              <a:rPr lang="en-US" dirty="0"/>
              <a:t> </a:t>
            </a:r>
            <a:r>
              <a:rPr lang="en-US" dirty="0" err="1"/>
              <a:t>có</a:t>
            </a:r>
            <a:r>
              <a:rPr lang="en-US" dirty="0"/>
              <a:t> calo </a:t>
            </a:r>
            <a:r>
              <a:rPr lang="en-US" dirty="0" err="1"/>
              <a:t>cao</a:t>
            </a:r>
            <a:r>
              <a:rPr lang="en-US" dirty="0"/>
              <a:t> </a:t>
            </a:r>
            <a:r>
              <a:rPr lang="en-US" dirty="0" err="1"/>
              <a:t>nhất</a:t>
            </a:r>
            <a:endParaRPr lang="en-US" dirty="0"/>
          </a:p>
        </p:txBody>
      </p:sp>
      <p:sp>
        <p:nvSpPr>
          <p:cNvPr id="15" name="TextBox 14">
            <a:extLst>
              <a:ext uri="{FF2B5EF4-FFF2-40B4-BE49-F238E27FC236}">
                <a16:creationId xmlns:a16="http://schemas.microsoft.com/office/drawing/2014/main" id="{A1B486A3-C3E8-2F9F-9962-3D65E25791CA}"/>
              </a:ext>
            </a:extLst>
          </p:cNvPr>
          <p:cNvSpPr txBox="1"/>
          <p:nvPr/>
        </p:nvSpPr>
        <p:spPr>
          <a:xfrm>
            <a:off x="7650480" y="1845536"/>
            <a:ext cx="4466987" cy="4339650"/>
          </a:xfrm>
          <a:prstGeom prst="rect">
            <a:avLst/>
          </a:prstGeom>
          <a:solidFill>
            <a:schemeClr val="bg1">
              <a:lumMod val="95000"/>
            </a:schemeClr>
          </a:solidFill>
        </p:spPr>
        <p:txBody>
          <a:bodyPr wrap="square">
            <a:spAutoFit/>
          </a:bodyPr>
          <a:lstStyle/>
          <a:p>
            <a:pPr marL="342900" marR="0" lvl="0" indent="-342900" algn="just">
              <a:buFont typeface="Symbol" panose="05050102010706020507" pitchFamily="18" charset="2"/>
              <a:buChar char="-"/>
            </a:pPr>
            <a:r>
              <a:rPr lang="en-US" sz="1200" b="1" u="none" strike="noStrike" dirty="0" err="1">
                <a:effectLst/>
                <a:latin typeface="Times New Roman" panose="02020603050405020304" pitchFamily="18" charset="0"/>
                <a:ea typeface="Times New Roman" panose="02020603050405020304" pitchFamily="18" charset="0"/>
              </a:rPr>
              <a:t>Nhóm</a:t>
            </a:r>
            <a:r>
              <a:rPr lang="en-US" sz="1200" b="1" u="none" strike="noStrike" dirty="0">
                <a:effectLst/>
                <a:latin typeface="Times New Roman" panose="02020603050405020304" pitchFamily="18" charset="0"/>
                <a:ea typeface="Times New Roman" panose="02020603050405020304" pitchFamily="18" charset="0"/>
              </a:rPr>
              <a:t> </a:t>
            </a:r>
            <a:r>
              <a:rPr lang="en-US" sz="1200" b="1" u="none" strike="noStrike" dirty="0" err="1">
                <a:effectLst/>
                <a:latin typeface="Times New Roman" panose="02020603050405020304" pitchFamily="18" charset="0"/>
                <a:ea typeface="Times New Roman" panose="02020603050405020304" pitchFamily="18" charset="0"/>
              </a:rPr>
              <a:t>cao</a:t>
            </a:r>
            <a:r>
              <a:rPr lang="en-US" sz="1200" b="1" u="none" strike="noStrike" dirty="0">
                <a:effectLst/>
                <a:latin typeface="Times New Roman" panose="02020603050405020304" pitchFamily="18" charset="0"/>
                <a:ea typeface="Times New Roman" panose="02020603050405020304" pitchFamily="18" charset="0"/>
              </a:rPr>
              <a:t> </a:t>
            </a:r>
            <a:r>
              <a:rPr lang="en-US" sz="1200" b="1" u="none" strike="noStrike" dirty="0" err="1">
                <a:effectLst/>
                <a:latin typeface="Times New Roman" panose="02020603050405020304" pitchFamily="18" charset="0"/>
                <a:ea typeface="Times New Roman" panose="02020603050405020304" pitchFamily="18" charset="0"/>
              </a:rPr>
              <a:t>nhất</a:t>
            </a:r>
            <a:r>
              <a:rPr lang="en-US" sz="1200" b="1" u="none" strike="noStrike" dirty="0">
                <a:effectLst/>
                <a:latin typeface="Times New Roman" panose="02020603050405020304" pitchFamily="18" charset="0"/>
                <a:ea typeface="Times New Roman" panose="02020603050405020304" pitchFamily="18" charset="0"/>
              </a:rPr>
              <a: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Nhóm</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Fats and Oils</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Chất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béo</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và</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Dầu</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đứng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đầu</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với</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hàm</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lượng</a:t>
            </a:r>
            <a:r>
              <a:rPr lang="en-US" sz="1200" u="none" strike="noStrike" dirty="0">
                <a:effectLst/>
                <a:latin typeface="Times New Roman" panose="02020603050405020304" pitchFamily="18" charset="0"/>
                <a:ea typeface="Times New Roman" panose="02020603050405020304" pitchFamily="18" charset="0"/>
              </a:rPr>
              <a:t> calories trung </a:t>
            </a:r>
            <a:r>
              <a:rPr lang="en-US" sz="1200" u="none" strike="noStrike" dirty="0" err="1">
                <a:effectLst/>
                <a:latin typeface="Times New Roman" panose="02020603050405020304" pitchFamily="18" charset="0"/>
                <a:ea typeface="Times New Roman" panose="02020603050405020304" pitchFamily="18" charset="0"/>
              </a:rPr>
              <a:t>bình</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err="1">
                <a:effectLst/>
                <a:latin typeface="Times New Roman" panose="02020603050405020304" pitchFamily="18" charset="0"/>
                <a:ea typeface="Times New Roman" panose="02020603050405020304" pitchFamily="18" charset="0"/>
              </a:rPr>
              <a:t>cao</a:t>
            </a:r>
            <a:r>
              <a:rPr lang="en-US" sz="1200" b="1" u="none" strike="noStrike" dirty="0">
                <a:effectLst/>
                <a:latin typeface="Times New Roman" panose="02020603050405020304" pitchFamily="18" charset="0"/>
                <a:ea typeface="Times New Roman" panose="02020603050405020304" pitchFamily="18" charset="0"/>
              </a:rPr>
              <a:t> </a:t>
            </a:r>
            <a:r>
              <a:rPr lang="en-US" sz="1200" b="1" u="none" strike="noStrike" dirty="0" err="1">
                <a:effectLst/>
                <a:latin typeface="Times New Roman" panose="02020603050405020304" pitchFamily="18" charset="0"/>
                <a:ea typeface="Times New Roman" panose="02020603050405020304" pitchFamily="18" charset="0"/>
              </a:rPr>
              <a:t>nhất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đạt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xấp</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xỉ</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1400 kcal</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Điều</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này</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là</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dễ</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hiểu</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vì</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chất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béo</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cung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cấp</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năng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lượng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gấp</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đôi</a:t>
            </a:r>
            <a:r>
              <a:rPr lang="en-US" sz="1200" u="none" strike="noStrike" dirty="0">
                <a:effectLst/>
                <a:latin typeface="Times New Roman" panose="02020603050405020304" pitchFamily="18" charset="0"/>
                <a:ea typeface="Times New Roman" panose="02020603050405020304" pitchFamily="18" charset="0"/>
              </a:rPr>
              <a:t> so </a:t>
            </a:r>
            <a:r>
              <a:rPr lang="en-US" sz="1200" u="none" strike="noStrike" dirty="0" err="1">
                <a:effectLst/>
                <a:latin typeface="Times New Roman" panose="02020603050405020304" pitchFamily="18" charset="0"/>
                <a:ea typeface="Times New Roman" panose="02020603050405020304" pitchFamily="18" charset="0"/>
              </a:rPr>
              <a:t>với</a:t>
            </a:r>
            <a:r>
              <a:rPr lang="en-US" sz="1200" u="none" strike="noStrike" dirty="0">
                <a:effectLst/>
                <a:latin typeface="Times New Roman" panose="02020603050405020304" pitchFamily="18" charset="0"/>
                <a:ea typeface="Times New Roman" panose="02020603050405020304" pitchFamily="18" charset="0"/>
              </a:rPr>
              <a:t> protein </a:t>
            </a:r>
            <a:r>
              <a:rPr lang="en-US" sz="1200" u="none" strike="noStrike" dirty="0" err="1">
                <a:effectLst/>
                <a:latin typeface="Times New Roman" panose="02020603050405020304" pitchFamily="18" charset="0"/>
                <a:ea typeface="Times New Roman" panose="02020603050405020304" pitchFamily="18" charset="0"/>
              </a:rPr>
              <a:t>hoặc</a:t>
            </a:r>
            <a:r>
              <a:rPr lang="en-US" sz="1200" u="none" strike="noStrike" dirty="0">
                <a:effectLst/>
                <a:latin typeface="Times New Roman" panose="02020603050405020304" pitchFamily="18" charset="0"/>
                <a:ea typeface="Times New Roman" panose="02020603050405020304" pitchFamily="18" charset="0"/>
              </a:rPr>
              <a:t> carbohydrate </a:t>
            </a:r>
            <a:r>
              <a:rPr lang="en-US" sz="1200" u="none" strike="noStrike" dirty="0" err="1">
                <a:effectLst/>
                <a:latin typeface="Times New Roman" panose="02020603050405020304" pitchFamily="18" charset="0"/>
                <a:ea typeface="Times New Roman" panose="02020603050405020304" pitchFamily="18" charset="0"/>
              </a:rPr>
              <a:t>trên</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cùng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một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khối</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lượng</a:t>
            </a:r>
            <a:r>
              <a:rPr lang="en-US" sz="1200" u="none" strike="noStrike" dirty="0">
                <a:effectLst/>
                <a:latin typeface="Times New Roman" panose="02020603050405020304" pitchFamily="18" charset="0"/>
                <a:ea typeface="Times New Roman" panose="02020603050405020304" pitchFamily="18" charset="0"/>
              </a:rPr>
              <a:t>.</a:t>
            </a:r>
            <a:endParaRPr lang="en-US" sz="1200" u="none" strike="noStrike" dirty="0">
              <a:effectLst/>
              <a:latin typeface="Times New Roman" panose="02020603050405020304" pitchFamily="18" charset="0"/>
              <a:ea typeface="SimSun" panose="02010600030101010101" pitchFamily="2" charset="-122"/>
            </a:endParaRPr>
          </a:p>
          <a:p>
            <a:pPr marL="342900" marR="0" lvl="0" indent="-342900" algn="just">
              <a:buFont typeface="Symbol" panose="05050102010706020507" pitchFamily="18" charset="2"/>
              <a:buChar char="-"/>
            </a:pPr>
            <a:r>
              <a:rPr lang="en-US" sz="1200" b="1" u="none" strike="noStrike" dirty="0" err="1">
                <a:effectLst/>
                <a:latin typeface="Times New Roman" panose="02020603050405020304" pitchFamily="18" charset="0"/>
                <a:ea typeface="Times New Roman" panose="02020603050405020304" pitchFamily="18" charset="0"/>
              </a:rPr>
              <a:t>Nhóm</a:t>
            </a:r>
            <a:r>
              <a:rPr lang="en-US" sz="1200" b="1" u="none" strike="noStrike" dirty="0">
                <a:effectLst/>
                <a:latin typeface="Times New Roman" panose="02020603050405020304" pitchFamily="18" charset="0"/>
                <a:ea typeface="Times New Roman" panose="02020603050405020304" pitchFamily="18" charset="0"/>
              </a:rPr>
              <a:t> </a:t>
            </a:r>
            <a:r>
              <a:rPr lang="en-US" sz="1200" b="1" u="none" strike="noStrike" dirty="0" err="1">
                <a:effectLst/>
                <a:latin typeface="Times New Roman" panose="02020603050405020304" pitchFamily="18" charset="0"/>
                <a:ea typeface="Times New Roman" panose="02020603050405020304" pitchFamily="18" charset="0"/>
              </a:rPr>
              <a:t>thứ</a:t>
            </a:r>
            <a:r>
              <a:rPr lang="en-US" sz="1200" b="1" u="none" strike="noStrike" dirty="0">
                <a:effectLst/>
                <a:latin typeface="Times New Roman" panose="02020603050405020304" pitchFamily="18" charset="0"/>
                <a:ea typeface="Times New Roman" panose="02020603050405020304" pitchFamily="18" charset="0"/>
              </a:rPr>
              <a:t> </a:t>
            </a:r>
            <a:r>
              <a:rPr lang="en-US" sz="1200" b="1" u="none" strike="noStrike" dirty="0" err="1">
                <a:effectLst/>
                <a:latin typeface="Times New Roman" panose="02020603050405020304" pitchFamily="18" charset="0"/>
                <a:ea typeface="Times New Roman" panose="02020603050405020304" pitchFamily="18" charset="0"/>
              </a:rPr>
              <a:t>hai</a:t>
            </a:r>
            <a:r>
              <a:rPr lang="en-US" sz="1200" b="1" u="none" strike="noStrike" dirty="0">
                <a:effectLst/>
                <a:latin typeface="Times New Roman" panose="02020603050405020304" pitchFamily="18" charset="0"/>
                <a:ea typeface="Times New Roman" panose="02020603050405020304" pitchFamily="18" charset="0"/>
              </a:rPr>
              <a: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Nhóm</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Nut and Seed Products</a:t>
            </a:r>
            <a:r>
              <a:rPr lang="en-US" sz="1200" u="none" strike="noStrike" dirty="0">
                <a:effectLst/>
                <a:latin typeface="Times New Roman" panose="02020603050405020304" pitchFamily="18" charset="0"/>
                <a:ea typeface="Times New Roman" panose="02020603050405020304" pitchFamily="18" charset="0"/>
              </a:rPr>
              <a:t> (Các </a:t>
            </a:r>
            <a:r>
              <a:rPr lang="en-US" sz="1200" u="none" strike="noStrike" dirty="0" err="1">
                <a:effectLst/>
                <a:latin typeface="Times New Roman" panose="02020603050405020304" pitchFamily="18" charset="0"/>
                <a:ea typeface="Times New Roman" panose="02020603050405020304" pitchFamily="18" charset="0"/>
              </a:rPr>
              <a:t>sản</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phẩm</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từ</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Hạt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và</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Hạt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giống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theo</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sau</a:t>
            </a:r>
            <a:r>
              <a:rPr lang="en-US" sz="1200" u="none" strike="noStrike" dirty="0">
                <a:effectLst/>
                <a:latin typeface="Times New Roman" panose="02020603050405020304" pitchFamily="18" charset="0"/>
                <a:ea typeface="Times New Roman" panose="02020603050405020304" pitchFamily="18" charset="0"/>
              </a:rPr>
              <a:t> ở </a:t>
            </a:r>
            <a:r>
              <a:rPr lang="en-US" sz="1200" u="none" strike="noStrike" dirty="0" err="1">
                <a:effectLst/>
                <a:latin typeface="Times New Roman" panose="02020603050405020304" pitchFamily="18" charset="0"/>
                <a:ea typeface="Times New Roman" panose="02020603050405020304" pitchFamily="18" charset="0"/>
              </a:rPr>
              <a:t>vị</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trí</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thứ</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hai</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với</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lượng</a:t>
            </a:r>
            <a:r>
              <a:rPr lang="en-US" sz="1200" u="none" strike="noStrike" dirty="0">
                <a:effectLst/>
                <a:latin typeface="Times New Roman" panose="02020603050405020304" pitchFamily="18" charset="0"/>
                <a:ea typeface="Times New Roman" panose="02020603050405020304" pitchFamily="18" charset="0"/>
              </a:rPr>
              <a:t> calories trung </a:t>
            </a:r>
            <a:r>
              <a:rPr lang="en-US" sz="1200" u="none" strike="noStrike" dirty="0" err="1">
                <a:effectLst/>
                <a:latin typeface="Times New Roman" panose="02020603050405020304" pitchFamily="18" charset="0"/>
                <a:ea typeface="Times New Roman" panose="02020603050405020304" pitchFamily="18" charset="0"/>
              </a:rPr>
              <a:t>bình</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khoảng</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1300 kcal</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Hạt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chứa</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hàm</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lượng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dầu</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và</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chất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béo</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cao</a:t>
            </a:r>
            <a:r>
              <a:rPr lang="en-US" sz="1200" u="none" strike="noStrike" dirty="0">
                <a:effectLst/>
                <a:latin typeface="Times New Roman" panose="02020603050405020304" pitchFamily="18" charset="0"/>
                <a:ea typeface="Times New Roman" panose="02020603050405020304" pitchFamily="18" charset="0"/>
              </a:rPr>
              <a:t>, do </a:t>
            </a:r>
            <a:r>
              <a:rPr lang="en-US" sz="1200" u="none" strike="noStrike" dirty="0" err="1">
                <a:effectLst/>
                <a:latin typeface="Times New Roman" panose="02020603050405020304" pitchFamily="18" charset="0"/>
                <a:ea typeface="Times New Roman" panose="02020603050405020304" pitchFamily="18" charset="0"/>
              </a:rPr>
              <a:t>đó</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có</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mật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độ</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năng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lượng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lớn</a:t>
            </a:r>
            <a:r>
              <a:rPr lang="en-US" sz="1200" u="none" strike="noStrike" dirty="0">
                <a:effectLst/>
                <a:latin typeface="Times New Roman" panose="02020603050405020304" pitchFamily="18" charset="0"/>
                <a:ea typeface="Times New Roman" panose="02020603050405020304" pitchFamily="18" charset="0"/>
              </a:rPr>
              <a:t>.</a:t>
            </a:r>
            <a:endParaRPr lang="en-US" sz="1200" u="none" strike="noStrike" dirty="0">
              <a:effectLst/>
              <a:latin typeface="Times New Roman" panose="02020603050405020304" pitchFamily="18" charset="0"/>
              <a:ea typeface="SimSun" panose="02010600030101010101" pitchFamily="2" charset="-122"/>
            </a:endParaRPr>
          </a:p>
          <a:p>
            <a:pPr marL="342900" marR="0" lvl="0" indent="-342900" algn="just">
              <a:buFont typeface="Symbol" panose="05050102010706020507" pitchFamily="18" charset="2"/>
              <a:buChar char="-"/>
            </a:pPr>
            <a:r>
              <a:rPr lang="en-US" sz="1200" b="1" u="none" strike="noStrike" dirty="0" err="1">
                <a:effectLst/>
                <a:latin typeface="Times New Roman" panose="02020603050405020304" pitchFamily="18" charset="0"/>
                <a:ea typeface="Times New Roman" panose="02020603050405020304" pitchFamily="18" charset="0"/>
              </a:rPr>
              <a:t>Nhóm</a:t>
            </a:r>
            <a:r>
              <a:rPr lang="en-US" sz="1200" b="1" u="none" strike="noStrike" dirty="0">
                <a:effectLst/>
                <a:latin typeface="Times New Roman" panose="02020603050405020304" pitchFamily="18" charset="0"/>
                <a:ea typeface="Times New Roman" panose="02020603050405020304" pitchFamily="18" charset="0"/>
              </a:rPr>
              <a:t> </a:t>
            </a:r>
            <a:r>
              <a:rPr lang="en-US" sz="1200" b="1" u="none" strike="noStrike" dirty="0" err="1">
                <a:effectLst/>
                <a:latin typeface="Times New Roman" panose="02020603050405020304" pitchFamily="18" charset="0"/>
                <a:ea typeface="Times New Roman" panose="02020603050405020304" pitchFamily="18" charset="0"/>
              </a:rPr>
              <a:t>thứ</a:t>
            </a:r>
            <a:r>
              <a:rPr lang="en-US" sz="1200" b="1" u="none" strike="noStrike" dirty="0">
                <a:effectLst/>
                <a:latin typeface="Times New Roman" panose="02020603050405020304" pitchFamily="18" charset="0"/>
                <a:ea typeface="Times New Roman" panose="02020603050405020304" pitchFamily="18" charset="0"/>
              </a:rPr>
              <a:t> </a:t>
            </a:r>
            <a:r>
              <a:rPr lang="en-US" sz="1200" b="1" u="none" strike="noStrike" dirty="0" err="1">
                <a:effectLst/>
                <a:latin typeface="Times New Roman" panose="02020603050405020304" pitchFamily="18" charset="0"/>
                <a:ea typeface="Times New Roman" panose="02020603050405020304" pitchFamily="18" charset="0"/>
              </a:rPr>
              <a:t>ba</a:t>
            </a:r>
            <a:r>
              <a:rPr lang="en-US" sz="1200" b="1" u="none" strike="noStrike" dirty="0">
                <a:effectLst/>
                <a:latin typeface="Times New Roman" panose="02020603050405020304" pitchFamily="18" charset="0"/>
                <a:ea typeface="Times New Roman" panose="02020603050405020304" pitchFamily="18" charset="0"/>
              </a:rPr>
              <a: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Nhóm</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Snacks</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Đồ</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ăn</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vặt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giữ</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vị</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trí</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thứ</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ba</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với</a:t>
            </a:r>
            <a:r>
              <a:rPr lang="en-US" sz="1200" u="none" strike="noStrike" dirty="0">
                <a:effectLst/>
                <a:latin typeface="Times New Roman" panose="02020603050405020304" pitchFamily="18" charset="0"/>
                <a:ea typeface="Times New Roman" panose="02020603050405020304" pitchFamily="18" charset="0"/>
              </a:rPr>
              <a:t> calories trung </a:t>
            </a:r>
            <a:r>
              <a:rPr lang="en-US" sz="1200" u="none" strike="noStrike" dirty="0" err="1">
                <a:effectLst/>
                <a:latin typeface="Times New Roman" panose="02020603050405020304" pitchFamily="18" charset="0"/>
                <a:ea typeface="Times New Roman" panose="02020603050405020304" pitchFamily="18" charset="0"/>
              </a:rPr>
              <a:t>bình</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khoảng</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1170 kcal</a:t>
            </a:r>
            <a:r>
              <a:rPr lang="en-US" sz="1200" u="none" strike="noStrike" dirty="0">
                <a:effectLst/>
                <a:latin typeface="Times New Roman" panose="02020603050405020304" pitchFamily="18" charset="0"/>
                <a:ea typeface="Times New Roman" panose="02020603050405020304" pitchFamily="18" charset="0"/>
              </a:rPr>
              <a:t>. Các </a:t>
            </a:r>
            <a:r>
              <a:rPr lang="en-US" sz="1200" u="none" strike="noStrike" dirty="0" err="1">
                <a:effectLst/>
                <a:latin typeface="Times New Roman" panose="02020603050405020304" pitchFamily="18" charset="0"/>
                <a:ea typeface="Times New Roman" panose="02020603050405020304" pitchFamily="18" charset="0"/>
              </a:rPr>
              <a:t>sản</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phẩm</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này</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thường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chứa</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nhiều</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chất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béo</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đường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và</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tinh</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bột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đã</a:t>
            </a:r>
            <a:r>
              <a:rPr lang="en-US" sz="1200" u="none" strike="noStrike" dirty="0">
                <a:effectLst/>
                <a:latin typeface="Times New Roman" panose="02020603050405020304" pitchFamily="18" charset="0"/>
                <a:ea typeface="Times New Roman" panose="02020603050405020304" pitchFamily="18" charset="0"/>
              </a:rPr>
              <a:t> qua </a:t>
            </a:r>
            <a:r>
              <a:rPr lang="en-US" sz="1200" u="none" strike="noStrike" dirty="0" err="1">
                <a:effectLst/>
                <a:latin typeface="Times New Roman" panose="02020603050405020304" pitchFamily="18" charset="0"/>
                <a:ea typeface="Times New Roman" panose="02020603050405020304" pitchFamily="18" charset="0"/>
              </a:rPr>
              <a:t>chế</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biến</a:t>
            </a:r>
            <a:r>
              <a:rPr lang="en-US" sz="1200" u="none" strike="noStrike" dirty="0">
                <a:effectLst/>
                <a:latin typeface="Times New Roman" panose="02020603050405020304" pitchFamily="18" charset="0"/>
                <a:ea typeface="Times New Roman" panose="02020603050405020304" pitchFamily="18" charset="0"/>
              </a:rPr>
              <a:t>.</a:t>
            </a:r>
            <a:endParaRPr lang="en-US" sz="1200" u="none" strike="noStrike" dirty="0">
              <a:effectLst/>
              <a:latin typeface="Times New Roman" panose="02020603050405020304" pitchFamily="18" charset="0"/>
              <a:ea typeface="SimSun" panose="02010600030101010101" pitchFamily="2" charset="-122"/>
            </a:endParaRPr>
          </a:p>
          <a:p>
            <a:pPr marL="342900" marR="0" lvl="0" indent="-342900" algn="just">
              <a:buFont typeface="Symbol" panose="05050102010706020507" pitchFamily="18" charset="2"/>
              <a:buChar char="-"/>
            </a:pPr>
            <a:r>
              <a:rPr lang="en-US" sz="1200" u="none" strike="noStrike" dirty="0">
                <a:effectLst/>
                <a:latin typeface="Times New Roman" panose="02020603050405020304" pitchFamily="18" charset="0"/>
                <a:ea typeface="Times New Roman" panose="02020603050405020304" pitchFamily="18" charset="0"/>
              </a:rPr>
              <a:t> Các </a:t>
            </a:r>
            <a:r>
              <a:rPr lang="en-US" sz="1200" u="none" strike="noStrike" dirty="0" err="1">
                <a:effectLst/>
                <a:latin typeface="Times New Roman" panose="02020603050405020304" pitchFamily="18" charset="0"/>
                <a:ea typeface="Times New Roman" panose="02020603050405020304" pitchFamily="18" charset="0"/>
              </a:rPr>
              <a:t>nhóm</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như</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Baked Products</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Sản</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phẩm</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nướng</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Sweets</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Đồ</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ngọt</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và</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Breakfast Cereals</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Ngũ</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cốc</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ăn</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sáng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có</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hàm</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lượng</a:t>
            </a:r>
            <a:r>
              <a:rPr lang="en-US" sz="1200" u="none" strike="noStrike" dirty="0">
                <a:effectLst/>
                <a:latin typeface="Times New Roman" panose="02020603050405020304" pitchFamily="18" charset="0"/>
                <a:ea typeface="Times New Roman" panose="02020603050405020304" pitchFamily="18" charset="0"/>
              </a:rPr>
              <a:t> calories trung </a:t>
            </a:r>
            <a:r>
              <a:rPr lang="en-US" sz="1200" u="none" strike="noStrike" dirty="0" err="1">
                <a:effectLst/>
                <a:latin typeface="Times New Roman" panose="02020603050405020304" pitchFamily="18" charset="0"/>
                <a:ea typeface="Times New Roman" panose="02020603050405020304" pitchFamily="18" charset="0"/>
              </a:rPr>
              <a:t>bình</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giảm</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dần</a:t>
            </a:r>
            <a:r>
              <a:rPr lang="en-US" sz="1200" u="none" strike="noStrike" dirty="0">
                <a:effectLst/>
                <a:latin typeface="Times New Roman" panose="02020603050405020304" pitchFamily="18" charset="0"/>
                <a:ea typeface="Times New Roman" panose="02020603050405020304" pitchFamily="18" charset="0"/>
              </a:rPr>
              <a:t>, dao </a:t>
            </a:r>
            <a:r>
              <a:rPr lang="en-US" sz="1200" u="none" strike="noStrike" dirty="0" err="1">
                <a:effectLst/>
                <a:latin typeface="Times New Roman" panose="02020603050405020304" pitchFamily="18" charset="0"/>
                <a:ea typeface="Times New Roman" panose="02020603050405020304" pitchFamily="18" charset="0"/>
              </a:rPr>
              <a:t>động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từ</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khoảng</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950 kcal</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xuống</a:t>
            </a:r>
            <a:r>
              <a:rPr lang="en-US" sz="1200" u="none" strike="noStrike" dirty="0">
                <a:effectLst/>
                <a:latin typeface="Times New Roman" panose="02020603050405020304" pitchFamily="18" charset="0"/>
                <a:ea typeface="Times New Roman" panose="02020603050405020304" pitchFamily="18" charset="0"/>
              </a:rPr>
              <a:t> </a:t>
            </a:r>
            <a:r>
              <a:rPr lang="en-US" sz="1200" u="none" strike="noStrike" dirty="0" err="1">
                <a:effectLst/>
                <a:latin typeface="Times New Roman" panose="02020603050405020304" pitchFamily="18" charset="0"/>
                <a:ea typeface="Times New Roman" panose="02020603050405020304" pitchFamily="18" charset="0"/>
              </a:rPr>
              <a:t>khoảng</a:t>
            </a:r>
            <a:r>
              <a:rPr lang="en-US" sz="1200" u="none" strike="noStrike" dirty="0">
                <a:effectLst/>
                <a:latin typeface="Times New Roman" panose="02020603050405020304" pitchFamily="18" charset="0"/>
                <a:ea typeface="Times New Roman" panose="02020603050405020304" pitchFamily="18" charset="0"/>
              </a:rPr>
              <a:t> </a:t>
            </a:r>
            <a:r>
              <a:rPr lang="en-US" sz="1200" b="1" u="none" strike="noStrike" dirty="0">
                <a:effectLst/>
                <a:latin typeface="Times New Roman" panose="02020603050405020304" pitchFamily="18" charset="0"/>
                <a:ea typeface="Times New Roman" panose="02020603050405020304" pitchFamily="18" charset="0"/>
              </a:rPr>
              <a:t>830 kcal</a:t>
            </a:r>
            <a:r>
              <a:rPr lang="en-US" sz="1200" u="none" strike="noStrike" dirty="0">
                <a:effectLst/>
                <a:latin typeface="Times New Roman" panose="02020603050405020304" pitchFamily="18" charset="0"/>
                <a:ea typeface="Times New Roman" panose="02020603050405020304" pitchFamily="18" charset="0"/>
              </a:rPr>
              <a:t>.</a:t>
            </a:r>
            <a:endParaRPr lang="en-US" sz="1200" u="none" strike="noStrike" dirty="0">
              <a:effectLst/>
              <a:latin typeface="Times New Roman" panose="02020603050405020304" pitchFamily="18" charset="0"/>
              <a:ea typeface="SimSun" panose="02010600030101010101" pitchFamily="2" charset="-122"/>
            </a:endParaRPr>
          </a:p>
          <a:p>
            <a:pPr marL="342900" marR="0" lvl="0" indent="-342900" algn="just">
              <a:buFont typeface="Symbol" panose="05050102010706020507" pitchFamily="18" charset="2"/>
              <a:buChar char="-"/>
            </a:pPr>
            <a:r>
              <a:rPr lang="en-US" sz="1200" u="none" strike="noStrike" dirty="0">
                <a:effectLst/>
                <a:latin typeface="Times New Roman" panose="02020603050405020304" pitchFamily="18" charset="0"/>
                <a:ea typeface="Times New Roman" panose="02020603050405020304" pitchFamily="18" charset="0"/>
              </a:rPr>
              <a:t>Các </a:t>
            </a:r>
            <a:r>
              <a:rPr lang="en-US" sz="1200" u="none" strike="noStrike" dirty="0" err="1">
                <a:effectLst/>
                <a:latin typeface="Times New Roman" panose="02020603050405020304" pitchFamily="18" charset="0"/>
                <a:ea typeface="Times New Roman" panose="02020603050405020304" pitchFamily="18" charset="0"/>
              </a:rPr>
              <a:t>nhóm</a:t>
            </a:r>
            <a:r>
              <a:rPr lang="en-US" sz="1200" u="none" strike="noStrike" dirty="0">
                <a:effectLst/>
                <a:latin typeface="Times New Roman" panose="02020603050405020304" pitchFamily="18" charset="0"/>
                <a:ea typeface="Times New Roman" panose="02020603050405020304" pitchFamily="18" charset="0"/>
              </a:rPr>
              <a:t> ở </a:t>
            </a:r>
            <a:r>
              <a:rPr lang="en-US" sz="1200" u="none" strike="noStrike" dirty="0" err="1">
                <a:effectLst/>
                <a:latin typeface="Times New Roman" panose="02020603050405020304" pitchFamily="18" charset="0"/>
                <a:ea typeface="Times New Roman" panose="02020603050405020304" pitchFamily="18" charset="0"/>
              </a:rPr>
              <a:t>cuối</a:t>
            </a:r>
            <a:r>
              <a:rPr lang="en-US" sz="1200" u="none" strike="noStrike" dirty="0">
                <a:effectLst/>
                <a:latin typeface="Times New Roman" panose="02020603050405020304" pitchFamily="18" charset="0"/>
                <a:ea typeface="Times New Roman" panose="02020603050405020304" pitchFamily="18" charset="0"/>
              </a:rPr>
              <a:t> danh </a:t>
            </a:r>
            <a:r>
              <a:rPr lang="en-US" sz="1200" u="none" strike="noStrike" dirty="0" err="1">
                <a:effectLst/>
                <a:latin typeface="Times New Roman" panose="02020603050405020304" pitchFamily="18" charset="0"/>
                <a:ea typeface="Times New Roman" panose="02020603050405020304" pitchFamily="18" charset="0"/>
              </a:rPr>
              <a:t>sách</a:t>
            </a:r>
            <a:r>
              <a:rPr lang="en-US" sz="1200" u="none" strike="noStrike" dirty="0">
                <a:effectLst/>
                <a:latin typeface="Times New Roman" panose="02020603050405020304" pitchFamily="18" charset="0"/>
                <a:ea typeface="Times New Roman" panose="02020603050405020304" pitchFamily="18" charset="0"/>
              </a:rPr>
              <a:t> bao </a:t>
            </a:r>
            <a:r>
              <a:rPr lang="en-US" sz="1200" u="none" strike="noStrike" dirty="0" err="1">
                <a:effectLst/>
                <a:latin typeface="Times New Roman" panose="02020603050405020304" pitchFamily="18" charset="0"/>
                <a:ea typeface="Times New Roman" panose="02020603050405020304" pitchFamily="18" charset="0"/>
              </a:rPr>
              <a:t>gồm</a:t>
            </a:r>
            <a:r>
              <a:rPr lang="en-US" sz="1200" u="none" strike="noStrike" dirty="0">
                <a:effectLst/>
                <a:latin typeface="Times New Roman" panose="02020603050405020304" pitchFamily="18" charset="0"/>
                <a:ea typeface="Times New Roman" panose="02020603050405020304" pitchFamily="18" charset="0"/>
              </a:rPr>
              <a:t>:</a:t>
            </a:r>
            <a:endParaRPr lang="en-US" sz="1200" u="none" strike="noStrike" dirty="0">
              <a:effectLst/>
              <a:latin typeface="Times New Roman" panose="02020603050405020304" pitchFamily="18" charset="0"/>
              <a:ea typeface="SimSun" panose="02010600030101010101" pitchFamily="2" charset="-122"/>
            </a:endParaRPr>
          </a:p>
          <a:p>
            <a:pPr marL="342900" marR="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Times New Roman" panose="02020603050405020304" pitchFamily="18" charset="0"/>
              </a:rPr>
              <a:t>Cereal Grains and Pasta</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Ngũ</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cốc</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và</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Mì</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ống</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Khoảng</a:t>
            </a:r>
            <a:r>
              <a:rPr lang="en-US" sz="1200" dirty="0">
                <a:effectLst/>
                <a:latin typeface="Times New Roman" panose="02020603050405020304" pitchFamily="18" charset="0"/>
                <a:ea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rPr>
              <a:t>750 kcal</a:t>
            </a:r>
            <a:r>
              <a:rPr lang="en-US" sz="1200" dirty="0">
                <a:effectLst/>
                <a:latin typeface="Times New Roman" panose="02020603050405020304" pitchFamily="18" charset="0"/>
                <a:ea typeface="Times New Roman" panose="02020603050405020304" pitchFamily="18" charset="0"/>
              </a:rPr>
              <a:t>.</a:t>
            </a:r>
            <a:endParaRPr lang="en-US" sz="1200" dirty="0">
              <a:effectLst/>
              <a:latin typeface="Times New Roman" panose="02020603050405020304" pitchFamily="18" charset="0"/>
              <a:ea typeface="SimSun" panose="02010600030101010101" pitchFamily="2" charset="-122"/>
            </a:endParaRPr>
          </a:p>
          <a:p>
            <a:pPr marL="342900" marR="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Times New Roman" panose="02020603050405020304" pitchFamily="18" charset="0"/>
              </a:rPr>
              <a:t>Spices and Herbs</a:t>
            </a:r>
            <a:r>
              <a:rPr lang="en-US" sz="1200" dirty="0">
                <a:effectLst/>
                <a:latin typeface="Times New Roman" panose="02020603050405020304" pitchFamily="18" charset="0"/>
                <a:ea typeface="Times New Roman" panose="02020603050405020304" pitchFamily="18" charset="0"/>
              </a:rPr>
              <a:t> (Gia </a:t>
            </a:r>
            <a:r>
              <a:rPr lang="en-US" sz="1200" dirty="0" err="1">
                <a:effectLst/>
                <a:latin typeface="Times New Roman" panose="02020603050405020304" pitchFamily="18" charset="0"/>
                <a:ea typeface="Times New Roman" panose="02020603050405020304" pitchFamily="18" charset="0"/>
              </a:rPr>
              <a:t>vị</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và</a:t>
            </a:r>
            <a:r>
              <a:rPr lang="en-US" sz="1200" dirty="0">
                <a:effectLst/>
                <a:latin typeface="Times New Roman" panose="02020603050405020304" pitchFamily="18" charset="0"/>
                <a:ea typeface="Times New Roman" panose="02020603050405020304" pitchFamily="18" charset="0"/>
              </a:rPr>
              <a:t> Thảo </a:t>
            </a:r>
            <a:r>
              <a:rPr lang="en-US" sz="1200" dirty="0" err="1">
                <a:effectLst/>
                <a:latin typeface="Times New Roman" panose="02020603050405020304" pitchFamily="18" charset="0"/>
                <a:ea typeface="Times New Roman" panose="02020603050405020304" pitchFamily="18" charset="0"/>
              </a:rPr>
              <a:t>mộc</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Khoảng</a:t>
            </a:r>
            <a:r>
              <a:rPr lang="en-US" sz="1200" dirty="0">
                <a:effectLst/>
                <a:latin typeface="Times New Roman" panose="02020603050405020304" pitchFamily="18" charset="0"/>
                <a:ea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rPr>
              <a:t>680 kcal</a:t>
            </a:r>
            <a:r>
              <a:rPr lang="en-US" sz="1200" dirty="0">
                <a:effectLst/>
                <a:latin typeface="Times New Roman" panose="02020603050405020304" pitchFamily="18" charset="0"/>
                <a:ea typeface="Times New Roman" panose="02020603050405020304" pitchFamily="18" charset="0"/>
              </a:rPr>
              <a:t>.</a:t>
            </a:r>
            <a:endParaRPr lang="en-US" sz="1200" dirty="0">
              <a:effectLst/>
              <a:latin typeface="Times New Roman" panose="02020603050405020304" pitchFamily="18" charset="0"/>
              <a:ea typeface="SimSun" panose="02010600030101010101" pitchFamily="2" charset="-122"/>
            </a:endParaRPr>
          </a:p>
          <a:p>
            <a:pPr marL="342900" marR="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Times New Roman" panose="02020603050405020304" pitchFamily="18" charset="0"/>
              </a:rPr>
              <a:t>Fast Foods</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Thức</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ăn</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nhanh</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Khoảng</a:t>
            </a:r>
            <a:r>
              <a:rPr lang="en-US" sz="1200" dirty="0">
                <a:effectLst/>
                <a:latin typeface="Times New Roman" panose="02020603050405020304" pitchFamily="18" charset="0"/>
                <a:ea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rPr>
              <a:t>650 kcal</a:t>
            </a:r>
            <a:r>
              <a:rPr lang="en-US" sz="1200" dirty="0">
                <a:effectLst/>
                <a:latin typeface="Times New Roman" panose="02020603050405020304" pitchFamily="18" charset="0"/>
                <a:ea typeface="Times New Roman" panose="02020603050405020304" pitchFamily="18" charset="0"/>
              </a:rPr>
              <a:t>.</a:t>
            </a:r>
            <a:endParaRPr lang="en-US" sz="1200" dirty="0">
              <a:effectLst/>
              <a:latin typeface="Times New Roman" panose="02020603050405020304" pitchFamily="18" charset="0"/>
              <a:ea typeface="SimSun" panose="02010600030101010101" pitchFamily="2" charset="-122"/>
            </a:endParaRPr>
          </a:p>
          <a:p>
            <a:pPr marL="342900" marR="0" lvl="0" indent="-342900" algn="just">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Times New Roman" panose="02020603050405020304" pitchFamily="18" charset="0"/>
              </a:rPr>
              <a:t>Sausages and Luncheon Meats</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Xúc</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xích</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và</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Thịt</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hộp</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Đứng</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cuối</a:t>
            </a:r>
            <a:r>
              <a:rPr lang="en-US" sz="1200" dirty="0">
                <a:effectLst/>
                <a:latin typeface="Times New Roman" panose="02020603050405020304" pitchFamily="18" charset="0"/>
                <a:ea typeface="Times New Roman" panose="02020603050405020304" pitchFamily="18" charset="0"/>
              </a:rPr>
              <a:t> top 10 </a:t>
            </a:r>
            <a:r>
              <a:rPr lang="en-US" sz="1200" dirty="0" err="1">
                <a:effectLst/>
                <a:latin typeface="Times New Roman" panose="02020603050405020304" pitchFamily="18" charset="0"/>
                <a:ea typeface="Times New Roman" panose="02020603050405020304" pitchFamily="18" charset="0"/>
              </a:rPr>
              <a:t>với</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lượng</a:t>
            </a:r>
            <a:r>
              <a:rPr lang="en-US" sz="1200" dirty="0">
                <a:effectLst/>
                <a:latin typeface="Times New Roman" panose="02020603050405020304" pitchFamily="18" charset="0"/>
                <a:ea typeface="Times New Roman" panose="02020603050405020304" pitchFamily="18" charset="0"/>
              </a:rPr>
              <a:t> calories trung </a:t>
            </a:r>
            <a:r>
              <a:rPr lang="en-US" sz="1200" dirty="0" err="1">
                <a:effectLst/>
                <a:latin typeface="Times New Roman" panose="02020603050405020304" pitchFamily="18" charset="0"/>
                <a:ea typeface="Times New Roman" panose="02020603050405020304" pitchFamily="18" charset="0"/>
              </a:rPr>
              <a:t>bình</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khoảng</a:t>
            </a:r>
            <a:r>
              <a:rPr lang="en-US" sz="1200" dirty="0">
                <a:effectLst/>
                <a:latin typeface="Times New Roman" panose="02020603050405020304" pitchFamily="18" charset="0"/>
                <a:ea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rPr>
              <a:t>620 kcal</a:t>
            </a:r>
            <a:r>
              <a:rPr lang="en-US" sz="1200" dirty="0">
                <a:effectLst/>
                <a:latin typeface="Times New Roman" panose="02020603050405020304" pitchFamily="18" charset="0"/>
                <a:ea typeface="Times New Roman" panose="02020603050405020304" pitchFamily="18" charset="0"/>
              </a:rPr>
              <a:t>.</a:t>
            </a:r>
            <a:endParaRPr lang="en-US" sz="12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1063752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D5A9F-148C-4B02-915E-18E8A7177F95}"/>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64AF0408-9D1A-6840-D068-D0C9971CAE21}"/>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CF5E1986-27BB-FE55-F789-158A3A059A22}"/>
              </a:ext>
            </a:extLst>
          </p:cNvPr>
          <p:cNvCxnSpPr>
            <a:cxnSpLocks/>
          </p:cNvCxnSpPr>
          <p:nvPr/>
        </p:nvCxnSpPr>
        <p:spPr>
          <a:xfrm>
            <a:off x="10002416" y="522898"/>
            <a:ext cx="218958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C98EB8F2-699B-2F22-8855-976ADF933CA4}"/>
              </a:ext>
            </a:extLst>
          </p:cNvPr>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PHÂN TÍCH</a:t>
            </a:r>
          </a:p>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0C4B4912-E9E7-E1B0-3AA7-BC11C81A8141}"/>
              </a:ext>
            </a:extLst>
          </p:cNvPr>
          <p:cNvCxnSpPr>
            <a:cxnSpLocks/>
          </p:cNvCxnSpPr>
          <p:nvPr/>
        </p:nvCxnSpPr>
        <p:spPr>
          <a:xfrm>
            <a:off x="0" y="522898"/>
            <a:ext cx="230466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E1A78F6D-C1EA-7FD6-42ED-AD2F44741312}"/>
              </a:ext>
            </a:extLst>
          </p:cNvPr>
          <p:cNvSpPr>
            <a:spLocks noChangeArrowheads="1"/>
          </p:cNvSpPr>
          <p:nvPr/>
        </p:nvSpPr>
        <p:spPr bwMode="auto">
          <a:xfrm>
            <a:off x="711200" y="488148"/>
            <a:ext cx="9804400" cy="166962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38088" numCol="1" anchor="ctr" anchorCtr="0" compatLnSpc="1">
            <a:prstTxWarp prst="textNoShape">
              <a:avLst/>
            </a:prstTxWarp>
            <a:spAutoFit/>
          </a:bodyPr>
          <a:lstStyle/>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 EDA trực quan bằng sơ đồ (Graphical EDA)</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2.5</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Tỷ</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lệ</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trung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bình</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dinh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dưỡng</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các</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chất</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trong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thực</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phẩm</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966BE65-2B5A-BA36-C137-76B41D3807EC}"/>
              </a:ext>
            </a:extLst>
          </p:cNvPr>
          <p:cNvSpPr txBox="1"/>
          <p:nvPr/>
        </p:nvSpPr>
        <p:spPr>
          <a:xfrm>
            <a:off x="6951876" y="5762966"/>
            <a:ext cx="6101080" cy="315343"/>
          </a:xfrm>
          <a:prstGeom prst="rect">
            <a:avLst/>
          </a:prstGeom>
          <a:noFill/>
        </p:spPr>
        <p:txBody>
          <a:bodyPr wrap="square">
            <a:spAutoFit/>
          </a:bodyPr>
          <a:lstStyle>
            <a:defPPr>
              <a:defRPr lang="en-US"/>
            </a:defPPr>
            <a:lvl1pPr marR="0" algn="just">
              <a:lnSpc>
                <a:spcPct val="135000"/>
              </a:lnSpc>
              <a:buNone/>
              <a:defRPr sz="1200">
                <a:solidFill>
                  <a:srgbClr val="000000"/>
                </a:solidFill>
                <a:effectLst/>
                <a:latin typeface="Times New Roman" panose="02020603050405020304" pitchFamily="18" charset="0"/>
                <a:ea typeface="SimHei" panose="02010609060101010101" pitchFamily="49" charset="-122"/>
              </a:defRPr>
            </a:lvl1pPr>
          </a:lstStyle>
          <a:p>
            <a:r>
              <a:rPr lang="vi-VN" dirty="0"/>
              <a:t>Hình 7: Biểu đồ thể hiện </a:t>
            </a:r>
            <a:r>
              <a:rPr lang="en-US" dirty="0" err="1"/>
              <a:t>tỷ</a:t>
            </a:r>
            <a:r>
              <a:rPr lang="en-US" dirty="0"/>
              <a:t> </a:t>
            </a:r>
            <a:r>
              <a:rPr lang="en-US" dirty="0" err="1"/>
              <a:t>lệ</a:t>
            </a:r>
            <a:r>
              <a:rPr lang="en-US" dirty="0"/>
              <a:t> trung </a:t>
            </a:r>
            <a:r>
              <a:rPr lang="en-US" dirty="0" err="1"/>
              <a:t>bình</a:t>
            </a:r>
            <a:r>
              <a:rPr lang="en-US" dirty="0"/>
              <a:t> dinh </a:t>
            </a:r>
            <a:r>
              <a:rPr lang="en-US" dirty="0" err="1"/>
              <a:t>dưỡng</a:t>
            </a:r>
            <a:r>
              <a:rPr lang="en-US" dirty="0"/>
              <a:t> </a:t>
            </a:r>
            <a:r>
              <a:rPr lang="en-US" dirty="0" err="1"/>
              <a:t>các</a:t>
            </a:r>
            <a:r>
              <a:rPr lang="en-US" dirty="0"/>
              <a:t> </a:t>
            </a:r>
            <a:r>
              <a:rPr lang="en-US" dirty="0" err="1"/>
              <a:t>chất</a:t>
            </a:r>
            <a:r>
              <a:rPr lang="en-US" dirty="0"/>
              <a:t> trong </a:t>
            </a:r>
            <a:r>
              <a:rPr lang="en-US" dirty="0" err="1"/>
              <a:t>thực</a:t>
            </a:r>
            <a:r>
              <a:rPr lang="en-US" dirty="0"/>
              <a:t> </a:t>
            </a:r>
            <a:r>
              <a:rPr lang="en-US" dirty="0" err="1"/>
              <a:t>phẩm</a:t>
            </a:r>
            <a:endParaRPr lang="en-US" dirty="0"/>
          </a:p>
        </p:txBody>
      </p:sp>
      <p:pic>
        <p:nvPicPr>
          <p:cNvPr id="2" name="Picture 1" descr="A pie chart with text on it&#10;&#10;AI-generated content may be incorrect.">
            <a:extLst>
              <a:ext uri="{FF2B5EF4-FFF2-40B4-BE49-F238E27FC236}">
                <a16:creationId xmlns:a16="http://schemas.microsoft.com/office/drawing/2014/main" id="{83C7CF52-E8A4-22C2-B52D-AFC872C3845F}"/>
              </a:ext>
            </a:extLst>
          </p:cNvPr>
          <p:cNvPicPr>
            <a:picLocks noChangeAspect="1"/>
          </p:cNvPicPr>
          <p:nvPr/>
        </p:nvPicPr>
        <p:blipFill>
          <a:blip r:embed="rId3"/>
          <a:stretch>
            <a:fillRect/>
          </a:stretch>
        </p:blipFill>
        <p:spPr>
          <a:xfrm>
            <a:off x="6187440" y="1686293"/>
            <a:ext cx="6004560" cy="3840218"/>
          </a:xfrm>
          <a:prstGeom prst="rect">
            <a:avLst/>
          </a:prstGeom>
        </p:spPr>
      </p:pic>
      <p:sp>
        <p:nvSpPr>
          <p:cNvPr id="10" name="TextBox 9">
            <a:extLst>
              <a:ext uri="{FF2B5EF4-FFF2-40B4-BE49-F238E27FC236}">
                <a16:creationId xmlns:a16="http://schemas.microsoft.com/office/drawing/2014/main" id="{7104F26D-427A-C5FC-47F5-9E9DAA43FEDD}"/>
              </a:ext>
            </a:extLst>
          </p:cNvPr>
          <p:cNvSpPr txBox="1"/>
          <p:nvPr/>
        </p:nvSpPr>
        <p:spPr>
          <a:xfrm>
            <a:off x="228600" y="1651543"/>
            <a:ext cx="5867400" cy="4832092"/>
          </a:xfrm>
          <a:prstGeom prst="rect">
            <a:avLst/>
          </a:prstGeom>
          <a:solidFill>
            <a:schemeClr val="bg1">
              <a:lumMod val="95000"/>
            </a:schemeClr>
          </a:solidFill>
        </p:spPr>
        <p:txBody>
          <a:bodyPr wrap="square">
            <a:spAutoFit/>
          </a:bodyPr>
          <a:lstStyle/>
          <a:p>
            <a:pPr marL="0" marR="0">
              <a:buNone/>
            </a:pPr>
            <a:r>
              <a:rPr lang="en-US" sz="1400" dirty="0" err="1">
                <a:effectLst/>
                <a:latin typeface="Times New Roman" panose="02020603050405020304" pitchFamily="18" charset="0"/>
                <a:ea typeface="SimSun" panose="02010600030101010101" pitchFamily="2" charset="-122"/>
              </a:rPr>
              <a:t>Biểu</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đồ</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cho</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thấy</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sự</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phân</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bổ</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không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đồng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đều</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của</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ba</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chất</a:t>
            </a:r>
            <a:r>
              <a:rPr lang="en-US" sz="1400" dirty="0">
                <a:effectLst/>
                <a:latin typeface="Times New Roman" panose="02020603050405020304" pitchFamily="18" charset="0"/>
                <a:ea typeface="SimSun" panose="02010600030101010101" pitchFamily="2" charset="-122"/>
              </a:rPr>
              <a:t> dinh </a:t>
            </a:r>
            <a:r>
              <a:rPr lang="en-US" sz="1400" dirty="0" err="1">
                <a:effectLst/>
                <a:latin typeface="Times New Roman" panose="02020603050405020304" pitchFamily="18" charset="0"/>
                <a:ea typeface="SimSun" panose="02010600030101010101" pitchFamily="2" charset="-122"/>
              </a:rPr>
              <a:t>dưỡng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này</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theo</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khối</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lượng</a:t>
            </a:r>
            <a:r>
              <a:rPr lang="en-US" sz="1400" dirty="0">
                <a:effectLst/>
                <a:latin typeface="Times New Roman" panose="02020603050405020304" pitchFamily="18" charset="0"/>
                <a:ea typeface="SimSun" panose="02010600030101010101" pitchFamily="2" charset="-122"/>
              </a:rPr>
              <a:t> trung </a:t>
            </a:r>
            <a:r>
              <a:rPr lang="en-US" sz="1400" dirty="0" err="1">
                <a:effectLst/>
                <a:latin typeface="Times New Roman" panose="02020603050405020304" pitchFamily="18" charset="0"/>
                <a:ea typeface="SimSun" panose="02010600030101010101" pitchFamily="2" charset="-122"/>
              </a:rPr>
              <a:t>bình</a:t>
            </a:r>
            <a:r>
              <a:rPr lang="en-US" sz="1400" dirty="0">
                <a:effectLst/>
                <a:latin typeface="Times New Roman" panose="02020603050405020304" pitchFamily="18" charset="0"/>
                <a:ea typeface="SimSun" panose="02010600030101010101" pitchFamily="2" charset="-122"/>
              </a:rPr>
              <a:t>:</a:t>
            </a:r>
          </a:p>
          <a:p>
            <a:pPr marL="342900" marR="0" lvl="0" indent="-342900">
              <a:buSzPts val="1000"/>
              <a:buFont typeface="Symbol" panose="05050102010706020507" pitchFamily="18" charset="2"/>
              <a:buChar char=""/>
              <a:tabLst>
                <a:tab pos="457200" algn="l"/>
              </a:tabLst>
            </a:pPr>
            <a:r>
              <a:rPr lang="en-US" sz="1400" b="1" dirty="0">
                <a:effectLst/>
                <a:latin typeface="Times New Roman" panose="02020603050405020304" pitchFamily="18" charset="0"/>
                <a:ea typeface="SimSun" panose="02010600030101010101" pitchFamily="2" charset="-122"/>
              </a:rPr>
              <a:t>Carbohydrate (by difference) :</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Chiếm</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tỷ</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lệ</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lớn</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nhất</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với</a:t>
            </a:r>
            <a:r>
              <a:rPr lang="en-US" sz="1400" dirty="0">
                <a:effectLst/>
                <a:latin typeface="Times New Roman" panose="02020603050405020304" pitchFamily="18" charset="0"/>
                <a:ea typeface="SimSun" panose="02010600030101010101" pitchFamily="2" charset="-122"/>
              </a:rPr>
              <a:t> </a:t>
            </a:r>
            <a:r>
              <a:rPr lang="en-US" sz="1400" b="1" dirty="0">
                <a:effectLst/>
                <a:latin typeface="Times New Roman" panose="02020603050405020304" pitchFamily="18" charset="0"/>
                <a:ea typeface="SimSun" panose="02010600030101010101" pitchFamily="2" charset="-122"/>
              </a:rPr>
              <a:t>52.8%</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Đây</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là</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chất</a:t>
            </a:r>
            <a:r>
              <a:rPr lang="en-US" sz="1400" dirty="0">
                <a:effectLst/>
                <a:latin typeface="Times New Roman" panose="02020603050405020304" pitchFamily="18" charset="0"/>
                <a:ea typeface="SimSun" panose="02010600030101010101" pitchFamily="2" charset="-122"/>
              </a:rPr>
              <a:t> dinh </a:t>
            </a:r>
            <a:r>
              <a:rPr lang="en-US" sz="1400" dirty="0" err="1">
                <a:effectLst/>
                <a:latin typeface="Times New Roman" panose="02020603050405020304" pitchFamily="18" charset="0"/>
                <a:ea typeface="SimSun" panose="02010600030101010101" pitchFamily="2" charset="-122"/>
              </a:rPr>
              <a:t>dưỡng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chiếm</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đa</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số</a:t>
            </a:r>
            <a:r>
              <a:rPr lang="en-US" sz="1400" dirty="0">
                <a:effectLst/>
                <a:latin typeface="Times New Roman" panose="02020603050405020304" pitchFamily="18" charset="0"/>
                <a:ea typeface="SimSun" panose="02010600030101010101" pitchFamily="2" charset="-122"/>
              </a:rPr>
              <a:t> trong </a:t>
            </a:r>
            <a:r>
              <a:rPr lang="en-US" sz="1400" dirty="0" err="1">
                <a:effectLst/>
                <a:latin typeface="Times New Roman" panose="02020603050405020304" pitchFamily="18" charset="0"/>
                <a:ea typeface="SimSun" panose="02010600030101010101" pitchFamily="2" charset="-122"/>
              </a:rPr>
              <a:t>cơ</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sở</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dữ</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liệu</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cho</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thấy</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phần</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lớn</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khối</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lượng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thực</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phẩm</a:t>
            </a:r>
            <a:r>
              <a:rPr lang="en-US" sz="1400" dirty="0">
                <a:effectLst/>
                <a:latin typeface="Times New Roman" panose="02020603050405020304" pitchFamily="18" charset="0"/>
                <a:ea typeface="SimSun" panose="02010600030101010101" pitchFamily="2" charset="-122"/>
              </a:rPr>
              <a:t> trung </a:t>
            </a:r>
            <a:r>
              <a:rPr lang="en-US" sz="1400" dirty="0" err="1">
                <a:effectLst/>
                <a:latin typeface="Times New Roman" panose="02020603050405020304" pitchFamily="18" charset="0"/>
                <a:ea typeface="SimSun" panose="02010600030101010101" pitchFamily="2" charset="-122"/>
              </a:rPr>
              <a:t>bình</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được</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tạo</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thành</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từ</a:t>
            </a:r>
            <a:r>
              <a:rPr lang="en-US" sz="1400" dirty="0">
                <a:effectLst/>
                <a:latin typeface="Times New Roman" panose="02020603050405020304" pitchFamily="18" charset="0"/>
                <a:ea typeface="SimSun" panose="02010600030101010101" pitchFamily="2" charset="-122"/>
              </a:rPr>
              <a:t> carbohydrate (</a:t>
            </a:r>
            <a:r>
              <a:rPr lang="en-US" sz="1400" dirty="0" err="1">
                <a:effectLst/>
                <a:latin typeface="Times New Roman" panose="02020603050405020304" pitchFamily="18" charset="0"/>
                <a:ea typeface="SimSun" panose="02010600030101010101" pitchFamily="2" charset="-122"/>
              </a:rPr>
              <a:t>như</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tinh</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bột</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và</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đường</a:t>
            </a:r>
            <a:r>
              <a:rPr lang="en-US" sz="1400" dirty="0">
                <a:effectLst/>
                <a:latin typeface="Times New Roman" panose="02020603050405020304" pitchFamily="18" charset="0"/>
                <a:ea typeface="SimSun" panose="02010600030101010101" pitchFamily="2" charset="-122"/>
              </a:rPr>
              <a:t>).</a:t>
            </a:r>
          </a:p>
          <a:p>
            <a:pPr marL="342900" marR="0" lvl="0" indent="-342900">
              <a:buSzPts val="1000"/>
              <a:buFont typeface="Symbol" panose="05050102010706020507" pitchFamily="18" charset="2"/>
              <a:buChar char=""/>
              <a:tabLst>
                <a:tab pos="457200" algn="l"/>
              </a:tabLst>
            </a:pPr>
            <a:r>
              <a:rPr lang="en-US" sz="1400" b="1" dirty="0">
                <a:effectLst/>
                <a:latin typeface="Times New Roman" panose="02020603050405020304" pitchFamily="18" charset="0"/>
                <a:ea typeface="SimSun" panose="02010600030101010101" pitchFamily="2" charset="-122"/>
              </a:rPr>
              <a:t>Protein :</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Chiếm</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tỷ</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lệ</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đáng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kể</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thứ</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hai</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là</a:t>
            </a:r>
            <a:r>
              <a:rPr lang="en-US" sz="1400" dirty="0">
                <a:effectLst/>
                <a:latin typeface="Times New Roman" panose="02020603050405020304" pitchFamily="18" charset="0"/>
                <a:ea typeface="SimSun" panose="02010600030101010101" pitchFamily="2" charset="-122"/>
              </a:rPr>
              <a:t> </a:t>
            </a:r>
            <a:r>
              <a:rPr lang="en-US" sz="1400" b="1" dirty="0">
                <a:effectLst/>
                <a:latin typeface="Times New Roman" panose="02020603050405020304" pitchFamily="18" charset="0"/>
                <a:ea typeface="SimSun" panose="02010600030101010101" pitchFamily="2" charset="-122"/>
              </a:rPr>
              <a:t>25.7%</a:t>
            </a:r>
            <a:r>
              <a:rPr lang="en-US" sz="1400" dirty="0">
                <a:effectLst/>
                <a:latin typeface="Times New Roman" panose="02020603050405020304" pitchFamily="18" charset="0"/>
                <a:ea typeface="SimSun" panose="02010600030101010101" pitchFamily="2" charset="-122"/>
              </a:rPr>
              <a:t>. Protein </a:t>
            </a:r>
            <a:r>
              <a:rPr lang="en-US" sz="1400" dirty="0" err="1">
                <a:effectLst/>
                <a:latin typeface="Times New Roman" panose="02020603050405020304" pitchFamily="18" charset="0"/>
                <a:ea typeface="SimSun" panose="02010600030101010101" pitchFamily="2" charset="-122"/>
              </a:rPr>
              <a:t>là</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thành</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phần</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quan</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trọng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thường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có</a:t>
            </a:r>
            <a:r>
              <a:rPr lang="en-US" sz="1400" dirty="0">
                <a:effectLst/>
                <a:latin typeface="Times New Roman" panose="02020603050405020304" pitchFamily="18" charset="0"/>
                <a:ea typeface="SimSun" panose="02010600030101010101" pitchFamily="2" charset="-122"/>
              </a:rPr>
              <a:t> trong </a:t>
            </a:r>
            <a:r>
              <a:rPr lang="en-US" sz="1400" dirty="0" err="1">
                <a:effectLst/>
                <a:latin typeface="Times New Roman" panose="02020603050405020304" pitchFamily="18" charset="0"/>
                <a:ea typeface="SimSun" panose="02010600030101010101" pitchFamily="2" charset="-122"/>
              </a:rPr>
              <a:t>thịt</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đậu</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và</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các</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sản</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phẩm</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từ</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sữa</a:t>
            </a:r>
            <a:r>
              <a:rPr lang="en-US" sz="1400" dirty="0">
                <a:effectLst/>
                <a:latin typeface="Times New Roman" panose="02020603050405020304" pitchFamily="18" charset="0"/>
                <a:ea typeface="SimSun" panose="02010600030101010101" pitchFamily="2" charset="-122"/>
              </a:rPr>
              <a:t>.</a:t>
            </a:r>
          </a:p>
          <a:p>
            <a:pPr marL="342900" marR="0" lvl="0" indent="-342900">
              <a:buSzPts val="1000"/>
              <a:buFont typeface="Symbol" panose="05050102010706020507" pitchFamily="18" charset="2"/>
              <a:buChar char=""/>
              <a:tabLst>
                <a:tab pos="457200" algn="l"/>
              </a:tabLst>
            </a:pPr>
            <a:r>
              <a:rPr lang="en-US" sz="1400" b="1" dirty="0">
                <a:effectLst/>
                <a:latin typeface="Times New Roman" panose="02020603050405020304" pitchFamily="18" charset="0"/>
                <a:ea typeface="SimSun" panose="02010600030101010101" pitchFamily="2" charset="-122"/>
              </a:rPr>
              <a:t>Total lipid (fat) :</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Chiếm</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tỷ</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lệ</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thấp</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nhất</a:t>
            </a:r>
            <a:r>
              <a:rPr lang="en-US" sz="1400" dirty="0">
                <a:effectLst/>
                <a:latin typeface="Times New Roman" panose="02020603050405020304" pitchFamily="18" charset="0"/>
                <a:ea typeface="SimSun" panose="02010600030101010101" pitchFamily="2" charset="-122"/>
              </a:rPr>
              <a:t> trong </a:t>
            </a:r>
            <a:r>
              <a:rPr lang="en-US" sz="1400" dirty="0" err="1">
                <a:effectLst/>
                <a:latin typeface="Times New Roman" panose="02020603050405020304" pitchFamily="18" charset="0"/>
                <a:ea typeface="SimSun" panose="02010600030101010101" pitchFamily="2" charset="-122"/>
              </a:rPr>
              <a:t>ba</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thành</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phần</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với</a:t>
            </a:r>
            <a:r>
              <a:rPr lang="en-US" sz="1400" dirty="0">
                <a:effectLst/>
                <a:latin typeface="Times New Roman" panose="02020603050405020304" pitchFamily="18" charset="0"/>
                <a:ea typeface="SimSun" panose="02010600030101010101" pitchFamily="2" charset="-122"/>
              </a:rPr>
              <a:t> </a:t>
            </a:r>
            <a:r>
              <a:rPr lang="en-US" sz="1400" b="1" dirty="0">
                <a:effectLst/>
                <a:latin typeface="Times New Roman" panose="02020603050405020304" pitchFamily="18" charset="0"/>
                <a:ea typeface="SimSun" panose="02010600030101010101" pitchFamily="2" charset="-122"/>
              </a:rPr>
              <a:t>21.5%</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Mặc</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dù</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cung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cấp</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nhiều</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năng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lượng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nhất</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tính</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trên</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mỗi</a:t>
            </a:r>
            <a:r>
              <a:rPr lang="en-US" sz="1400" dirty="0">
                <a:effectLst/>
                <a:latin typeface="Times New Roman" panose="02020603050405020304" pitchFamily="18" charset="0"/>
                <a:ea typeface="SimSun" panose="02010600030101010101" pitchFamily="2" charset="-122"/>
              </a:rPr>
              <a:t> gram, </a:t>
            </a:r>
            <a:r>
              <a:rPr lang="en-US" sz="1400" dirty="0" err="1">
                <a:effectLst/>
                <a:latin typeface="Times New Roman" panose="02020603050405020304" pitchFamily="18" charset="0"/>
                <a:ea typeface="SimSun" panose="02010600030101010101" pitchFamily="2" charset="-122"/>
              </a:rPr>
              <a:t>chất</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béo</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có</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tỷ</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lệ</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khối</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lượng</a:t>
            </a:r>
            <a:r>
              <a:rPr lang="en-US" sz="1400" dirty="0">
                <a:effectLst/>
                <a:latin typeface="Times New Roman" panose="02020603050405020304" pitchFamily="18" charset="0"/>
                <a:ea typeface="SimSun" panose="02010600030101010101" pitchFamily="2" charset="-122"/>
              </a:rPr>
              <a:t> trung </a:t>
            </a:r>
            <a:r>
              <a:rPr lang="en-US" sz="1400" dirty="0" err="1">
                <a:effectLst/>
                <a:latin typeface="Times New Roman" panose="02020603050405020304" pitchFamily="18" charset="0"/>
                <a:ea typeface="SimSun" panose="02010600030101010101" pitchFamily="2" charset="-122"/>
              </a:rPr>
              <a:t>bình</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thấp</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nhất</a:t>
            </a:r>
            <a:r>
              <a:rPr lang="en-US" sz="1400" dirty="0">
                <a:effectLst/>
                <a:latin typeface="Times New Roman" panose="02020603050405020304" pitchFamily="18" charset="0"/>
                <a:ea typeface="SimSun" panose="02010600030101010101" pitchFamily="2" charset="-122"/>
              </a:rPr>
              <a:t> trong </a:t>
            </a:r>
            <a:r>
              <a:rPr lang="en-US" sz="1400" dirty="0" err="1">
                <a:effectLst/>
                <a:latin typeface="Times New Roman" panose="02020603050405020304" pitchFamily="18" charset="0"/>
                <a:ea typeface="SimSun" panose="02010600030101010101" pitchFamily="2" charset="-122"/>
              </a:rPr>
              <a:t>tổng</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thể</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cơ</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sở</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dữ</a:t>
            </a:r>
            <a:r>
              <a:rPr lang="en-US" sz="1400" dirty="0">
                <a:effectLst/>
                <a:latin typeface="Times New Roman" panose="02020603050405020304" pitchFamily="18" charset="0"/>
                <a:ea typeface="SimSun" panose="02010600030101010101" pitchFamily="2" charset="-122"/>
              </a:rPr>
              <a:t> </a:t>
            </a:r>
            <a:r>
              <a:rPr lang="en-US" sz="1400" dirty="0" err="1">
                <a:effectLst/>
                <a:latin typeface="Times New Roman" panose="02020603050405020304" pitchFamily="18" charset="0"/>
                <a:ea typeface="SimSun" panose="02010600030101010101" pitchFamily="2" charset="-122"/>
              </a:rPr>
              <a:t>liệu</a:t>
            </a:r>
            <a:r>
              <a:rPr lang="en-US" sz="1400" dirty="0">
                <a:effectLst/>
                <a:latin typeface="Times New Roman" panose="02020603050405020304" pitchFamily="18" charset="0"/>
                <a:ea typeface="SimSun" panose="02010600030101010101" pitchFamily="2" charset="-122"/>
              </a:rPr>
              <a:t>.</a:t>
            </a:r>
          </a:p>
          <a:p>
            <a:pPr marL="0" marR="0">
              <a:buNone/>
            </a:pPr>
            <a:r>
              <a:rPr lang="en-US" sz="1400" dirty="0">
                <a:effectLst/>
                <a:latin typeface="Times New Roman" panose="02020603050405020304" pitchFamily="18" charset="0"/>
                <a:ea typeface="SimSun" panose="02010600030101010101" pitchFamily="2" charset="-122"/>
              </a:rPr>
              <a:t> </a:t>
            </a:r>
          </a:p>
          <a:p>
            <a:pPr marL="0" marR="0">
              <a:buNone/>
            </a:pPr>
            <a:r>
              <a:rPr lang="en-US" sz="1400" b="1" dirty="0">
                <a:effectLst/>
                <a:latin typeface="Times New Roman" panose="02020603050405020304" pitchFamily="18" charset="0"/>
                <a:ea typeface="SimSun" panose="02010600030101010101" pitchFamily="2" charset="-122"/>
              </a:rPr>
              <a:t>Ý </a:t>
            </a:r>
            <a:r>
              <a:rPr lang="en-US" sz="1400" b="1" dirty="0" err="1">
                <a:effectLst/>
                <a:latin typeface="Times New Roman" panose="02020603050405020304" pitchFamily="18" charset="0"/>
                <a:ea typeface="SimSun" panose="02010600030101010101" pitchFamily="2" charset="-122"/>
              </a:rPr>
              <a:t>nghĩa</a:t>
            </a:r>
            <a:r>
              <a:rPr lang="en-US" sz="1400" b="1" dirty="0">
                <a:effectLst/>
                <a:latin typeface="Times New Roman" panose="02020603050405020304" pitchFamily="18" charset="0"/>
                <a:ea typeface="SimSun" panose="02010600030101010101" pitchFamily="2" charset="-122"/>
              </a:rPr>
              <a:t>:</a:t>
            </a:r>
          </a:p>
          <a:p>
            <a:pPr marL="342900" marR="0" lvl="0" indent="-342900">
              <a:buFont typeface="Symbol" panose="05050102010706020507" pitchFamily="18" charset="2"/>
              <a:buChar char="-"/>
            </a:pPr>
            <a:r>
              <a:rPr lang="en-US" sz="1400" u="none" strike="noStrike" dirty="0" err="1">
                <a:effectLst/>
                <a:latin typeface="Times New Roman" panose="02020603050405020304" pitchFamily="18" charset="0"/>
                <a:ea typeface="SimSun" panose="02010600030101010101" pitchFamily="2" charset="-122"/>
              </a:rPr>
              <a:t>Biểu</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đồ</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này</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phản</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ánh</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thành</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phần</a:t>
            </a:r>
            <a:r>
              <a:rPr lang="en-US" sz="1400" u="none" strike="noStrike" dirty="0">
                <a:effectLst/>
                <a:latin typeface="Times New Roman" panose="02020603050405020304" pitchFamily="18" charset="0"/>
                <a:ea typeface="SimSun" panose="02010600030101010101" pitchFamily="2" charset="-122"/>
              </a:rPr>
              <a:t> dinh </a:t>
            </a:r>
            <a:r>
              <a:rPr lang="en-US" sz="1400" u="none" strike="noStrike" dirty="0" err="1">
                <a:effectLst/>
                <a:latin typeface="Times New Roman" panose="02020603050405020304" pitchFamily="18" charset="0"/>
                <a:ea typeface="SimSun" panose="02010600030101010101" pitchFamily="2" charset="-122"/>
              </a:rPr>
              <a:t>dưỡng</a:t>
            </a:r>
            <a:r>
              <a:rPr lang="en-US" sz="1400" u="none" strike="noStrike" dirty="0">
                <a:effectLst/>
                <a:latin typeface="Times New Roman" panose="02020603050405020304" pitchFamily="18" charset="0"/>
                <a:ea typeface="SimSun" panose="02010600030101010101" pitchFamily="2" charset="-122"/>
              </a:rPr>
              <a:t> </a:t>
            </a:r>
            <a:r>
              <a:rPr lang="en-US" sz="1400" b="1" u="none" strike="noStrike" dirty="0" err="1">
                <a:effectLst/>
                <a:latin typeface="Times New Roman" panose="02020603050405020304" pitchFamily="18" charset="0"/>
                <a:ea typeface="SimSun" panose="02010600030101010101" pitchFamily="2" charset="-122"/>
              </a:rPr>
              <a:t>theo</a:t>
            </a:r>
            <a:r>
              <a:rPr lang="en-US" sz="1400" b="1" u="none" strike="noStrike" dirty="0">
                <a:effectLst/>
                <a:latin typeface="Times New Roman" panose="02020603050405020304" pitchFamily="18" charset="0"/>
                <a:ea typeface="SimSun" panose="02010600030101010101" pitchFamily="2" charset="-122"/>
              </a:rPr>
              <a:t> </a:t>
            </a:r>
            <a:r>
              <a:rPr lang="en-US" sz="1400" b="1" u="none" strike="noStrike" dirty="0" err="1">
                <a:effectLst/>
                <a:latin typeface="Times New Roman" panose="02020603050405020304" pitchFamily="18" charset="0"/>
                <a:ea typeface="SimSun" panose="02010600030101010101" pitchFamily="2" charset="-122"/>
              </a:rPr>
              <a:t>khối</a:t>
            </a:r>
            <a:r>
              <a:rPr lang="en-US" sz="1400" b="1" u="none" strike="noStrike" dirty="0">
                <a:effectLst/>
                <a:latin typeface="Times New Roman" panose="02020603050405020304" pitchFamily="18" charset="0"/>
                <a:ea typeface="SimSun" panose="02010600030101010101" pitchFamily="2" charset="-122"/>
              </a:rPr>
              <a:t> </a:t>
            </a:r>
            <a:r>
              <a:rPr lang="en-US" sz="1400" b="1" u="none" strike="noStrike" dirty="0" err="1">
                <a:effectLst/>
                <a:latin typeface="Times New Roman" panose="02020603050405020304" pitchFamily="18" charset="0"/>
                <a:ea typeface="SimSun" panose="02010600030101010101" pitchFamily="2" charset="-122"/>
              </a:rPr>
              <a:t>lượng</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của</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các</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loại</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thực</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phẩm</a:t>
            </a:r>
            <a:r>
              <a:rPr lang="en-US" sz="1400" u="none" strike="noStrike" dirty="0">
                <a:effectLst/>
                <a:latin typeface="Times New Roman" panose="02020603050405020304" pitchFamily="18" charset="0"/>
                <a:ea typeface="SimSun" panose="02010600030101010101" pitchFamily="2" charset="-122"/>
              </a:rPr>
              <a:t> trong </a:t>
            </a:r>
            <a:r>
              <a:rPr lang="en-US" sz="1400" u="none" strike="noStrike" dirty="0" err="1">
                <a:effectLst/>
                <a:latin typeface="Times New Roman" panose="02020603050405020304" pitchFamily="18" charset="0"/>
                <a:ea typeface="SimSun" panose="02010600030101010101" pitchFamily="2" charset="-122"/>
              </a:rPr>
              <a:t>cơ</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sở</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dữ</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liệu</a:t>
            </a:r>
            <a:r>
              <a:rPr lang="en-US" sz="1400" u="none" strike="noStrike" dirty="0">
                <a:effectLst/>
                <a:latin typeface="Times New Roman" panose="02020603050405020304" pitchFamily="18" charset="0"/>
                <a:ea typeface="SimSun" panose="02010600030101010101" pitchFamily="2" charset="-122"/>
              </a:rPr>
              <a:t>.</a:t>
            </a:r>
          </a:p>
          <a:p>
            <a:pPr marL="342900" marR="0" lvl="0" indent="-342900">
              <a:buFont typeface="Symbol" panose="05050102010706020507" pitchFamily="18" charset="2"/>
              <a:buChar char="-"/>
            </a:pP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Việc</a:t>
            </a:r>
            <a:r>
              <a:rPr lang="en-US" sz="1400" u="none" strike="noStrike" dirty="0">
                <a:effectLst/>
                <a:latin typeface="Times New Roman" panose="02020603050405020304" pitchFamily="18" charset="0"/>
                <a:ea typeface="SimSun" panose="02010600030101010101" pitchFamily="2" charset="-122"/>
              </a:rPr>
              <a:t> </a:t>
            </a:r>
            <a:r>
              <a:rPr lang="en-US" sz="1400" b="1" u="none" strike="noStrike" dirty="0">
                <a:effectLst/>
                <a:latin typeface="Times New Roman" panose="02020603050405020304" pitchFamily="18" charset="0"/>
                <a:ea typeface="SimSun" panose="02010600030101010101" pitchFamily="2" charset="-122"/>
              </a:rPr>
              <a:t>Carbohydrate</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chiếm</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hơn</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một</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nửa</a:t>
            </a:r>
            <a:r>
              <a:rPr lang="en-US" sz="1400" u="none" strike="noStrike" dirty="0">
                <a:effectLst/>
                <a:latin typeface="Times New Roman" panose="02020603050405020304" pitchFamily="18" charset="0"/>
                <a:ea typeface="SimSun" panose="02010600030101010101" pitchFamily="2" charset="-122"/>
              </a:rPr>
              <a:t> (52.8%) </a:t>
            </a:r>
            <a:r>
              <a:rPr lang="en-US" sz="1400" u="none" strike="noStrike" dirty="0" err="1">
                <a:effectLst/>
                <a:latin typeface="Times New Roman" panose="02020603050405020304" pitchFamily="18" charset="0"/>
                <a:ea typeface="SimSun" panose="02010600030101010101" pitchFamily="2" charset="-122"/>
              </a:rPr>
              <a:t>cho</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thấy</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các</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loại</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thực</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phẩm</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giàu</a:t>
            </a:r>
            <a:r>
              <a:rPr lang="en-US" sz="1400" u="none" strike="noStrike" dirty="0">
                <a:effectLst/>
                <a:latin typeface="Times New Roman" panose="02020603050405020304" pitchFamily="18" charset="0"/>
                <a:ea typeface="SimSun" panose="02010600030101010101" pitchFamily="2" charset="-122"/>
              </a:rPr>
              <a:t> carbohydrate (</a:t>
            </a:r>
            <a:r>
              <a:rPr lang="en-US" sz="1400" u="none" strike="noStrike" dirty="0" err="1">
                <a:effectLst/>
                <a:latin typeface="Times New Roman" panose="02020603050405020304" pitchFamily="18" charset="0"/>
                <a:ea typeface="SimSun" panose="02010600030101010101" pitchFamily="2" charset="-122"/>
              </a:rPr>
              <a:t>ngũ</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cốc</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trái</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cây</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rau</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củ</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có</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thể</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chiếm</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ưu</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thế</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về</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số</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lượng</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hoặc</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khối</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lượng</a:t>
            </a:r>
            <a:r>
              <a:rPr lang="en-US" sz="1400" u="none" strike="noStrike" dirty="0">
                <a:effectLst/>
                <a:latin typeface="Times New Roman" panose="02020603050405020304" pitchFamily="18" charset="0"/>
                <a:ea typeface="SimSun" panose="02010600030101010101" pitchFamily="2" charset="-122"/>
              </a:rPr>
              <a:t> trong </a:t>
            </a:r>
            <a:r>
              <a:rPr lang="en-US" sz="1400" u="none" strike="noStrike" dirty="0" err="1">
                <a:effectLst/>
                <a:latin typeface="Times New Roman" panose="02020603050405020304" pitchFamily="18" charset="0"/>
                <a:ea typeface="SimSun" panose="02010600030101010101" pitchFamily="2" charset="-122"/>
              </a:rPr>
              <a:t>cơ</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sở</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dữ</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liệu</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này</a:t>
            </a:r>
            <a:r>
              <a:rPr lang="en-US" sz="1400" u="none" strike="noStrike" dirty="0">
                <a:effectLst/>
                <a:latin typeface="Times New Roman" panose="02020603050405020304" pitchFamily="18" charset="0"/>
                <a:ea typeface="SimSun" panose="02010600030101010101" pitchFamily="2" charset="-122"/>
              </a:rPr>
              <a:t>.</a:t>
            </a:r>
          </a:p>
          <a:p>
            <a:pPr marL="342900" marR="0" lvl="0" indent="-342900">
              <a:buFont typeface="Symbol" panose="05050102010706020507" pitchFamily="18" charset="2"/>
              <a:buChar char="-"/>
            </a:pP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Nếu</a:t>
            </a:r>
            <a:r>
              <a:rPr lang="en-US" sz="1400" u="none" strike="noStrike" dirty="0">
                <a:effectLst/>
                <a:latin typeface="Times New Roman" panose="02020603050405020304" pitchFamily="18" charset="0"/>
                <a:ea typeface="SimSun" panose="02010600030101010101" pitchFamily="2" charset="-122"/>
              </a:rPr>
              <a:t> so </a:t>
            </a:r>
            <a:r>
              <a:rPr lang="en-US" sz="1400" u="none" strike="noStrike" dirty="0" err="1">
                <a:effectLst/>
                <a:latin typeface="Times New Roman" panose="02020603050405020304" pitchFamily="18" charset="0"/>
                <a:ea typeface="SimSun" panose="02010600030101010101" pitchFamily="2" charset="-122"/>
              </a:rPr>
              <a:t>sánh</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biểu</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đồ</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này</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với</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biểu</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đồ</a:t>
            </a:r>
            <a:r>
              <a:rPr lang="en-US" sz="1400" u="none" strike="noStrike" dirty="0">
                <a:effectLst/>
                <a:latin typeface="Times New Roman" panose="02020603050405020304" pitchFamily="18" charset="0"/>
                <a:ea typeface="SimSun" panose="02010600030101010101" pitchFamily="2" charset="-122"/>
              </a:rPr>
              <a:t> calories, </a:t>
            </a:r>
            <a:r>
              <a:rPr lang="en-US" sz="1400" u="none" strike="noStrike" dirty="0" err="1">
                <a:effectLst/>
                <a:latin typeface="Times New Roman" panose="02020603050405020304" pitchFamily="18" charset="0"/>
                <a:ea typeface="SimSun" panose="02010600030101010101" pitchFamily="2" charset="-122"/>
              </a:rPr>
              <a:t>mặc</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dù</a:t>
            </a:r>
            <a:r>
              <a:rPr lang="en-US" sz="1400" u="none" strike="noStrike" dirty="0">
                <a:effectLst/>
                <a:latin typeface="Times New Roman" panose="02020603050405020304" pitchFamily="18" charset="0"/>
                <a:ea typeface="SimSun" panose="02010600030101010101" pitchFamily="2" charset="-122"/>
              </a:rPr>
              <a:t> </a:t>
            </a:r>
            <a:r>
              <a:rPr lang="en-US" sz="1400" b="1" u="none" strike="noStrike" dirty="0" err="1">
                <a:effectLst/>
                <a:latin typeface="Times New Roman" panose="02020603050405020304" pitchFamily="18" charset="0"/>
                <a:ea typeface="SimSun" panose="02010600030101010101" pitchFamily="2" charset="-122"/>
              </a:rPr>
              <a:t>Chất</a:t>
            </a:r>
            <a:r>
              <a:rPr lang="en-US" sz="1400" b="1" u="none" strike="noStrike" dirty="0">
                <a:effectLst/>
                <a:latin typeface="Times New Roman" panose="02020603050405020304" pitchFamily="18" charset="0"/>
                <a:ea typeface="SimSun" panose="02010600030101010101" pitchFamily="2" charset="-122"/>
              </a:rPr>
              <a:t> </a:t>
            </a:r>
            <a:r>
              <a:rPr lang="en-US" sz="1400" b="1" u="none" strike="noStrike" dirty="0" err="1">
                <a:effectLst/>
                <a:latin typeface="Times New Roman" panose="02020603050405020304" pitchFamily="18" charset="0"/>
                <a:ea typeface="SimSun" panose="02010600030101010101" pitchFamily="2" charset="-122"/>
              </a:rPr>
              <a:t>béo</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chiếm</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tỷ</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lệ</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khối</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lượng</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thấp</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nhất</a:t>
            </a:r>
            <a:r>
              <a:rPr lang="en-US" sz="1400" u="none" strike="noStrike" dirty="0">
                <a:effectLst/>
                <a:latin typeface="Times New Roman" panose="02020603050405020304" pitchFamily="18" charset="0"/>
                <a:ea typeface="SimSun" panose="02010600030101010101" pitchFamily="2" charset="-122"/>
              </a:rPr>
              <a:t> (21.5%), </a:t>
            </a:r>
            <a:r>
              <a:rPr lang="en-US" sz="1400" u="none" strike="noStrike" dirty="0" err="1">
                <a:effectLst/>
                <a:latin typeface="Times New Roman" panose="02020603050405020304" pitchFamily="18" charset="0"/>
                <a:ea typeface="SimSun" panose="02010600030101010101" pitchFamily="2" charset="-122"/>
              </a:rPr>
              <a:t>nó</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lại</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là</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nhóm</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thực</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phẩm</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có</a:t>
            </a:r>
            <a:r>
              <a:rPr lang="en-US" sz="1400" u="none" strike="noStrike" dirty="0">
                <a:effectLst/>
                <a:latin typeface="Times New Roman" panose="02020603050405020304" pitchFamily="18" charset="0"/>
                <a:ea typeface="SimSun" panose="02010600030101010101" pitchFamily="2" charset="-122"/>
              </a:rPr>
              <a:t> </a:t>
            </a:r>
            <a:r>
              <a:rPr lang="en-US" sz="1400" b="1" u="none" strike="noStrike" dirty="0">
                <a:effectLst/>
                <a:latin typeface="Times New Roman" panose="02020603050405020304" pitchFamily="18" charset="0"/>
                <a:ea typeface="SimSun" panose="02010600030101010101" pitchFamily="2" charset="-122"/>
              </a:rPr>
              <a:t>calories trung </a:t>
            </a:r>
            <a:r>
              <a:rPr lang="en-US" sz="1400" b="1" u="none" strike="noStrike" dirty="0" err="1">
                <a:effectLst/>
                <a:latin typeface="Times New Roman" panose="02020603050405020304" pitchFamily="18" charset="0"/>
                <a:ea typeface="SimSun" panose="02010600030101010101" pitchFamily="2" charset="-122"/>
              </a:rPr>
              <a:t>bình</a:t>
            </a:r>
            <a:r>
              <a:rPr lang="en-US" sz="1400" b="1" u="none" strike="noStrike" dirty="0">
                <a:effectLst/>
                <a:latin typeface="Times New Roman" panose="02020603050405020304" pitchFamily="18" charset="0"/>
                <a:ea typeface="SimSun" panose="02010600030101010101" pitchFamily="2" charset="-122"/>
              </a:rPr>
              <a:t> </a:t>
            </a:r>
            <a:r>
              <a:rPr lang="en-US" sz="1400" b="1" u="none" strike="noStrike" dirty="0" err="1">
                <a:effectLst/>
                <a:latin typeface="Times New Roman" panose="02020603050405020304" pitchFamily="18" charset="0"/>
                <a:ea typeface="SimSun" panose="02010600030101010101" pitchFamily="2" charset="-122"/>
              </a:rPr>
              <a:t>cao</a:t>
            </a:r>
            <a:r>
              <a:rPr lang="en-US" sz="1400" b="1" u="none" strike="noStrike" dirty="0">
                <a:effectLst/>
                <a:latin typeface="Times New Roman" panose="02020603050405020304" pitchFamily="18" charset="0"/>
                <a:ea typeface="SimSun" panose="02010600030101010101" pitchFamily="2" charset="-122"/>
              </a:rPr>
              <a:t> </a:t>
            </a:r>
            <a:r>
              <a:rPr lang="en-US" sz="1400" b="1" u="none" strike="noStrike" dirty="0" err="1">
                <a:effectLst/>
                <a:latin typeface="Times New Roman" panose="02020603050405020304" pitchFamily="18" charset="0"/>
                <a:ea typeface="SimSun" panose="02010600030101010101" pitchFamily="2" charset="-122"/>
              </a:rPr>
              <a:t>nhất</a:t>
            </a:r>
            <a:r>
              <a:rPr lang="en-US" sz="1400" u="none" strike="noStrike" dirty="0">
                <a:effectLst/>
                <a:latin typeface="Times New Roman" panose="02020603050405020304" pitchFamily="18" charset="0"/>
                <a:ea typeface="SimSun" panose="02010600030101010101" pitchFamily="2" charset="-122"/>
              </a:rPr>
              <a:t> (</a:t>
            </a:r>
            <a:r>
              <a:rPr lang="en-US" sz="1400" i="1" u="none" strike="noStrike" dirty="0">
                <a:effectLst/>
                <a:latin typeface="Times New Roman" panose="02020603050405020304" pitchFamily="18" charset="0"/>
                <a:ea typeface="SimSun" panose="02010600030101010101" pitchFamily="2" charset="-122"/>
              </a:rPr>
              <a:t>Fats and Oils</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củng</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cố</a:t>
            </a:r>
            <a:r>
              <a:rPr lang="en-US" sz="1400" u="none" strike="noStrike" dirty="0">
                <a:effectLst/>
                <a:latin typeface="Times New Roman" panose="02020603050405020304" pitchFamily="18" charset="0"/>
                <a:ea typeface="SimSun" panose="02010600030101010101" pitchFamily="2" charset="-122"/>
              </a:rPr>
              <a:t> nguyên </a:t>
            </a:r>
            <a:r>
              <a:rPr lang="en-US" sz="1400" u="none" strike="noStrike" dirty="0" err="1">
                <a:effectLst/>
                <a:latin typeface="Times New Roman" panose="02020603050405020304" pitchFamily="18" charset="0"/>
                <a:ea typeface="SimSun" panose="02010600030101010101" pitchFamily="2" charset="-122"/>
              </a:rPr>
              <a:t>tắc</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rằng</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chất</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béo</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có</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mật</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độ</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năng</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lượng</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cao</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hơn</a:t>
            </a:r>
            <a:r>
              <a:rPr lang="en-US" sz="1400" u="none" strike="noStrike" dirty="0">
                <a:effectLst/>
                <a:latin typeface="Times New Roman" panose="02020603050405020304" pitchFamily="18" charset="0"/>
                <a:ea typeface="SimSun" panose="02010600030101010101" pitchFamily="2" charset="-122"/>
              </a:rPr>
              <a:t> </a:t>
            </a:r>
            <a:r>
              <a:rPr lang="en-US" sz="1400" u="none" strike="noStrike" dirty="0" err="1">
                <a:effectLst/>
                <a:latin typeface="Times New Roman" panose="02020603050405020304" pitchFamily="18" charset="0"/>
                <a:ea typeface="SimSun" panose="02010600030101010101" pitchFamily="2" charset="-122"/>
              </a:rPr>
              <a:t>nhiều</a:t>
            </a:r>
            <a:r>
              <a:rPr lang="en-US" sz="1400" u="none" strike="noStrike" dirty="0">
                <a:effectLst/>
                <a:latin typeface="Times New Roman" panose="02020603050405020304" pitchFamily="18" charset="0"/>
                <a:ea typeface="SimSun" panose="02010600030101010101" pitchFamily="2" charset="-122"/>
              </a:rPr>
              <a:t> so </a:t>
            </a:r>
            <a:r>
              <a:rPr lang="en-US" sz="1400" u="none" strike="noStrike" dirty="0" err="1">
                <a:effectLst/>
                <a:latin typeface="Times New Roman" panose="02020603050405020304" pitchFamily="18" charset="0"/>
                <a:ea typeface="SimSun" panose="02010600030101010101" pitchFamily="2" charset="-122"/>
              </a:rPr>
              <a:t>với</a:t>
            </a:r>
            <a:r>
              <a:rPr lang="en-US" sz="1400" u="none" strike="noStrike" dirty="0">
                <a:effectLst/>
                <a:latin typeface="Times New Roman" panose="02020603050405020304" pitchFamily="18" charset="0"/>
                <a:ea typeface="SimSun" panose="02010600030101010101" pitchFamily="2" charset="-122"/>
              </a:rPr>
              <a:t> protein </a:t>
            </a:r>
            <a:r>
              <a:rPr lang="en-US" sz="1400" u="none" strike="noStrike" dirty="0" err="1">
                <a:effectLst/>
                <a:latin typeface="Times New Roman" panose="02020603050405020304" pitchFamily="18" charset="0"/>
                <a:ea typeface="SimSun" panose="02010600030101010101" pitchFamily="2" charset="-122"/>
              </a:rPr>
              <a:t>và</a:t>
            </a:r>
            <a:r>
              <a:rPr lang="en-US" sz="1400" u="none" strike="noStrike" dirty="0">
                <a:effectLst/>
                <a:latin typeface="Times New Roman" panose="02020603050405020304" pitchFamily="18" charset="0"/>
                <a:ea typeface="SimSun" panose="02010600030101010101" pitchFamily="2" charset="-122"/>
              </a:rPr>
              <a:t> carbohydrate.</a:t>
            </a:r>
          </a:p>
        </p:txBody>
      </p:sp>
    </p:spTree>
    <p:extLst>
      <p:ext uri="{BB962C8B-B14F-4D97-AF65-F5344CB8AC3E}">
        <p14:creationId xmlns:p14="http://schemas.microsoft.com/office/powerpoint/2010/main" val="655973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CD4F9-BD9B-821F-1644-631FBCE46080}"/>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0DB0D41D-8DC1-818B-264E-8CDC615B20A6}"/>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D8100E0A-C512-CBF9-255A-C701323D5FA0}"/>
              </a:ext>
            </a:extLst>
          </p:cNvPr>
          <p:cNvCxnSpPr>
            <a:cxnSpLocks/>
          </p:cNvCxnSpPr>
          <p:nvPr/>
        </p:nvCxnSpPr>
        <p:spPr>
          <a:xfrm>
            <a:off x="10002416" y="522898"/>
            <a:ext cx="218958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942FDC1E-9A55-E166-11C7-E79051A077D2}"/>
              </a:ext>
            </a:extLst>
          </p:cNvPr>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PHÂN TÍCH</a:t>
            </a:r>
          </a:p>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0E9E2706-6154-3B20-A991-8A26B3F199C8}"/>
              </a:ext>
            </a:extLst>
          </p:cNvPr>
          <p:cNvCxnSpPr>
            <a:cxnSpLocks/>
          </p:cNvCxnSpPr>
          <p:nvPr/>
        </p:nvCxnSpPr>
        <p:spPr>
          <a:xfrm>
            <a:off x="0" y="522898"/>
            <a:ext cx="230466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345058FA-DD74-72D4-59B1-A70B94038DEA}"/>
              </a:ext>
            </a:extLst>
          </p:cNvPr>
          <p:cNvSpPr>
            <a:spLocks noChangeArrowheads="1"/>
          </p:cNvSpPr>
          <p:nvPr/>
        </p:nvSpPr>
        <p:spPr bwMode="auto">
          <a:xfrm>
            <a:off x="711200" y="672814"/>
            <a:ext cx="9804400" cy="13002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38088" numCol="1" anchor="ctr" anchorCtr="0" compatLnSpc="1">
            <a:prstTxWarp prst="textNoShape">
              <a:avLst/>
            </a:prstTxWarp>
            <a:spAutoFit/>
          </a:bodyPr>
          <a:lstStyle/>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 EDA trực quan bằng sơ đồ (Graphical EDA)</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2.6.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Tương</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quan</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giữa</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các</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chất</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chính</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8A513874-ECEA-9660-2CB2-621F50C2E742}"/>
              </a:ext>
            </a:extLst>
          </p:cNvPr>
          <p:cNvSpPr txBox="1"/>
          <p:nvPr/>
        </p:nvSpPr>
        <p:spPr>
          <a:xfrm>
            <a:off x="6598920" y="1653475"/>
            <a:ext cx="5364480" cy="4893647"/>
          </a:xfrm>
          <a:prstGeom prst="rect">
            <a:avLst/>
          </a:prstGeom>
          <a:solidFill>
            <a:schemeClr val="bg1">
              <a:lumMod val="95000"/>
            </a:schemeClr>
          </a:solidFill>
        </p:spPr>
        <p:txBody>
          <a:bodyPr wrap="square">
            <a:spAutoFit/>
          </a:bodyPr>
          <a:lstStyle/>
          <a:p>
            <a:pPr marL="0" marR="0">
              <a:buNone/>
            </a:pPr>
            <a:r>
              <a:rPr lang="en-US" sz="1200" b="1" dirty="0" err="1">
                <a:effectLst/>
                <a:latin typeface="Times New Roman" panose="02020603050405020304" pitchFamily="18" charset="0"/>
                <a:ea typeface="SimSun" panose="02010600030101010101" pitchFamily="2" charset="-122"/>
              </a:rPr>
              <a:t>Tương</a:t>
            </a:r>
            <a:r>
              <a:rPr lang="en-US" sz="1200" b="1" dirty="0">
                <a:effectLst/>
                <a:latin typeface="Times New Roman" panose="02020603050405020304" pitchFamily="18" charset="0"/>
                <a:ea typeface="SimSun" panose="02010600030101010101" pitchFamily="2" charset="-122"/>
              </a:rPr>
              <a:t> Quan </a:t>
            </a:r>
            <a:r>
              <a:rPr lang="en-US" sz="1200" b="1" dirty="0" err="1">
                <a:effectLst/>
                <a:latin typeface="Times New Roman" panose="02020603050405020304" pitchFamily="18" charset="0"/>
                <a:ea typeface="SimSun" panose="02010600030101010101" pitchFamily="2" charset="-122"/>
              </a:rPr>
              <a:t>với</a:t>
            </a:r>
            <a:r>
              <a:rPr lang="en-US" sz="1200" b="1" dirty="0">
                <a:effectLst/>
                <a:latin typeface="Times New Roman" panose="02020603050405020304" pitchFamily="18" charset="0"/>
                <a:ea typeface="SimSun" panose="02010600030101010101" pitchFamily="2" charset="-122"/>
              </a:rPr>
              <a:t> Energy (</a:t>
            </a:r>
            <a:r>
              <a:rPr lang="en-US" sz="1200" b="1" dirty="0" err="1">
                <a:effectLst/>
                <a:latin typeface="Times New Roman" panose="02020603050405020304" pitchFamily="18" charset="0"/>
                <a:ea typeface="SimSun" panose="02010600030101010101" pitchFamily="2" charset="-122"/>
              </a:rPr>
              <a:t>Năng</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lượng</a:t>
            </a:r>
            <a:r>
              <a:rPr lang="en-US" sz="1200" b="1" dirty="0">
                <a:effectLst/>
                <a:latin typeface="Times New Roman" panose="02020603050405020304" pitchFamily="18" charset="0"/>
                <a:ea typeface="SimSun" panose="02010600030101010101" pitchFamily="2" charset="-122"/>
              </a:rPr>
              <a:t>)</a:t>
            </a:r>
            <a:endParaRPr lang="en-US" sz="1200" dirty="0">
              <a:effectLst/>
              <a:latin typeface="Times New Roman" panose="02020603050405020304" pitchFamily="18" charset="0"/>
              <a:ea typeface="SimSun" panose="02010600030101010101" pitchFamily="2" charset="-122"/>
            </a:endParaRPr>
          </a:p>
          <a:p>
            <a:pPr marL="342900" marR="0" lvl="0" indent="-342900">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SimSun" panose="02010600030101010101" pitchFamily="2" charset="-122"/>
              </a:rPr>
              <a:t>Energy </a:t>
            </a:r>
            <a:r>
              <a:rPr lang="en-US" sz="1200" b="1" dirty="0" err="1">
                <a:effectLst/>
                <a:latin typeface="Times New Roman" panose="02020603050405020304" pitchFamily="18" charset="0"/>
                <a:ea typeface="SimSun" panose="02010600030101010101" pitchFamily="2" charset="-122"/>
              </a:rPr>
              <a:t>và</a:t>
            </a:r>
            <a:r>
              <a:rPr lang="en-US" sz="1200" b="1" dirty="0">
                <a:effectLst/>
                <a:latin typeface="Times New Roman" panose="02020603050405020304" pitchFamily="18" charset="0"/>
                <a:ea typeface="SimSun" panose="02010600030101010101" pitchFamily="2" charset="-122"/>
              </a:rPr>
              <a:t> Fat: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tương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quan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thuận</a:t>
            </a:r>
            <a:r>
              <a:rPr lang="en-US" sz="1200"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rất</a:t>
            </a:r>
            <a:r>
              <a:rPr lang="en-US" sz="1200" b="1" dirty="0">
                <a:effectLst/>
                <a:latin typeface="Times New Roman" panose="02020603050405020304" pitchFamily="18" charset="0"/>
                <a:ea typeface="SimSun" panose="02010600030101010101" pitchFamily="2" charset="-122"/>
              </a:rPr>
              <a:t> mạnh</a:t>
            </a:r>
            <a:r>
              <a:rPr lang="en-US" sz="1200" dirty="0">
                <a:effectLst/>
                <a:latin typeface="Times New Roman" panose="02020603050405020304" pitchFamily="18" charset="0"/>
                <a:ea typeface="SimSun" panose="02010600030101010101" pitchFamily="2" charset="-122"/>
              </a:rPr>
              <a:t> (+0.77). </a:t>
            </a:r>
            <a:r>
              <a:rPr lang="en-US" sz="1200" dirty="0" err="1">
                <a:effectLst/>
                <a:latin typeface="Times New Roman" panose="02020603050405020304" pitchFamily="18" charset="0"/>
                <a:ea typeface="SimSun" panose="02010600030101010101" pitchFamily="2" charset="-122"/>
              </a:rPr>
              <a:t>Điều</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này</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khẳng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định</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rằng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chất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béo</a:t>
            </a:r>
            <a:r>
              <a:rPr lang="en-US" sz="1200" dirty="0">
                <a:effectLst/>
                <a:latin typeface="Times New Roman" panose="02020603050405020304" pitchFamily="18" charset="0"/>
                <a:ea typeface="SimSun" panose="02010600030101010101" pitchFamily="2" charset="-122"/>
              </a:rPr>
              <a:t> trong </a:t>
            </a:r>
            <a:r>
              <a:rPr lang="en-US" sz="1200" dirty="0" err="1">
                <a:effectLst/>
                <a:latin typeface="Times New Roman" panose="02020603050405020304" pitchFamily="18" charset="0"/>
                <a:ea typeface="SimSun" panose="02010600030101010101" pitchFamily="2" charset="-122"/>
              </a:rPr>
              <a:t>thực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phẩm</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là</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yếu</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tố</a:t>
            </a:r>
            <a:r>
              <a:rPr lang="en-US" sz="1200"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quan</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trọng</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nhất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quyết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định</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hàm</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năng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/calories </a:t>
            </a:r>
            <a:r>
              <a:rPr lang="en-US" sz="1200" dirty="0" err="1">
                <a:effectLst/>
                <a:latin typeface="Times New Roman" panose="02020603050405020304" pitchFamily="18" charset="0"/>
                <a:ea typeface="SimSun" panose="02010600030101010101" pitchFamily="2" charset="-122"/>
              </a:rPr>
              <a:t>tổng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thể</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của</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thực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phẩm</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đó</a:t>
            </a:r>
            <a:r>
              <a:rPr lang="en-US" sz="1200" dirty="0">
                <a:effectLst/>
                <a:latin typeface="Times New Roman" panose="02020603050405020304" pitchFamily="18" charset="0"/>
                <a:ea typeface="SimSun" panose="02010600030101010101" pitchFamily="2" charset="-122"/>
              </a:rPr>
              <a:t>.</a:t>
            </a:r>
          </a:p>
          <a:p>
            <a:pPr marL="342900" marR="0" lvl="0" indent="-342900">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SimSun" panose="02010600030101010101" pitchFamily="2" charset="-122"/>
              </a:rPr>
              <a:t>Energy </a:t>
            </a:r>
            <a:r>
              <a:rPr lang="en-US" sz="1200" b="1" dirty="0" err="1">
                <a:effectLst/>
                <a:latin typeface="Times New Roman" panose="02020603050405020304" pitchFamily="18" charset="0"/>
                <a:ea typeface="SimSun" panose="02010600030101010101" pitchFamily="2" charset="-122"/>
              </a:rPr>
              <a:t>và</a:t>
            </a:r>
            <a:r>
              <a:rPr lang="en-US" sz="1200" b="1" dirty="0">
                <a:effectLst/>
                <a:latin typeface="Times New Roman" panose="02020603050405020304" pitchFamily="18" charset="0"/>
                <a:ea typeface="SimSun" panose="02010600030101010101" pitchFamily="2" charset="-122"/>
              </a:rPr>
              <a:t> Carbohydrate:</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tương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quan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thuận</a:t>
            </a:r>
            <a:r>
              <a:rPr lang="en-US" sz="1200"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khá</a:t>
            </a:r>
            <a:r>
              <a:rPr lang="en-US" sz="1200" b="1" dirty="0">
                <a:effectLst/>
                <a:latin typeface="Times New Roman" panose="02020603050405020304" pitchFamily="18" charset="0"/>
                <a:ea typeface="SimSun" panose="02010600030101010101" pitchFamily="2" charset="-122"/>
              </a:rPr>
              <a:t> mạnh</a:t>
            </a:r>
            <a:r>
              <a:rPr lang="en-US" sz="1200" dirty="0">
                <a:effectLst/>
                <a:latin typeface="Times New Roman" panose="02020603050405020304" pitchFamily="18" charset="0"/>
                <a:ea typeface="SimSun" panose="02010600030101010101" pitchFamily="2" charset="-122"/>
              </a:rPr>
              <a:t> (+0.54). Carbohydrate </a:t>
            </a:r>
            <a:r>
              <a:rPr lang="en-US" sz="1200" dirty="0" err="1">
                <a:effectLst/>
                <a:latin typeface="Times New Roman" panose="02020603050405020304" pitchFamily="18" charset="0"/>
                <a:ea typeface="SimSun" panose="02010600030101010101" pitchFamily="2" charset="-122"/>
              </a:rPr>
              <a:t>là</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yếu</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tố</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đóng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góp</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lớn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thứ</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hai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vào</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tổng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năng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a:t>
            </a:r>
          </a:p>
          <a:p>
            <a:pPr marL="342900" marR="0" lvl="0" indent="-342900">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SimSun" panose="02010600030101010101" pitchFamily="2" charset="-122"/>
              </a:rPr>
              <a:t>Energy </a:t>
            </a:r>
            <a:r>
              <a:rPr lang="en-US" sz="1200" b="1" dirty="0" err="1">
                <a:effectLst/>
                <a:latin typeface="Times New Roman" panose="02020603050405020304" pitchFamily="18" charset="0"/>
                <a:ea typeface="SimSun" panose="02010600030101010101" pitchFamily="2" charset="-122"/>
              </a:rPr>
              <a:t>và</a:t>
            </a:r>
            <a:r>
              <a:rPr lang="en-US" sz="1200" b="1" dirty="0">
                <a:effectLst/>
                <a:latin typeface="Times New Roman" panose="02020603050405020304" pitchFamily="18" charset="0"/>
                <a:ea typeface="SimSun" panose="02010600030101010101" pitchFamily="2" charset="-122"/>
              </a:rPr>
              <a:t> Protein: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tương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quan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thuận</a:t>
            </a:r>
            <a:r>
              <a:rPr lang="en-US" sz="1200"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yếu</a:t>
            </a:r>
            <a:r>
              <a:rPr lang="en-US" sz="1200" dirty="0">
                <a:effectLst/>
                <a:latin typeface="Times New Roman" panose="02020603050405020304" pitchFamily="18" charset="0"/>
                <a:ea typeface="SimSun" panose="02010600030101010101" pitchFamily="2" charset="-122"/>
              </a:rPr>
              <a:t> (+0.20). Protein </a:t>
            </a:r>
            <a:r>
              <a:rPr lang="en-US" sz="1200" dirty="0" err="1">
                <a:effectLst/>
                <a:latin typeface="Times New Roman" panose="02020603050405020304" pitchFamily="18" charset="0"/>
                <a:ea typeface="SimSun" panose="02010600030101010101" pitchFamily="2" charset="-122"/>
              </a:rPr>
              <a:t>đóng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góp</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vào</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năng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nhưng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mối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quan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hệ</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tuyến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tính</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với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tổng</a:t>
            </a:r>
            <a:r>
              <a:rPr lang="en-US" sz="1200" dirty="0">
                <a:effectLst/>
                <a:latin typeface="Times New Roman" panose="02020603050405020304" pitchFamily="18" charset="0"/>
                <a:ea typeface="SimSun" panose="02010600030101010101" pitchFamily="2" charset="-122"/>
              </a:rPr>
              <a:t> Energy </a:t>
            </a:r>
            <a:r>
              <a:rPr lang="en-US" sz="1200" dirty="0" err="1">
                <a:effectLst/>
                <a:latin typeface="Times New Roman" panose="02020603050405020304" pitchFamily="18" charset="0"/>
                <a:ea typeface="SimSun" panose="02010600030101010101" pitchFamily="2" charset="-122"/>
              </a:rPr>
              <a:t>là</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yếu</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nhất</a:t>
            </a:r>
            <a:r>
              <a:rPr lang="en-US" sz="1200" dirty="0">
                <a:effectLst/>
                <a:latin typeface="Times New Roman" panose="02020603050405020304" pitchFamily="18" charset="0"/>
                <a:ea typeface="SimSun" panose="02010600030101010101" pitchFamily="2" charset="-122"/>
              </a:rPr>
              <a:t> trong </a:t>
            </a:r>
            <a:r>
              <a:rPr lang="en-US" sz="1200" dirty="0" err="1">
                <a:effectLst/>
                <a:latin typeface="Times New Roman" panose="02020603050405020304" pitchFamily="18" charset="0"/>
                <a:ea typeface="SimSun" panose="02010600030101010101" pitchFamily="2" charset="-122"/>
              </a:rPr>
              <a:t>ba</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chất</a:t>
            </a:r>
            <a:r>
              <a:rPr lang="en-US" sz="1200" dirty="0">
                <a:effectLst/>
                <a:latin typeface="Times New Roman" panose="02020603050405020304" pitchFamily="18" charset="0"/>
                <a:ea typeface="SimSun" panose="02010600030101010101" pitchFamily="2" charset="-122"/>
              </a:rPr>
              <a:t>.</a:t>
            </a:r>
          </a:p>
          <a:p>
            <a:pPr marL="0" marR="0">
              <a:buNone/>
            </a:pPr>
            <a:r>
              <a:rPr lang="en-US" sz="1200" b="1" dirty="0" err="1">
                <a:effectLst/>
                <a:latin typeface="Times New Roman" panose="02020603050405020304" pitchFamily="18" charset="0"/>
                <a:ea typeface="SimSun" panose="02010600030101010101" pitchFamily="2" charset="-122"/>
              </a:rPr>
              <a:t>Tương</a:t>
            </a:r>
            <a:r>
              <a:rPr lang="en-US" sz="1200" b="1" dirty="0">
                <a:effectLst/>
                <a:latin typeface="Times New Roman" panose="02020603050405020304" pitchFamily="18" charset="0"/>
                <a:ea typeface="SimSun" panose="02010600030101010101" pitchFamily="2" charset="-122"/>
              </a:rPr>
              <a:t> Quan </a:t>
            </a:r>
            <a:r>
              <a:rPr lang="en-US" sz="1200" b="1" dirty="0" err="1">
                <a:effectLst/>
                <a:latin typeface="Times New Roman" panose="02020603050405020304" pitchFamily="18" charset="0"/>
                <a:ea typeface="SimSun" panose="02010600030101010101" pitchFamily="2" charset="-122"/>
              </a:rPr>
              <a:t>Giữa</a:t>
            </a:r>
            <a:r>
              <a:rPr lang="en-US" sz="1200" b="1" dirty="0">
                <a:effectLst/>
                <a:latin typeface="Times New Roman" panose="02020603050405020304" pitchFamily="18" charset="0"/>
                <a:ea typeface="SimSun" panose="02010600030101010101" pitchFamily="2" charset="-122"/>
              </a:rPr>
              <a:t> Các </a:t>
            </a:r>
            <a:r>
              <a:rPr lang="en-US" sz="1200" b="1" dirty="0" err="1">
                <a:effectLst/>
                <a:latin typeface="Times New Roman" panose="02020603050405020304" pitchFamily="18" charset="0"/>
                <a:ea typeface="SimSun" panose="02010600030101010101" pitchFamily="2" charset="-122"/>
              </a:rPr>
              <a:t>Dưỡng</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Chất</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Đa</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Lượng</a:t>
            </a:r>
            <a:endParaRPr lang="en-US" sz="1200" dirty="0">
              <a:effectLst/>
              <a:latin typeface="Times New Roman" panose="02020603050405020304" pitchFamily="18" charset="0"/>
              <a:ea typeface="SimSun" panose="02010600030101010101" pitchFamily="2" charset="-122"/>
            </a:endParaRPr>
          </a:p>
          <a:p>
            <a:pPr marL="342900" marR="0" lvl="0" indent="-342900">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SimSun" panose="02010600030101010101" pitchFamily="2" charset="-122"/>
              </a:rPr>
              <a:t>Protein </a:t>
            </a:r>
            <a:r>
              <a:rPr lang="en-US" sz="1200" b="1" dirty="0" err="1">
                <a:effectLst/>
                <a:latin typeface="Times New Roman" panose="02020603050405020304" pitchFamily="18" charset="0"/>
                <a:ea typeface="SimSun" panose="02010600030101010101" pitchFamily="2" charset="-122"/>
              </a:rPr>
              <a:t>và</a:t>
            </a:r>
            <a:r>
              <a:rPr lang="en-US" sz="1200" b="1" dirty="0">
                <a:effectLst/>
                <a:latin typeface="Times New Roman" panose="02020603050405020304" pitchFamily="18" charset="0"/>
                <a:ea typeface="SimSun" panose="02010600030101010101" pitchFamily="2" charset="-122"/>
              </a:rPr>
              <a:t> Carbohydrate:</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tương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quan</a:t>
            </a:r>
            <a:r>
              <a:rPr lang="en-US" sz="1200"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nghịch</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yếu</a:t>
            </a:r>
            <a:r>
              <a:rPr lang="en-US" sz="1200" dirty="0">
                <a:effectLst/>
                <a:latin typeface="Times New Roman" panose="02020603050405020304" pitchFamily="18" charset="0"/>
                <a:ea typeface="SimSun" panose="02010600030101010101" pitchFamily="2" charset="-122"/>
              </a:rPr>
              <a:t> ($-0.28$). </a:t>
            </a:r>
            <a:r>
              <a:rPr lang="en-US" sz="1200" dirty="0" err="1">
                <a:effectLst/>
                <a:latin typeface="Times New Roman" panose="02020603050405020304" pitchFamily="18" charset="0"/>
                <a:ea typeface="SimSun" panose="02010600030101010101" pitchFamily="2" charset="-122"/>
              </a:rPr>
              <a:t>Điều</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này</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cho</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thấy</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các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thực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phẩm</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giàu</a:t>
            </a:r>
            <a:r>
              <a:rPr lang="en-US" sz="1200" dirty="0">
                <a:effectLst/>
                <a:latin typeface="Times New Roman" panose="02020603050405020304" pitchFamily="18" charset="0"/>
                <a:ea typeface="SimSun" panose="02010600030101010101" pitchFamily="2" charset="-122"/>
              </a:rPr>
              <a:t> protein (</a:t>
            </a:r>
            <a:r>
              <a:rPr lang="en-US" sz="1200" dirty="0" err="1">
                <a:effectLst/>
                <a:latin typeface="Times New Roman" panose="02020603050405020304" pitchFamily="18" charset="0"/>
                <a:ea typeface="SimSun" panose="02010600030101010101" pitchFamily="2" charset="-122"/>
              </a:rPr>
              <a:t>như</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thịt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xu </a:t>
            </a:r>
            <a:r>
              <a:rPr lang="en-US" sz="1200" dirty="0" err="1">
                <a:effectLst/>
                <a:latin typeface="Times New Roman" panose="02020603050405020304" pitchFamily="18" charset="0"/>
                <a:ea typeface="SimSun" panose="02010600030101010101" pitchFamily="2" charset="-122"/>
              </a:rPr>
              <a:t>hướng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 carbohydrate </a:t>
            </a:r>
            <a:r>
              <a:rPr lang="en-US" sz="1200" dirty="0" err="1">
                <a:effectLst/>
                <a:latin typeface="Times New Roman" panose="02020603050405020304" pitchFamily="18" charset="0"/>
                <a:ea typeface="SimSun" panose="02010600030101010101" pitchFamily="2" charset="-122"/>
              </a:rPr>
              <a:t>thấp</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hơn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và</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ngược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lại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như</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ngũ</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cốc</a:t>
            </a:r>
            <a:r>
              <a:rPr lang="en-US" sz="1200" dirty="0">
                <a:effectLst/>
                <a:latin typeface="Times New Roman" panose="02020603050405020304" pitchFamily="18" charset="0"/>
                <a:ea typeface="SimSun" panose="02010600030101010101" pitchFamily="2" charset="-122"/>
              </a:rPr>
              <a:t>).</a:t>
            </a:r>
          </a:p>
          <a:p>
            <a:pPr marL="342900" marR="0" lvl="0" indent="-342900">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SimSun" panose="02010600030101010101" pitchFamily="2" charset="-122"/>
              </a:rPr>
              <a:t>Fat </a:t>
            </a:r>
            <a:r>
              <a:rPr lang="en-US" sz="1200" b="1" dirty="0" err="1">
                <a:effectLst/>
                <a:latin typeface="Times New Roman" panose="02020603050405020304" pitchFamily="18" charset="0"/>
                <a:ea typeface="SimSun" panose="02010600030101010101" pitchFamily="2" charset="-122"/>
              </a:rPr>
              <a:t>và</a:t>
            </a:r>
            <a:r>
              <a:rPr lang="en-US" sz="1200" b="1" dirty="0">
                <a:effectLst/>
                <a:latin typeface="Times New Roman" panose="02020603050405020304" pitchFamily="18" charset="0"/>
                <a:ea typeface="SimSun" panose="02010600030101010101" pitchFamily="2" charset="-122"/>
              </a:rPr>
              <a:t> Carbohydrate:</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tương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quan</a:t>
            </a:r>
            <a:r>
              <a:rPr lang="en-US" sz="1200"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rất</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yếu</a:t>
            </a:r>
            <a:r>
              <a:rPr lang="en-US" sz="1200" dirty="0">
                <a:effectLst/>
                <a:latin typeface="Times New Roman" panose="02020603050405020304" pitchFamily="18" charset="0"/>
                <a:ea typeface="SimSun" panose="02010600030101010101" pitchFamily="2" charset="-122"/>
              </a:rPr>
              <a:t> (-0.05). </a:t>
            </a:r>
            <a:r>
              <a:rPr lang="en-US" sz="1200" dirty="0" err="1">
                <a:effectLst/>
                <a:latin typeface="Times New Roman" panose="02020603050405020304" pitchFamily="18" charset="0"/>
                <a:ea typeface="SimSun" panose="02010600030101010101" pitchFamily="2" charset="-122"/>
              </a:rPr>
              <a:t>Hầu</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như</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không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tương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quan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tuyến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tính</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giữa</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hai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chất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này</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nghĩa</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là</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chất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béo</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không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mối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liên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hệ</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rõ</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rệt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với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 carbohydrate trong </a:t>
            </a:r>
            <a:r>
              <a:rPr lang="en-US" sz="1200" dirty="0" err="1">
                <a:effectLst/>
                <a:latin typeface="Times New Roman" panose="02020603050405020304" pitchFamily="18" charset="0"/>
                <a:ea typeface="SimSun" panose="02010600030101010101" pitchFamily="2" charset="-122"/>
              </a:rPr>
              <a:t>thực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phẩm</a:t>
            </a:r>
            <a:r>
              <a:rPr lang="en-US" sz="1200" dirty="0">
                <a:effectLst/>
                <a:latin typeface="Times New Roman" panose="02020603050405020304" pitchFamily="18" charset="0"/>
                <a:ea typeface="SimSun" panose="02010600030101010101" pitchFamily="2" charset="-122"/>
              </a:rPr>
              <a:t>.</a:t>
            </a:r>
          </a:p>
          <a:p>
            <a:pPr marL="342900" marR="0" lvl="0" indent="-342900">
              <a:buSzPts val="1000"/>
              <a:buFont typeface="Symbol" panose="05050102010706020507" pitchFamily="18" charset="2"/>
              <a:buChar char=""/>
              <a:tabLst>
                <a:tab pos="457200" algn="l"/>
              </a:tabLst>
            </a:pPr>
            <a:r>
              <a:rPr lang="en-US" sz="1200" b="1" dirty="0">
                <a:effectLst/>
                <a:latin typeface="Times New Roman" panose="02020603050405020304" pitchFamily="18" charset="0"/>
                <a:ea typeface="SimSun" panose="02010600030101010101" pitchFamily="2" charset="-122"/>
              </a:rPr>
              <a:t>Protein </a:t>
            </a:r>
            <a:r>
              <a:rPr lang="en-US" sz="1200" b="1" dirty="0" err="1">
                <a:effectLst/>
                <a:latin typeface="Times New Roman" panose="02020603050405020304" pitchFamily="18" charset="0"/>
                <a:ea typeface="SimSun" panose="02010600030101010101" pitchFamily="2" charset="-122"/>
              </a:rPr>
              <a:t>và</a:t>
            </a:r>
            <a:r>
              <a:rPr lang="en-US" sz="1200" b="1" dirty="0">
                <a:effectLst/>
                <a:latin typeface="Times New Roman" panose="02020603050405020304" pitchFamily="18" charset="0"/>
                <a:ea typeface="SimSun" panose="02010600030101010101" pitchFamily="2" charset="-122"/>
              </a:rPr>
              <a:t> Fat: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tương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quan</a:t>
            </a:r>
            <a:r>
              <a:rPr lang="en-US" sz="1200"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rất</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yếu</a:t>
            </a:r>
            <a:r>
              <a:rPr lang="en-US" sz="1200" dirty="0">
                <a:effectLst/>
                <a:latin typeface="Times New Roman" panose="02020603050405020304" pitchFamily="18" charset="0"/>
                <a:ea typeface="SimSun" panose="02010600030101010101" pitchFamily="2" charset="-122"/>
              </a:rPr>
              <a:t> (+0.16). </a:t>
            </a: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một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chút</a:t>
            </a:r>
            <a:r>
              <a:rPr lang="en-US" sz="1200" dirty="0">
                <a:effectLst/>
                <a:latin typeface="Times New Roman" panose="02020603050405020304" pitchFamily="18" charset="0"/>
                <a:ea typeface="SimSun" panose="02010600030101010101" pitchFamily="2" charset="-122"/>
              </a:rPr>
              <a:t> xu </a:t>
            </a:r>
            <a:r>
              <a:rPr lang="en-US" sz="1200" dirty="0" err="1">
                <a:effectLst/>
                <a:latin typeface="Times New Roman" panose="02020603050405020304" pitchFamily="18" charset="0"/>
                <a:ea typeface="SimSun" panose="02010600030101010101" pitchFamily="2" charset="-122"/>
              </a:rPr>
              <a:t>hướng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thuận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nhưng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mối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liên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hệ</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giữa</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 protein </a:t>
            </a:r>
            <a:r>
              <a:rPr lang="en-US" sz="1200" dirty="0" err="1">
                <a:effectLst/>
                <a:latin typeface="Times New Roman" panose="02020603050405020304" pitchFamily="18" charset="0"/>
                <a:ea typeface="SimSun" panose="02010600030101010101" pitchFamily="2" charset="-122"/>
              </a:rPr>
              <a:t>và</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chất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béo</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cũng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không</a:t>
            </a:r>
            <a:r>
              <a:rPr lang="en-US" sz="1200" dirty="0">
                <a:effectLst/>
                <a:latin typeface="Times New Roman" panose="02020603050405020304" pitchFamily="18" charset="0"/>
                <a:ea typeface="SimSun" panose="02010600030101010101" pitchFamily="2" charset="-122"/>
              </a:rPr>
              <a:t> mạnh </a:t>
            </a:r>
            <a:r>
              <a:rPr lang="en-US" sz="1200" dirty="0" err="1">
                <a:effectLst/>
                <a:latin typeface="Times New Roman" panose="02020603050405020304" pitchFamily="18" charset="0"/>
                <a:ea typeface="SimSun" panose="02010600030101010101" pitchFamily="2" charset="-122"/>
              </a:rPr>
              <a:t>mẽ</a:t>
            </a:r>
            <a:r>
              <a:rPr lang="en-US" sz="1200" dirty="0">
                <a:effectLst/>
                <a:latin typeface="Times New Roman" panose="02020603050405020304" pitchFamily="18" charset="0"/>
                <a:ea typeface="SimSun" panose="02010600030101010101" pitchFamily="2" charset="-122"/>
              </a:rPr>
              <a:t>.</a:t>
            </a:r>
          </a:p>
          <a:p>
            <a:pPr marL="0" marR="0">
              <a:buNone/>
            </a:pPr>
            <a:r>
              <a:rPr lang="en-US" sz="1200" b="1" dirty="0">
                <a:effectLst/>
                <a:latin typeface="Times New Roman" panose="02020603050405020304" pitchFamily="18" charset="0"/>
                <a:ea typeface="SimSun" panose="02010600030101010101" pitchFamily="2" charset="-122"/>
              </a:rPr>
              <a:t> </a:t>
            </a:r>
            <a:endParaRPr lang="en-US" sz="1200" dirty="0">
              <a:effectLst/>
              <a:latin typeface="Times New Roman" panose="02020603050405020304" pitchFamily="18" charset="0"/>
              <a:ea typeface="SimSun" panose="02010600030101010101" pitchFamily="2" charset="-122"/>
            </a:endParaRPr>
          </a:p>
          <a:p>
            <a:pPr marL="0" marR="0">
              <a:buNone/>
            </a:pPr>
            <a:r>
              <a:rPr lang="en-US" sz="1200" b="1" dirty="0" err="1">
                <a:effectLst/>
                <a:latin typeface="Times New Roman" panose="02020603050405020304" pitchFamily="18" charset="0"/>
                <a:ea typeface="SimSun" panose="02010600030101010101" pitchFamily="2" charset="-122"/>
              </a:rPr>
              <a:t>Kết</a:t>
            </a:r>
            <a:r>
              <a:rPr lang="en-US" sz="1200" b="1" dirty="0">
                <a:effectLst/>
                <a:latin typeface="Times New Roman" panose="02020603050405020304" pitchFamily="18" charset="0"/>
                <a:ea typeface="SimSun" panose="02010600030101010101" pitchFamily="2" charset="-122"/>
              </a:rPr>
              <a:t> Luận Chung</a:t>
            </a:r>
            <a:endParaRPr lang="en-US" sz="1200" dirty="0">
              <a:effectLst/>
              <a:latin typeface="Times New Roman" panose="02020603050405020304" pitchFamily="18" charset="0"/>
              <a:ea typeface="SimSun" panose="02010600030101010101" pitchFamily="2" charset="-122"/>
            </a:endParaRPr>
          </a:p>
          <a:p>
            <a:pPr marL="342900" marR="0" lvl="0" indent="-342900">
              <a:buSzPts val="1000"/>
              <a:buFont typeface="Symbol" panose="05050102010706020507" pitchFamily="18" charset="2"/>
              <a:buChar char=""/>
              <a:tabLst>
                <a:tab pos="457200" algn="l"/>
              </a:tabLst>
            </a:pPr>
            <a:r>
              <a:rPr lang="en-US" sz="1200" b="1" dirty="0" err="1">
                <a:effectLst/>
                <a:latin typeface="Times New Roman" panose="02020603050405020304" pitchFamily="18" charset="0"/>
                <a:ea typeface="SimSun" panose="02010600030101010101" pitchFamily="2" charset="-122"/>
              </a:rPr>
              <a:t>Chất</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béo</a:t>
            </a:r>
            <a:r>
              <a:rPr lang="en-US" sz="1200" b="1" dirty="0">
                <a:effectLst/>
                <a:latin typeface="Times New Roman" panose="02020603050405020304" pitchFamily="18" charset="0"/>
                <a:ea typeface="SimSun" panose="02010600030101010101" pitchFamily="2" charset="-122"/>
              </a:rPr>
              <a:t> (Fat)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là</a:t>
            </a:r>
            <a:r>
              <a:rPr lang="en-US" sz="1200"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yếu</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tố</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chính</a:t>
            </a:r>
            <a:r>
              <a:rPr lang="en-US" sz="1200" dirty="0">
                <a:effectLst/>
                <a:latin typeface="Times New Roman" panose="02020603050405020304" pitchFamily="18" charset="0"/>
                <a:ea typeface="SimSun" panose="02010600030101010101" pitchFamily="2" charset="-122"/>
              </a:rPr>
              <a:t> chi </a:t>
            </a:r>
            <a:r>
              <a:rPr lang="en-US" sz="1200" dirty="0" err="1">
                <a:effectLst/>
                <a:latin typeface="Times New Roman" panose="02020603050405020304" pitchFamily="18" charset="0"/>
                <a:ea typeface="SimSun" panose="02010600030101010101" pitchFamily="2" charset="-122"/>
              </a:rPr>
              <a:t>phối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tổng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hàm</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 </a:t>
            </a:r>
            <a:r>
              <a:rPr lang="en-US" sz="1200" b="1" dirty="0">
                <a:effectLst/>
                <a:latin typeface="Times New Roman" panose="02020603050405020304" pitchFamily="18" charset="0"/>
                <a:ea typeface="SimSun" panose="02010600030101010101" pitchFamily="2" charset="-122"/>
              </a:rPr>
              <a:t>Energy</a:t>
            </a:r>
            <a:r>
              <a:rPr lang="en-US" sz="1200" dirty="0">
                <a:effectLst/>
                <a:latin typeface="Times New Roman" panose="02020603050405020304" pitchFamily="18" charset="0"/>
                <a:ea typeface="SimSun" panose="02010600030101010101" pitchFamily="2" charset="-122"/>
              </a:rPr>
              <a:t> (Calories) </a:t>
            </a:r>
            <a:r>
              <a:rPr lang="en-US" sz="1200" dirty="0" err="1">
                <a:effectLst/>
                <a:latin typeface="Times New Roman" panose="02020603050405020304" pitchFamily="18" charset="0"/>
                <a:ea typeface="SimSun" panose="02010600030101010101" pitchFamily="2" charset="-122"/>
              </a:rPr>
              <a:t>của</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thực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phẩm</a:t>
            </a:r>
            <a:r>
              <a:rPr lang="en-US" sz="1200" dirty="0">
                <a:effectLst/>
                <a:latin typeface="Times New Roman" panose="02020603050405020304" pitchFamily="18" charset="0"/>
                <a:ea typeface="SimSun" panose="02010600030101010101" pitchFamily="2" charset="-122"/>
              </a:rPr>
              <a:t> trong </a:t>
            </a:r>
            <a:r>
              <a:rPr lang="en-US" sz="1200" dirty="0" err="1">
                <a:effectLst/>
                <a:latin typeface="Times New Roman" panose="02020603050405020304" pitchFamily="18" charset="0"/>
                <a:ea typeface="SimSun" panose="02010600030101010101" pitchFamily="2" charset="-122"/>
              </a:rPr>
              <a:t>cơ</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sở</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dữ</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liệu</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này</a:t>
            </a:r>
            <a:r>
              <a:rPr lang="en-US" sz="1200" dirty="0">
                <a:effectLst/>
                <a:latin typeface="Times New Roman" panose="02020603050405020304" pitchFamily="18" charset="0"/>
                <a:ea typeface="SimSun" panose="02010600030101010101" pitchFamily="2" charset="-122"/>
              </a:rPr>
              <a:t>.</a:t>
            </a:r>
          </a:p>
          <a:p>
            <a:pPr marL="342900" marR="0" lvl="0" indent="-342900">
              <a:buSzPts val="1000"/>
              <a:buFont typeface="Symbol" panose="05050102010706020507" pitchFamily="18" charset="2"/>
              <a:buChar char=""/>
              <a:tabLst>
                <a:tab pos="457200" algn="l"/>
              </a:tabLst>
            </a:pPr>
            <a:r>
              <a:rPr lang="en-US" sz="1200" dirty="0" err="1">
                <a:effectLst/>
                <a:latin typeface="Times New Roman" panose="02020603050405020304" pitchFamily="18" charset="0"/>
                <a:ea typeface="SimSun" panose="02010600030101010101" pitchFamily="2" charset="-122"/>
              </a:rPr>
              <a:t>Có</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sự</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phân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tách</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rõ</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ràng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giữa</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các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nhóm</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thực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phẩm</a:t>
            </a:r>
            <a:r>
              <a:rPr lang="en-US" sz="1200"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thực</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phẩm</a:t>
            </a:r>
            <a:r>
              <a:rPr lang="en-US" sz="1200" b="1"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giàu</a:t>
            </a:r>
            <a:r>
              <a:rPr lang="en-US" sz="1200" b="1" dirty="0">
                <a:effectLst/>
                <a:latin typeface="Times New Roman" panose="02020603050405020304" pitchFamily="18" charset="0"/>
                <a:ea typeface="SimSun" panose="02010600030101010101" pitchFamily="2" charset="-122"/>
              </a:rPr>
              <a:t> Energy</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thường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là</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thực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phẩm</a:t>
            </a:r>
            <a:r>
              <a:rPr lang="en-US" sz="1200" dirty="0">
                <a:effectLst/>
                <a:latin typeface="Times New Roman" panose="02020603050405020304" pitchFamily="18" charset="0"/>
                <a:ea typeface="SimSun" panose="02010600030101010101" pitchFamily="2" charset="-122"/>
              </a:rPr>
              <a:t> </a:t>
            </a:r>
            <a:r>
              <a:rPr lang="en-US" sz="1200" b="1" dirty="0" err="1">
                <a:effectLst/>
                <a:latin typeface="Times New Roman" panose="02020603050405020304" pitchFamily="18" charset="0"/>
                <a:ea typeface="SimSun" panose="02010600030101010101" pitchFamily="2" charset="-122"/>
              </a:rPr>
              <a:t>giàu</a:t>
            </a:r>
            <a:r>
              <a:rPr lang="en-US" sz="1200" b="1" dirty="0">
                <a:effectLst/>
                <a:latin typeface="Times New Roman" panose="02020603050405020304" pitchFamily="18" charset="0"/>
                <a:ea typeface="SimSun" panose="02010600030101010101" pitchFamily="2" charset="-122"/>
              </a:rPr>
              <a:t> Fat</a:t>
            </a:r>
            <a:r>
              <a:rPr lang="en-US" sz="1200" dirty="0">
                <a:effectLst/>
                <a:latin typeface="Times New Roman" panose="02020603050405020304" pitchFamily="18" charset="0"/>
                <a:ea typeface="SimSun" panose="02010600030101010101" pitchFamily="2" charset="-122"/>
              </a:rPr>
              <a:t>, trong </a:t>
            </a:r>
            <a:r>
              <a:rPr lang="en-US" sz="1200" dirty="0" err="1">
                <a:effectLst/>
                <a:latin typeface="Times New Roman" panose="02020603050405020304" pitchFamily="18" charset="0"/>
                <a:ea typeface="SimSun" panose="02010600030101010101" pitchFamily="2" charset="-122"/>
              </a:rPr>
              <a:t>khi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mối</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quan</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hệ</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giữa</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các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chất</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đa</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lượng</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khác</a:t>
            </a:r>
            <a:r>
              <a:rPr lang="en-US" sz="1200" dirty="0">
                <a:effectLst/>
                <a:latin typeface="Times New Roman" panose="02020603050405020304" pitchFamily="18" charset="0"/>
                <a:ea typeface="SimSun" panose="02010600030101010101" pitchFamily="2" charset="-122"/>
              </a:rPr>
              <a:t> (Protein, Fat, Carb) </a:t>
            </a:r>
            <a:r>
              <a:rPr lang="en-US" sz="1200" dirty="0" err="1">
                <a:effectLst/>
                <a:latin typeface="Times New Roman" panose="02020603050405020304" pitchFamily="18" charset="0"/>
                <a:ea typeface="SimSun" panose="02010600030101010101" pitchFamily="2" charset="-122"/>
              </a:rPr>
              <a:t>là</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khá</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yếu</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hoặc</a:t>
            </a:r>
            <a:r>
              <a:rPr lang="en-US" sz="1200" dirty="0">
                <a:effectLst/>
                <a:latin typeface="Times New Roman" panose="02020603050405020304" pitchFamily="18" charset="0"/>
                <a:ea typeface="SimSun" panose="02010600030101010101" pitchFamily="2" charset="-122"/>
              </a:rPr>
              <a:t> </a:t>
            </a:r>
            <a:r>
              <a:rPr lang="en-US" sz="1200" dirty="0" err="1">
                <a:effectLst/>
                <a:latin typeface="Times New Roman" panose="02020603050405020304" pitchFamily="18" charset="0"/>
                <a:ea typeface="SimSun" panose="02010600030101010101" pitchFamily="2" charset="-122"/>
              </a:rPr>
              <a:t>thậm</a:t>
            </a:r>
            <a:r>
              <a:rPr lang="en-US" sz="1200" dirty="0">
                <a:effectLst/>
                <a:latin typeface="Times New Roman" panose="02020603050405020304" pitchFamily="18" charset="0"/>
                <a:ea typeface="SimSun" panose="02010600030101010101" pitchFamily="2" charset="-122"/>
              </a:rPr>
              <a:t> chí </a:t>
            </a:r>
            <a:r>
              <a:rPr lang="en-US" sz="1200" dirty="0" err="1">
                <a:effectLst/>
                <a:latin typeface="Times New Roman" panose="02020603050405020304" pitchFamily="18" charset="0"/>
                <a:ea typeface="SimSun" panose="02010600030101010101" pitchFamily="2" charset="-122"/>
              </a:rPr>
              <a:t>nghịch</a:t>
            </a:r>
            <a:r>
              <a:rPr lang="en-US" sz="1200" dirty="0">
                <a:effectLst/>
                <a:latin typeface="Times New Roman" panose="02020603050405020304" pitchFamily="18" charset="0"/>
                <a:ea typeface="SimSun" panose="02010600030101010101" pitchFamily="2" charset="-122"/>
              </a:rPr>
              <a:t>.</a:t>
            </a:r>
          </a:p>
        </p:txBody>
      </p:sp>
      <p:pic>
        <p:nvPicPr>
          <p:cNvPr id="19" name="Picture 18" descr="A chart of different colored squares&#10;&#10;AI-generated content may be incorrect.">
            <a:extLst>
              <a:ext uri="{FF2B5EF4-FFF2-40B4-BE49-F238E27FC236}">
                <a16:creationId xmlns:a16="http://schemas.microsoft.com/office/drawing/2014/main" id="{6073E376-5BBD-112D-85B1-CA7C7FC8C9CB}"/>
              </a:ext>
            </a:extLst>
          </p:cNvPr>
          <p:cNvPicPr>
            <a:picLocks noChangeAspect="1"/>
          </p:cNvPicPr>
          <p:nvPr/>
        </p:nvPicPr>
        <p:blipFill>
          <a:blip r:embed="rId3"/>
          <a:stretch>
            <a:fillRect/>
          </a:stretch>
        </p:blipFill>
        <p:spPr>
          <a:xfrm>
            <a:off x="711200" y="1653475"/>
            <a:ext cx="5760720" cy="4629785"/>
          </a:xfrm>
          <a:prstGeom prst="rect">
            <a:avLst/>
          </a:prstGeom>
        </p:spPr>
      </p:pic>
      <p:sp>
        <p:nvSpPr>
          <p:cNvPr id="20" name="TextBox 19">
            <a:extLst>
              <a:ext uri="{FF2B5EF4-FFF2-40B4-BE49-F238E27FC236}">
                <a16:creationId xmlns:a16="http://schemas.microsoft.com/office/drawing/2014/main" id="{A6297168-327C-C553-2281-203051167280}"/>
              </a:ext>
            </a:extLst>
          </p:cNvPr>
          <p:cNvSpPr txBox="1"/>
          <p:nvPr/>
        </p:nvSpPr>
        <p:spPr>
          <a:xfrm>
            <a:off x="1468120" y="6335102"/>
            <a:ext cx="6101080" cy="315151"/>
          </a:xfrm>
          <a:prstGeom prst="rect">
            <a:avLst/>
          </a:prstGeom>
          <a:noFill/>
        </p:spPr>
        <p:txBody>
          <a:bodyPr wrap="square">
            <a:spAutoFit/>
          </a:bodyPr>
          <a:lstStyle>
            <a:defPPr>
              <a:defRPr lang="en-US"/>
            </a:defPPr>
            <a:lvl1pPr marR="0" algn="just">
              <a:lnSpc>
                <a:spcPct val="135000"/>
              </a:lnSpc>
              <a:buNone/>
              <a:defRPr sz="1200">
                <a:solidFill>
                  <a:srgbClr val="000000"/>
                </a:solidFill>
                <a:effectLst/>
                <a:latin typeface="Times New Roman" panose="02020603050405020304" pitchFamily="18" charset="0"/>
                <a:ea typeface="SimHei" panose="02010609060101010101" pitchFamily="49" charset="-122"/>
              </a:defRPr>
            </a:lvl1pPr>
          </a:lstStyle>
          <a:p>
            <a:r>
              <a:rPr lang="vi-VN" dirty="0"/>
              <a:t>Hình 8: Biểu đồ thể hiện </a:t>
            </a:r>
            <a:r>
              <a:rPr lang="en-US" dirty="0" err="1"/>
              <a:t>tương</a:t>
            </a:r>
            <a:r>
              <a:rPr lang="en-US" dirty="0"/>
              <a:t> </a:t>
            </a:r>
            <a:r>
              <a:rPr lang="en-US" dirty="0" err="1"/>
              <a:t>quan</a:t>
            </a:r>
            <a:r>
              <a:rPr lang="en-US" dirty="0"/>
              <a:t> </a:t>
            </a:r>
            <a:r>
              <a:rPr lang="en-US" dirty="0" err="1"/>
              <a:t>giữa</a:t>
            </a:r>
            <a:r>
              <a:rPr lang="en-US" dirty="0"/>
              <a:t> </a:t>
            </a:r>
            <a:r>
              <a:rPr lang="en-US" dirty="0" err="1"/>
              <a:t>các</a:t>
            </a:r>
            <a:r>
              <a:rPr lang="en-US" dirty="0"/>
              <a:t> </a:t>
            </a:r>
            <a:r>
              <a:rPr lang="en-US" dirty="0" err="1"/>
              <a:t>chất</a:t>
            </a:r>
            <a:r>
              <a:rPr lang="en-US" dirty="0"/>
              <a:t> </a:t>
            </a:r>
            <a:r>
              <a:rPr lang="en-US" dirty="0" err="1"/>
              <a:t>chính</a:t>
            </a:r>
            <a:endParaRPr lang="en-US" dirty="0"/>
          </a:p>
        </p:txBody>
      </p:sp>
    </p:spTree>
    <p:extLst>
      <p:ext uri="{BB962C8B-B14F-4D97-AF65-F5344CB8AC3E}">
        <p14:creationId xmlns:p14="http://schemas.microsoft.com/office/powerpoint/2010/main" val="744109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FBFB0-F12A-284C-969C-80E4E953E94A}"/>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CE36BBEA-83DB-0A74-71D1-954102463470}"/>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9E7E7849-AB0E-9F44-92C5-D683F0032F13}"/>
              </a:ext>
            </a:extLst>
          </p:cNvPr>
          <p:cNvCxnSpPr>
            <a:cxnSpLocks/>
          </p:cNvCxnSpPr>
          <p:nvPr/>
        </p:nvCxnSpPr>
        <p:spPr>
          <a:xfrm>
            <a:off x="10002416" y="522898"/>
            <a:ext cx="218958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2BBB7FB6-28A1-455C-BC90-C03E20990A81}"/>
              </a:ext>
            </a:extLst>
          </p:cNvPr>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PHÂN TÍCH</a:t>
            </a:r>
          </a:p>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56AC9E6-7A75-13F6-66B5-58B673B8056B}"/>
              </a:ext>
            </a:extLst>
          </p:cNvPr>
          <p:cNvCxnSpPr>
            <a:cxnSpLocks/>
          </p:cNvCxnSpPr>
          <p:nvPr/>
        </p:nvCxnSpPr>
        <p:spPr>
          <a:xfrm>
            <a:off x="0" y="522898"/>
            <a:ext cx="230466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B01281BC-B0ED-36B9-FF3D-A70A4AE3120F}"/>
              </a:ext>
            </a:extLst>
          </p:cNvPr>
          <p:cNvSpPr>
            <a:spLocks noChangeArrowheads="1"/>
          </p:cNvSpPr>
          <p:nvPr/>
        </p:nvSpPr>
        <p:spPr bwMode="auto">
          <a:xfrm>
            <a:off x="690881" y="555717"/>
            <a:ext cx="9804400" cy="13002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38088" numCol="1" anchor="ctr" anchorCtr="0" compatLnSpc="1">
            <a:prstTxWarp prst="textNoShape">
              <a:avLst/>
            </a:prstTxWarp>
            <a:spAutoFit/>
          </a:bodyPr>
          <a:lstStyle/>
          <a:p>
            <a:pPr eaLnBrk="0" fontAlgn="base" hangingPunct="0">
              <a:spcBef>
                <a:spcPct val="0"/>
              </a:spcBef>
              <a:spcAft>
                <a:spcPct val="0"/>
              </a:spcAft>
            </a:pPr>
            <a:r>
              <a:rPr lang="vi-VN"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 EDA trực quan bằng sơ đồ (Graphical EDA)</a:t>
            </a: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2.7.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Mối</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quan</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hệ</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giữa</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Calories </a:t>
            </a:r>
            <a:r>
              <a:rPr lang="en-US" sz="2400" b="1" dirty="0" err="1"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và</a:t>
            </a:r>
            <a:r>
              <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Protein</a:t>
            </a:r>
          </a:p>
          <a:p>
            <a:pPr eaLnBrk="0" fontAlgn="base" hangingPunct="0">
              <a:spcBef>
                <a:spcPct val="0"/>
              </a:spcBef>
              <a:spcAft>
                <a:spcPct val="0"/>
              </a:spcAft>
            </a:pPr>
            <a:endParaRPr lang="en-US" sz="2400" b="1" dirty="0" bmk="_Toc1111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2" name="Picture 1" descr="A graph with blue dots&#10;&#10;AI-generated content may be incorrect.">
            <a:extLst>
              <a:ext uri="{FF2B5EF4-FFF2-40B4-BE49-F238E27FC236}">
                <a16:creationId xmlns:a16="http://schemas.microsoft.com/office/drawing/2014/main" id="{4F98BD77-E1A0-761F-E589-7BA902279B85}"/>
              </a:ext>
            </a:extLst>
          </p:cNvPr>
          <p:cNvPicPr>
            <a:picLocks noChangeAspect="1"/>
          </p:cNvPicPr>
          <p:nvPr/>
        </p:nvPicPr>
        <p:blipFill>
          <a:blip r:embed="rId3"/>
          <a:srcRect t="2576" r="8417"/>
          <a:stretch>
            <a:fillRect/>
          </a:stretch>
        </p:blipFill>
        <p:spPr>
          <a:xfrm>
            <a:off x="6096000" y="1686293"/>
            <a:ext cx="6024880" cy="4353273"/>
          </a:xfrm>
          <a:prstGeom prst="rect">
            <a:avLst/>
          </a:prstGeom>
        </p:spPr>
      </p:pic>
      <p:sp>
        <p:nvSpPr>
          <p:cNvPr id="7" name="TextBox 6">
            <a:extLst>
              <a:ext uri="{FF2B5EF4-FFF2-40B4-BE49-F238E27FC236}">
                <a16:creationId xmlns:a16="http://schemas.microsoft.com/office/drawing/2014/main" id="{A66B76B9-AD17-FAC9-5DAF-9D1AA196666C}"/>
              </a:ext>
            </a:extLst>
          </p:cNvPr>
          <p:cNvSpPr txBox="1"/>
          <p:nvPr/>
        </p:nvSpPr>
        <p:spPr>
          <a:xfrm>
            <a:off x="7183120" y="6256836"/>
            <a:ext cx="6101080" cy="315151"/>
          </a:xfrm>
          <a:prstGeom prst="rect">
            <a:avLst/>
          </a:prstGeom>
          <a:noFill/>
        </p:spPr>
        <p:txBody>
          <a:bodyPr wrap="square">
            <a:spAutoFit/>
          </a:bodyPr>
          <a:lstStyle>
            <a:defPPr>
              <a:defRPr lang="en-US"/>
            </a:defPPr>
            <a:lvl1pPr marR="0" algn="just">
              <a:lnSpc>
                <a:spcPct val="135000"/>
              </a:lnSpc>
              <a:buNone/>
              <a:defRPr sz="1200">
                <a:solidFill>
                  <a:srgbClr val="000000"/>
                </a:solidFill>
                <a:effectLst/>
                <a:latin typeface="Times New Roman" panose="02020603050405020304" pitchFamily="18" charset="0"/>
                <a:ea typeface="SimHei" panose="02010609060101010101" pitchFamily="49" charset="-122"/>
              </a:defRPr>
            </a:lvl1pPr>
          </a:lstStyle>
          <a:p>
            <a:r>
              <a:rPr lang="vi-VN" dirty="0"/>
              <a:t>Hình 9: Biểu đồ thể hiện</a:t>
            </a:r>
            <a:r>
              <a:rPr lang="en-US" dirty="0"/>
              <a:t> </a:t>
            </a:r>
            <a:r>
              <a:rPr lang="en-US" dirty="0" err="1"/>
              <a:t>mối</a:t>
            </a:r>
            <a:r>
              <a:rPr lang="en-US" dirty="0"/>
              <a:t> </a:t>
            </a:r>
            <a:r>
              <a:rPr lang="en-US" dirty="0" err="1"/>
              <a:t>quan</a:t>
            </a:r>
            <a:r>
              <a:rPr lang="en-US" dirty="0"/>
              <a:t> </a:t>
            </a:r>
            <a:r>
              <a:rPr lang="en-US" dirty="0" err="1"/>
              <a:t>hệ</a:t>
            </a:r>
            <a:r>
              <a:rPr lang="en-US" dirty="0"/>
              <a:t> </a:t>
            </a:r>
            <a:r>
              <a:rPr lang="en-US" dirty="0" err="1"/>
              <a:t>giữa</a:t>
            </a:r>
            <a:r>
              <a:rPr lang="en-US" dirty="0"/>
              <a:t> calories </a:t>
            </a:r>
            <a:r>
              <a:rPr lang="en-US" dirty="0" err="1"/>
              <a:t>và</a:t>
            </a:r>
            <a:r>
              <a:rPr lang="en-US" dirty="0"/>
              <a:t> protein</a:t>
            </a:r>
          </a:p>
        </p:txBody>
      </p:sp>
      <p:sp>
        <p:nvSpPr>
          <p:cNvPr id="9" name="TextBox 8">
            <a:extLst>
              <a:ext uri="{FF2B5EF4-FFF2-40B4-BE49-F238E27FC236}">
                <a16:creationId xmlns:a16="http://schemas.microsoft.com/office/drawing/2014/main" id="{ADDC0E53-78DE-D41F-1B94-F58A40BE0C71}"/>
              </a:ext>
            </a:extLst>
          </p:cNvPr>
          <p:cNvSpPr txBox="1"/>
          <p:nvPr/>
        </p:nvSpPr>
        <p:spPr>
          <a:xfrm>
            <a:off x="220980" y="1563976"/>
            <a:ext cx="6024880" cy="5293757"/>
          </a:xfrm>
          <a:prstGeom prst="rect">
            <a:avLst/>
          </a:prstGeom>
          <a:solidFill>
            <a:schemeClr val="bg1">
              <a:lumMod val="95000"/>
            </a:schemeClr>
          </a:solidFill>
        </p:spPr>
        <p:txBody>
          <a:bodyPr wrap="square">
            <a:spAutoFit/>
          </a:bodyPr>
          <a:lstStyle/>
          <a:p>
            <a:pPr lvl="0"/>
            <a:r>
              <a:rPr lang="en-US" sz="1300" dirty="0" err="1">
                <a:latin typeface="Times New Roman" panose="02020603050405020304" pitchFamily="18" charset="0"/>
                <a:cs typeface="Times New Roman" panose="02020603050405020304" pitchFamily="18" charset="0"/>
              </a:rPr>
              <a:t>Sự</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Tập</a:t>
            </a:r>
            <a:r>
              <a:rPr lang="en-US" sz="1300" dirty="0">
                <a:latin typeface="Times New Roman" panose="02020603050405020304" pitchFamily="18" charset="0"/>
                <a:cs typeface="Times New Roman" panose="02020603050405020304" pitchFamily="18" charset="0"/>
              </a:rPr>
              <a:t> Trung </a:t>
            </a:r>
            <a:r>
              <a:rPr lang="en-US" sz="1300" dirty="0" err="1">
                <a:latin typeface="Times New Roman" panose="02020603050405020304" pitchFamily="18" charset="0"/>
                <a:cs typeface="Times New Roman" panose="02020603050405020304" pitchFamily="18" charset="0"/>
              </a:rPr>
              <a:t>Dữ</a:t>
            </a:r>
            <a:r>
              <a:rPr lang="en-US" sz="1300" dirty="0">
                <a:latin typeface="Times New Roman" panose="02020603050405020304" pitchFamily="18" charset="0"/>
                <a:cs typeface="Times New Roman" panose="02020603050405020304" pitchFamily="18" charset="0"/>
              </a:rPr>
              <a:t> Liệu (</a:t>
            </a:r>
            <a:r>
              <a:rPr lang="en-US" sz="1300" dirty="0" err="1">
                <a:latin typeface="Times New Roman" panose="02020603050405020304" pitchFamily="18" charset="0"/>
                <a:cs typeface="Times New Roman" panose="02020603050405020304" pitchFamily="18" charset="0"/>
              </a:rPr>
              <a:t>Phần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lớn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phẩm</a:t>
            </a:r>
            <a:r>
              <a:rPr lang="en-US" sz="1300" dirty="0">
                <a:latin typeface="Times New Roman" panose="02020603050405020304" pitchFamily="18" charset="0"/>
                <a:cs typeface="Times New Roman" panose="02020603050405020304" pitchFamily="18" charset="0"/>
              </a:rPr>
              <a:t>):</a:t>
            </a:r>
          </a:p>
          <a:p>
            <a:pPr lvl="1"/>
            <a:r>
              <a:rPr lang="en-US" sz="1300" dirty="0" err="1">
                <a:latin typeface="Times New Roman" panose="02020603050405020304" pitchFamily="18" charset="0"/>
                <a:cs typeface="Times New Roman" panose="02020603050405020304" pitchFamily="18" charset="0"/>
              </a:rPr>
              <a:t>Phần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lớn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điểm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dữ</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liệu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tập</a:t>
            </a:r>
            <a:r>
              <a:rPr lang="en-US" sz="1300" dirty="0">
                <a:latin typeface="Times New Roman" panose="02020603050405020304" pitchFamily="18" charset="0"/>
                <a:cs typeface="Times New Roman" panose="02020603050405020304" pitchFamily="18" charset="0"/>
              </a:rPr>
              <a:t> trung </a:t>
            </a:r>
            <a:r>
              <a:rPr lang="en-US" sz="1300" dirty="0" err="1">
                <a:latin typeface="Times New Roman" panose="02020603050405020304" pitchFamily="18" charset="0"/>
                <a:cs typeface="Times New Roman" panose="02020603050405020304" pitchFamily="18" charset="0"/>
              </a:rPr>
              <a:t>dày</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đặc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nằm</a:t>
            </a:r>
            <a:r>
              <a:rPr lang="en-US" sz="1300" dirty="0">
                <a:latin typeface="Times New Roman" panose="02020603050405020304" pitchFamily="18" charset="0"/>
                <a:cs typeface="Times New Roman" panose="02020603050405020304" pitchFamily="18" charset="0"/>
              </a:rPr>
              <a:t> trong phạm vi </a:t>
            </a:r>
            <a:r>
              <a:rPr lang="en-US" sz="1300" b="1" dirty="0">
                <a:latin typeface="Times New Roman" panose="02020603050405020304" pitchFamily="18" charset="0"/>
                <a:cs typeface="Times New Roman" panose="02020603050405020304" pitchFamily="18" charset="0"/>
              </a:rPr>
              <a:t>Calories </a:t>
            </a:r>
            <a:r>
              <a:rPr lang="en-US" sz="1300" b="1" dirty="0" err="1">
                <a:latin typeface="Times New Roman" panose="02020603050405020304" pitchFamily="18" charset="0"/>
                <a:cs typeface="Times New Roman" panose="02020603050405020304" pitchFamily="18" charset="0"/>
              </a:rPr>
              <a:t>thấp</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đến</a:t>
            </a:r>
            <a:r>
              <a:rPr lang="en-US" sz="1300" b="1" dirty="0">
                <a:latin typeface="Times New Roman" panose="02020603050405020304" pitchFamily="18" charset="0"/>
                <a:cs typeface="Times New Roman" panose="02020603050405020304" pitchFamily="18" charset="0"/>
              </a:rPr>
              <a:t> trung </a:t>
            </a:r>
            <a:r>
              <a:rPr lang="en-US" sz="1300" b="1" dirty="0" err="1">
                <a:latin typeface="Times New Roman" panose="02020603050405020304" pitchFamily="18" charset="0"/>
                <a:cs typeface="Times New Roman" panose="02020603050405020304" pitchFamily="18" charset="0"/>
              </a:rPr>
              <a:t>bình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từ</a:t>
            </a:r>
            <a:r>
              <a:rPr lang="en-US" sz="1300" dirty="0">
                <a:latin typeface="Times New Roman" panose="02020603050405020304" pitchFamily="18" charset="0"/>
                <a:cs typeface="Times New Roman" panose="02020603050405020304" pitchFamily="18" charset="0"/>
              </a:rPr>
              <a:t> 0 </a:t>
            </a:r>
            <a:r>
              <a:rPr lang="en-US" sz="1300" dirty="0" err="1">
                <a:latin typeface="Times New Roman" panose="02020603050405020304" pitchFamily="18" charset="0"/>
                <a:cs typeface="Times New Roman" panose="02020603050405020304" pitchFamily="18" charset="0"/>
              </a:rPr>
              <a:t>đến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khoảng</a:t>
            </a:r>
            <a:r>
              <a:rPr lang="en-US" sz="1300" dirty="0">
                <a:latin typeface="Times New Roman" panose="02020603050405020304" pitchFamily="18" charset="0"/>
                <a:cs typeface="Times New Roman" panose="02020603050405020304" pitchFamily="18" charset="0"/>
              </a:rPr>
              <a:t> 1500 kcal)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a:t>
            </a:r>
            <a:r>
              <a:rPr lang="en-US" sz="1300" b="1" dirty="0">
                <a:latin typeface="Times New Roman" panose="02020603050405020304" pitchFamily="18" charset="0"/>
                <a:cs typeface="Times New Roman" panose="02020603050405020304" pitchFamily="18" charset="0"/>
              </a:rPr>
              <a:t>Protein </a:t>
            </a:r>
            <a:r>
              <a:rPr lang="en-US" sz="1300" b="1" dirty="0" err="1">
                <a:latin typeface="Times New Roman" panose="02020603050405020304" pitchFamily="18" charset="0"/>
                <a:cs typeface="Times New Roman" panose="02020603050405020304" pitchFamily="18" charset="0"/>
              </a:rPr>
              <a:t>thấp</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từ</a:t>
            </a:r>
            <a:r>
              <a:rPr lang="en-US" sz="1300" dirty="0">
                <a:latin typeface="Times New Roman" panose="02020603050405020304" pitchFamily="18" charset="0"/>
                <a:cs typeface="Times New Roman" panose="02020603050405020304" pitchFamily="18" charset="0"/>
              </a:rPr>
              <a:t> 0 </a:t>
            </a:r>
            <a:r>
              <a:rPr lang="en-US" sz="1300" dirty="0" err="1">
                <a:latin typeface="Times New Roman" panose="02020603050405020304" pitchFamily="18" charset="0"/>
                <a:cs typeface="Times New Roman" panose="02020603050405020304" pitchFamily="18" charset="0"/>
              </a:rPr>
              <a:t>đến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khoảng</a:t>
            </a:r>
            <a:r>
              <a:rPr lang="en-US" sz="1300" dirty="0">
                <a:latin typeface="Times New Roman" panose="02020603050405020304" pitchFamily="18" charset="0"/>
                <a:cs typeface="Times New Roman" panose="02020603050405020304" pitchFamily="18" charset="0"/>
              </a:rPr>
              <a:t> 40 g). </a:t>
            </a:r>
            <a:r>
              <a:rPr lang="en-US" sz="1300" dirty="0" err="1">
                <a:latin typeface="Times New Roman" panose="02020603050405020304" pitchFamily="18" charset="0"/>
                <a:cs typeface="Times New Roman" panose="02020603050405020304" pitchFamily="18" charset="0"/>
              </a:rPr>
              <a:t>Điều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này</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tạo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thành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một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đám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mây</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hình</a:t>
            </a:r>
            <a:r>
              <a:rPr lang="en-US" sz="1300" dirty="0">
                <a:latin typeface="Times New Roman" panose="02020603050405020304" pitchFamily="18" charset="0"/>
                <a:cs typeface="Times New Roman" panose="02020603050405020304" pitchFamily="18" charset="0"/>
              </a:rPr>
              <a:t> tam </a:t>
            </a:r>
            <a:r>
              <a:rPr lang="en-US" sz="1300" dirty="0" err="1">
                <a:latin typeface="Times New Roman" panose="02020603050405020304" pitchFamily="18" charset="0"/>
                <a:cs typeface="Times New Roman" panose="02020603050405020304" pitchFamily="18" charset="0"/>
              </a:rPr>
              <a:t>giác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lớn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thấy</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phần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lớn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phẩm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năng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protein </a:t>
            </a:r>
            <a:r>
              <a:rPr lang="en-US" sz="1300" dirty="0" err="1">
                <a:latin typeface="Times New Roman" panose="02020603050405020304" pitchFamily="18" charset="0"/>
                <a:cs typeface="Times New Roman" panose="02020603050405020304" pitchFamily="18" charset="0"/>
              </a:rPr>
              <a:t>vừa</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phải</a:t>
            </a:r>
            <a:r>
              <a:rPr lang="en-US" sz="1300" dirty="0">
                <a:latin typeface="Times New Roman" panose="02020603050405020304" pitchFamily="18" charset="0"/>
                <a:cs typeface="Times New Roman" panose="02020603050405020304" pitchFamily="18" charset="0"/>
              </a:rPr>
              <a:t>.</a:t>
            </a:r>
          </a:p>
          <a:p>
            <a:pPr lvl="1"/>
            <a:endParaRPr lang="en-US" sz="1300" dirty="0">
              <a:latin typeface="Times New Roman" panose="02020603050405020304" pitchFamily="18" charset="0"/>
              <a:cs typeface="Times New Roman" panose="02020603050405020304" pitchFamily="18" charset="0"/>
            </a:endParaRPr>
          </a:p>
          <a:p>
            <a:pPr lvl="0"/>
            <a:r>
              <a:rPr lang="en-US" sz="1300" dirty="0" err="1">
                <a:latin typeface="Times New Roman" panose="02020603050405020304" pitchFamily="18" charset="0"/>
                <a:cs typeface="Times New Roman" panose="02020603050405020304" pitchFamily="18" charset="0"/>
              </a:rPr>
              <a:t>Mối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Tương</a:t>
            </a:r>
            <a:r>
              <a:rPr lang="en-US" sz="1300" dirty="0">
                <a:latin typeface="Times New Roman" panose="02020603050405020304" pitchFamily="18" charset="0"/>
                <a:cs typeface="Times New Roman" panose="02020603050405020304" pitchFamily="18" charset="0"/>
              </a:rPr>
              <a:t> Quan </a:t>
            </a:r>
            <a:r>
              <a:rPr lang="en-US" sz="1300" dirty="0" err="1">
                <a:latin typeface="Times New Roman" panose="02020603050405020304" pitchFamily="18" charset="0"/>
                <a:cs typeface="Times New Roman" panose="02020603050405020304" pitchFamily="18" charset="0"/>
              </a:rPr>
              <a:t>Tổng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Thể</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Tương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quan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thuận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yếu</a:t>
            </a:r>
            <a:r>
              <a:rPr lang="en-US" sz="1300" dirty="0">
                <a:latin typeface="Times New Roman" panose="02020603050405020304" pitchFamily="18" charset="0"/>
                <a:cs typeface="Times New Roman" panose="02020603050405020304" pitchFamily="18" charset="0"/>
              </a:rPr>
              <a:t>):</a:t>
            </a:r>
          </a:p>
          <a:p>
            <a:pPr lvl="1"/>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một</a:t>
            </a:r>
            <a:r>
              <a:rPr lang="en-US" sz="1300"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mối</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quan</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hệ</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tương</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quan</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thuận</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yếu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giữa</a:t>
            </a:r>
            <a:r>
              <a:rPr lang="en-US" sz="1300" dirty="0">
                <a:latin typeface="Times New Roman" panose="02020603050405020304" pitchFamily="18" charset="0"/>
                <a:cs typeface="Times New Roman" panose="02020603050405020304" pitchFamily="18" charset="0"/>
              </a:rPr>
              <a:t> Calories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Protein. Khi Calories </a:t>
            </a:r>
            <a:r>
              <a:rPr lang="en-US" sz="1300" dirty="0" err="1">
                <a:latin typeface="Times New Roman" panose="02020603050405020304" pitchFamily="18" charset="0"/>
                <a:cs typeface="Times New Roman" panose="02020603050405020304" pitchFamily="18" charset="0"/>
              </a:rPr>
              <a:t>tăng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Protein </a:t>
            </a:r>
            <a:r>
              <a:rPr lang="en-US" sz="1300" dirty="0" err="1">
                <a:latin typeface="Times New Roman" panose="02020603050405020304" pitchFamily="18" charset="0"/>
                <a:cs typeface="Times New Roman" panose="02020603050405020304" pitchFamily="18" charset="0"/>
              </a:rPr>
              <a:t>cũng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xu </a:t>
            </a:r>
            <a:r>
              <a:rPr lang="en-US" sz="1300" dirty="0" err="1">
                <a:latin typeface="Times New Roman" panose="02020603050405020304" pitchFamily="18" charset="0"/>
                <a:cs typeface="Times New Roman" panose="02020603050405020304" pitchFamily="18" charset="0"/>
              </a:rPr>
              <a:t>hướng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tăng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nhưng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mối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quan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hệ</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này</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không</a:t>
            </a:r>
            <a:r>
              <a:rPr lang="en-US" sz="1300" dirty="0">
                <a:latin typeface="Times New Roman" panose="02020603050405020304" pitchFamily="18" charset="0"/>
                <a:cs typeface="Times New Roman" panose="02020603050405020304" pitchFamily="18" charset="0"/>
              </a:rPr>
              <a:t> mạnh </a:t>
            </a:r>
            <a:r>
              <a:rPr lang="en-US" sz="1300" dirty="0" err="1">
                <a:latin typeface="Times New Roman" panose="02020603050405020304" pitchFamily="18" charset="0"/>
                <a:cs typeface="Times New Roman" panose="02020603050405020304" pitchFamily="18" charset="0"/>
              </a:rPr>
              <a:t>mẽ</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Điều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này</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phù</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hợp</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với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hệ</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số</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tương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quan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thấp</a:t>
            </a:r>
            <a:r>
              <a:rPr lang="en-US" sz="1300" dirty="0">
                <a:latin typeface="Times New Roman" panose="02020603050405020304" pitchFamily="18" charset="0"/>
                <a:cs typeface="Times New Roman" panose="02020603050405020304" pitchFamily="18" charset="0"/>
              </a:rPr>
              <a:t> (+0.20) </a:t>
            </a:r>
            <a:r>
              <a:rPr lang="en-US" sz="1300" dirty="0" err="1">
                <a:latin typeface="Times New Roman" panose="02020603050405020304" pitchFamily="18" charset="0"/>
                <a:cs typeface="Times New Roman" panose="02020603050405020304" pitchFamily="18" charset="0"/>
              </a:rPr>
              <a:t>đã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thấy</a:t>
            </a:r>
            <a:r>
              <a:rPr lang="en-US" sz="1300" dirty="0">
                <a:latin typeface="Times New Roman" panose="02020603050405020304" pitchFamily="18" charset="0"/>
                <a:cs typeface="Times New Roman" panose="02020603050405020304" pitchFamily="18" charset="0"/>
              </a:rPr>
              <a:t> trong </a:t>
            </a:r>
            <a:r>
              <a:rPr lang="en-US" sz="1300" dirty="0" err="1">
                <a:latin typeface="Times New Roman" panose="02020603050405020304" pitchFamily="18" charset="0"/>
                <a:cs typeface="Times New Roman" panose="02020603050405020304" pitchFamily="18" charset="0"/>
              </a:rPr>
              <a:t>biểu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đồ</a:t>
            </a:r>
            <a:r>
              <a:rPr lang="en-US" sz="1300" dirty="0">
                <a:latin typeface="Times New Roman" panose="02020603050405020304" pitchFamily="18" charset="0"/>
                <a:cs typeface="Times New Roman" panose="02020603050405020304" pitchFamily="18" charset="0"/>
              </a:rPr>
              <a:t> ma </a:t>
            </a:r>
            <a:r>
              <a:rPr lang="en-US" sz="1300" dirty="0" err="1">
                <a:latin typeface="Times New Roman" panose="02020603050405020304" pitchFamily="18" charset="0"/>
                <a:cs typeface="Times New Roman" panose="02020603050405020304" pitchFamily="18" charset="0"/>
              </a:rPr>
              <a:t>trận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tương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quan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trước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đó</a:t>
            </a:r>
            <a:r>
              <a:rPr lang="en-US" sz="1300" dirty="0">
                <a:latin typeface="Times New Roman" panose="02020603050405020304" pitchFamily="18" charset="0"/>
                <a:cs typeface="Times New Roman" panose="02020603050405020304" pitchFamily="18" charset="0"/>
              </a:rPr>
              <a:t>.</a:t>
            </a:r>
          </a:p>
          <a:p>
            <a:pPr lvl="1"/>
            <a:endParaRPr lang="en-US" sz="1300" dirty="0">
              <a:latin typeface="Times New Roman" panose="02020603050405020304" pitchFamily="18" charset="0"/>
              <a:cs typeface="Times New Roman" panose="02020603050405020304" pitchFamily="18" charset="0"/>
            </a:endParaRPr>
          </a:p>
          <a:p>
            <a:pPr lvl="0"/>
            <a:r>
              <a:rPr lang="en-US" sz="1300" dirty="0">
                <a:latin typeface="Times New Roman" panose="02020603050405020304" pitchFamily="18" charset="0"/>
                <a:cs typeface="Times New Roman" panose="02020603050405020304" pitchFamily="18" charset="0"/>
              </a:rPr>
              <a:t>Các </a:t>
            </a:r>
            <a:r>
              <a:rPr lang="en-US" sz="1300" dirty="0" err="1">
                <a:latin typeface="Times New Roman" panose="02020603050405020304" pitchFamily="18" charset="0"/>
                <a:cs typeface="Times New Roman" panose="02020603050405020304" pitchFamily="18" charset="0"/>
              </a:rPr>
              <a:t>Điểm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Dữ</a:t>
            </a:r>
            <a:r>
              <a:rPr lang="en-US" sz="1300" dirty="0">
                <a:latin typeface="Times New Roman" panose="02020603050405020304" pitchFamily="18" charset="0"/>
                <a:cs typeface="Times New Roman" panose="02020603050405020304" pitchFamily="18" charset="0"/>
              </a:rPr>
              <a:t> Liệu </a:t>
            </a:r>
            <a:r>
              <a:rPr lang="en-US" sz="1300" dirty="0" err="1">
                <a:latin typeface="Times New Roman" panose="02020603050405020304" pitchFamily="18" charset="0"/>
                <a:cs typeface="Times New Roman" panose="02020603050405020304" pitchFamily="18" charset="0"/>
              </a:rPr>
              <a:t>Ngoại</a:t>
            </a:r>
            <a:r>
              <a:rPr lang="en-US" sz="1300" dirty="0">
                <a:latin typeface="Times New Roman" panose="02020603050405020304" pitchFamily="18" charset="0"/>
                <a:cs typeface="Times New Roman" panose="02020603050405020304" pitchFamily="18" charset="0"/>
              </a:rPr>
              <a:t> Lai (Thực </a:t>
            </a:r>
            <a:r>
              <a:rPr lang="en-US" sz="1300" dirty="0" err="1">
                <a:latin typeface="Times New Roman" panose="02020603050405020304" pitchFamily="18" charset="0"/>
                <a:cs typeface="Times New Roman" panose="02020603050405020304" pitchFamily="18" charset="0"/>
              </a:rPr>
              <a:t>phẩm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giàu</a:t>
            </a:r>
            <a:r>
              <a:rPr lang="en-US" sz="1300" dirty="0">
                <a:latin typeface="Times New Roman" panose="02020603050405020304" pitchFamily="18" charset="0"/>
                <a:cs typeface="Times New Roman" panose="02020603050405020304" pitchFamily="18" charset="0"/>
              </a:rPr>
              <a:t> Calories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Protein):</a:t>
            </a:r>
          </a:p>
          <a:p>
            <a:pPr lvl="1"/>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nhiều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điểm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dữ</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liệu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phân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cao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xa </a:t>
            </a:r>
            <a:r>
              <a:rPr lang="en-US" sz="1300" dirty="0" err="1">
                <a:latin typeface="Times New Roman" panose="02020603050405020304" pitchFamily="18" charset="0"/>
                <a:cs typeface="Times New Roman" panose="02020603050405020304" pitchFamily="18" charset="0"/>
              </a:rPr>
              <a:t>hơn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đặc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biệt</a:t>
            </a:r>
            <a:r>
              <a:rPr lang="en-US" sz="1300" dirty="0">
                <a:latin typeface="Times New Roman" panose="02020603050405020304" pitchFamily="18" charset="0"/>
                <a:cs typeface="Times New Roman" panose="02020603050405020304" pitchFamily="18" charset="0"/>
              </a:rPr>
              <a:t> ở phạm vi </a:t>
            </a:r>
            <a:r>
              <a:rPr lang="en-US" sz="1300" b="1" dirty="0">
                <a:latin typeface="Times New Roman" panose="02020603050405020304" pitchFamily="18" charset="0"/>
                <a:cs typeface="Times New Roman" panose="02020603050405020304" pitchFamily="18" charset="0"/>
              </a:rPr>
              <a:t>Calories trung </a:t>
            </a:r>
            <a:r>
              <a:rPr lang="en-US" sz="1300" b="1" dirty="0" err="1">
                <a:latin typeface="Times New Roman" panose="02020603050405020304" pitchFamily="18" charset="0"/>
                <a:cs typeface="Times New Roman" panose="02020603050405020304" pitchFamily="18" charset="0"/>
              </a:rPr>
              <a:t>bình</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đến</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cao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khoảng</a:t>
            </a:r>
            <a:r>
              <a:rPr lang="en-US" sz="1300" dirty="0">
                <a:latin typeface="Times New Roman" panose="02020603050405020304" pitchFamily="18" charset="0"/>
                <a:cs typeface="Times New Roman" panose="02020603050405020304" pitchFamily="18" charset="0"/>
              </a:rPr>
              <a:t> 1500 kcal </a:t>
            </a:r>
            <a:r>
              <a:rPr lang="en-US" sz="1300" dirty="0" err="1">
                <a:latin typeface="Times New Roman" panose="02020603050405020304" pitchFamily="18" charset="0"/>
                <a:cs typeface="Times New Roman" panose="02020603050405020304" pitchFamily="18" charset="0"/>
              </a:rPr>
              <a:t>trở</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lên</a:t>
            </a:r>
            <a:r>
              <a:rPr lang="en-US" sz="1300" dirty="0">
                <a:latin typeface="Times New Roman" panose="02020603050405020304" pitchFamily="18" charset="0"/>
                <a:cs typeface="Times New Roman" panose="02020603050405020304" pitchFamily="18" charset="0"/>
              </a:rPr>
              <a:t>).</a:t>
            </a:r>
          </a:p>
          <a:p>
            <a:pPr lvl="1"/>
            <a:r>
              <a:rPr lang="en-US" sz="1300" b="1" dirty="0">
                <a:latin typeface="Times New Roman" panose="02020603050405020304" pitchFamily="18" charset="0"/>
                <a:cs typeface="Times New Roman" panose="02020603050405020304" pitchFamily="18" charset="0"/>
              </a:rPr>
              <a:t>Thực </a:t>
            </a:r>
            <a:r>
              <a:rPr lang="en-US" sz="1300" b="1" dirty="0" err="1">
                <a:latin typeface="Times New Roman" panose="02020603050405020304" pitchFamily="18" charset="0"/>
                <a:cs typeface="Times New Roman" panose="02020603050405020304" pitchFamily="18" charset="0"/>
              </a:rPr>
              <a:t>phẩm</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giàu</a:t>
            </a:r>
            <a:r>
              <a:rPr lang="en-US" sz="1300" b="1" dirty="0">
                <a:latin typeface="Times New Roman" panose="02020603050405020304" pitchFamily="18" charset="0"/>
                <a:cs typeface="Times New Roman" panose="02020603050405020304" pitchFamily="18" charset="0"/>
              </a:rPr>
              <a:t> Protein (</a:t>
            </a:r>
            <a:r>
              <a:rPr lang="en-US" sz="1300" b="1" dirty="0" err="1">
                <a:latin typeface="Times New Roman" panose="02020603050405020304" pitchFamily="18" charset="0"/>
                <a:cs typeface="Times New Roman" panose="02020603050405020304" pitchFamily="18" charset="0"/>
              </a:rPr>
              <a:t>trên</a:t>
            </a:r>
            <a:r>
              <a:rPr lang="en-US" sz="1300" b="1" dirty="0">
                <a:latin typeface="Times New Roman" panose="02020603050405020304" pitchFamily="18" charset="0"/>
                <a:cs typeface="Times New Roman" panose="02020603050405020304" pitchFamily="18" charset="0"/>
              </a:rPr>
              <a:t> 60 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Một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số</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phẩm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Protein </a:t>
            </a:r>
            <a:r>
              <a:rPr lang="en-US" sz="1300" dirty="0" err="1">
                <a:latin typeface="Times New Roman" panose="02020603050405020304" pitchFamily="18" charset="0"/>
                <a:cs typeface="Times New Roman" panose="02020603050405020304" pitchFamily="18" charset="0"/>
              </a:rPr>
              <a:t>rất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cao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lên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đến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hơn</a:t>
            </a:r>
            <a:r>
              <a:rPr lang="en-US" sz="1300" dirty="0">
                <a:latin typeface="Times New Roman" panose="02020603050405020304" pitchFamily="18" charset="0"/>
                <a:cs typeface="Times New Roman" panose="02020603050405020304" pitchFamily="18" charset="0"/>
              </a:rPr>
              <a:t> 80 g) </a:t>
            </a:r>
            <a:r>
              <a:rPr lang="en-US" sz="1300" dirty="0" err="1">
                <a:latin typeface="Times New Roman" panose="02020603050405020304" pitchFamily="18" charset="0"/>
                <a:cs typeface="Times New Roman" panose="02020603050405020304" pitchFamily="18" charset="0"/>
              </a:rPr>
              <a:t>thường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nằm</a:t>
            </a:r>
            <a:r>
              <a:rPr lang="en-US" sz="1300" dirty="0">
                <a:latin typeface="Times New Roman" panose="02020603050405020304" pitchFamily="18" charset="0"/>
                <a:cs typeface="Times New Roman" panose="02020603050405020304" pitchFamily="18" charset="0"/>
              </a:rPr>
              <a:t> trong phạm vi Calories </a:t>
            </a:r>
            <a:r>
              <a:rPr lang="en-US" sz="1300" dirty="0" err="1">
                <a:latin typeface="Times New Roman" panose="02020603050405020304" pitchFamily="18" charset="0"/>
                <a:cs typeface="Times New Roman" panose="02020603050405020304" pitchFamily="18" charset="0"/>
              </a:rPr>
              <a:t>từ</a:t>
            </a:r>
            <a:r>
              <a:rPr lang="en-US" sz="1300" dirty="0">
                <a:latin typeface="Times New Roman" panose="02020603050405020304" pitchFamily="18" charset="0"/>
                <a:cs typeface="Times New Roman" panose="02020603050405020304" pitchFamily="18" charset="0"/>
              </a:rPr>
              <a:t> 1000 </a:t>
            </a:r>
            <a:r>
              <a:rPr lang="en-US" sz="1300" dirty="0" err="1">
                <a:latin typeface="Times New Roman" panose="02020603050405020304" pitchFamily="18" charset="0"/>
                <a:cs typeface="Times New Roman" panose="02020603050405020304" pitchFamily="18" charset="0"/>
              </a:rPr>
              <a:t>đến</a:t>
            </a:r>
            <a:r>
              <a:rPr lang="en-US" sz="1300" dirty="0">
                <a:latin typeface="Times New Roman" panose="02020603050405020304" pitchFamily="18" charset="0"/>
                <a:cs typeface="Times New Roman" panose="02020603050405020304" pitchFamily="18" charset="0"/>
              </a:rPr>
              <a:t> 2000 kcal. </a:t>
            </a:r>
            <a:r>
              <a:rPr lang="en-US" sz="1300" dirty="0" err="1">
                <a:latin typeface="Times New Roman" panose="02020603050405020304" pitchFamily="18" charset="0"/>
                <a:cs typeface="Times New Roman" panose="02020603050405020304" pitchFamily="18" charset="0"/>
              </a:rPr>
              <a:t>Đây</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thể</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là</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loại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bột</a:t>
            </a:r>
            <a:r>
              <a:rPr lang="en-US" sz="1300" dirty="0">
                <a:latin typeface="Times New Roman" panose="02020603050405020304" pitchFamily="18" charset="0"/>
                <a:cs typeface="Times New Roman" panose="02020603050405020304" pitchFamily="18" charset="0"/>
              </a:rPr>
              <a:t> protein </a:t>
            </a:r>
            <a:r>
              <a:rPr lang="en-US" sz="1300" dirty="0" err="1">
                <a:latin typeface="Times New Roman" panose="02020603050405020304" pitchFamily="18" charset="0"/>
                <a:cs typeface="Times New Roman" panose="02020603050405020304" pitchFamily="18" charset="0"/>
              </a:rPr>
              <a:t>cô</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đặc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hoặc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loại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thịt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khô</a:t>
            </a:r>
            <a:r>
              <a:rPr lang="en-US" sz="1300" dirty="0">
                <a:latin typeface="Times New Roman" panose="02020603050405020304" pitchFamily="18" charset="0"/>
                <a:cs typeface="Times New Roman" panose="02020603050405020304" pitchFamily="18" charset="0"/>
              </a:rPr>
              <a:t>/</a:t>
            </a:r>
            <a:r>
              <a:rPr lang="en-US" sz="1300" dirty="0" err="1">
                <a:latin typeface="Times New Roman" panose="02020603050405020304" pitchFamily="18" charset="0"/>
                <a:cs typeface="Times New Roman" panose="02020603050405020304" pitchFamily="18" charset="0"/>
              </a:rPr>
              <a:t>cô</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đặc</a:t>
            </a:r>
            <a:r>
              <a:rPr lang="en-US" sz="1300" dirty="0">
                <a:latin typeface="Times New Roman" panose="02020603050405020304" pitchFamily="18" charset="0"/>
                <a:cs typeface="Times New Roman" panose="02020603050405020304" pitchFamily="18" charset="0"/>
              </a:rPr>
              <a:t>.</a:t>
            </a:r>
          </a:p>
          <a:p>
            <a:pPr lvl="1"/>
            <a:endParaRPr lang="en-US" sz="1300" dirty="0">
              <a:latin typeface="Times New Roman" panose="02020603050405020304" pitchFamily="18" charset="0"/>
              <a:cs typeface="Times New Roman" panose="02020603050405020304" pitchFamily="18" charset="0"/>
            </a:endParaRPr>
          </a:p>
          <a:p>
            <a:pPr lvl="0"/>
            <a:r>
              <a:rPr lang="en-US" sz="1300" dirty="0" err="1">
                <a:latin typeface="Times New Roman" panose="02020603050405020304" pitchFamily="18" charset="0"/>
                <a:cs typeface="Times New Roman" panose="02020603050405020304" pitchFamily="18" charset="0"/>
              </a:rPr>
              <a:t>Giới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Protein ở Calories Cao</a:t>
            </a:r>
            <a:r>
              <a:rPr lang="en-US" sz="1300" b="1" dirty="0">
                <a:latin typeface="Times New Roman" panose="02020603050405020304" pitchFamily="18" charset="0"/>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a:p>
            <a:pPr lvl="1"/>
            <a:r>
              <a:rPr lang="en-US" sz="1300" dirty="0">
                <a:latin typeface="Times New Roman" panose="02020603050405020304" pitchFamily="18" charset="0"/>
                <a:cs typeface="Times New Roman" panose="02020603050405020304" pitchFamily="18" charset="0"/>
              </a:rPr>
              <a:t>Khi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Calories </a:t>
            </a:r>
            <a:r>
              <a:rPr lang="en-US" sz="1300" b="1" dirty="0" err="1">
                <a:latin typeface="Times New Roman" panose="02020603050405020304" pitchFamily="18" charset="0"/>
                <a:cs typeface="Times New Roman" panose="02020603050405020304" pitchFamily="18" charset="0"/>
              </a:rPr>
              <a:t>cực</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cao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trên</a:t>
            </a:r>
            <a:r>
              <a:rPr lang="en-US" sz="1300" dirty="0">
                <a:latin typeface="Times New Roman" panose="02020603050405020304" pitchFamily="18" charset="0"/>
                <a:cs typeface="Times New Roman" panose="02020603050405020304" pitchFamily="18" charset="0"/>
              </a:rPr>
              <a:t> 2500 kcal),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Protein </a:t>
            </a:r>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xu </a:t>
            </a:r>
            <a:r>
              <a:rPr lang="en-US" sz="1300" dirty="0" err="1">
                <a:latin typeface="Times New Roman" panose="02020603050405020304" pitchFamily="18" charset="0"/>
                <a:cs typeface="Times New Roman" panose="02020603050405020304" pitchFamily="18" charset="0"/>
              </a:rPr>
              <a:t>hướng</a:t>
            </a:r>
            <a:r>
              <a:rPr lang="en-US" sz="1300"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giảm</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dần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hoặc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bị</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giới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hạn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hiếm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vượt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quá</a:t>
            </a:r>
            <a:r>
              <a:rPr lang="en-US" sz="1300" dirty="0">
                <a:latin typeface="Times New Roman" panose="02020603050405020304" pitchFamily="18" charset="0"/>
                <a:cs typeface="Times New Roman" panose="02020603050405020304" pitchFamily="18" charset="0"/>
              </a:rPr>
              <a:t> 30-40 g. Những </a:t>
            </a:r>
            <a:r>
              <a:rPr lang="en-US" sz="1300" dirty="0" err="1">
                <a:latin typeface="Times New Roman" panose="02020603050405020304" pitchFamily="18" charset="0"/>
                <a:cs typeface="Times New Roman" panose="02020603050405020304" pitchFamily="18" charset="0"/>
              </a:rPr>
              <a:t>thực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phẩm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này</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thường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là</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loại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dầu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chất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béo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hoặc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phẩm</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chế</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biến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giàu</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chất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béo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a:t>
            </a:r>
            <a:r>
              <a:rPr lang="en-US" sz="1300" dirty="0" err="1">
                <a:latin typeface="Times New Roman" panose="02020603050405020304" pitchFamily="18" charset="0"/>
                <a:cs typeface="Times New Roman" panose="02020603050405020304" pitchFamily="18" charset="0"/>
              </a:rPr>
              <a:t>hoặc</a:t>
            </a:r>
            <a:r>
              <a:rPr lang="en-US" sz="1300" dirty="0">
                <a:latin typeface="Times New Roman" panose="02020603050405020304" pitchFamily="18" charset="0"/>
                <a:cs typeface="Times New Roman" panose="02020603050405020304" pitchFamily="18" charset="0"/>
              </a:rPr>
              <a:t> carbohydrate, </a:t>
            </a:r>
            <a:r>
              <a:rPr lang="en-US" sz="1300" dirty="0" err="1">
                <a:latin typeface="Times New Roman" panose="02020603050405020304" pitchFamily="18" charset="0"/>
                <a:cs typeface="Times New Roman" panose="02020603050405020304" pitchFamily="18" charset="0"/>
              </a:rPr>
              <a:t>vốn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là</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những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chất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đóng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góp</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chính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vào</a:t>
            </a:r>
            <a:r>
              <a:rPr lang="en-US" sz="1300" dirty="0">
                <a:latin typeface="Times New Roman" panose="02020603050405020304" pitchFamily="18" charset="0"/>
                <a:cs typeface="Times New Roman" panose="02020603050405020304" pitchFamily="18" charset="0"/>
              </a:rPr>
              <a:t> Calories </a:t>
            </a:r>
            <a:r>
              <a:rPr lang="en-US" sz="1300" dirty="0" err="1">
                <a:latin typeface="Times New Roman" panose="02020603050405020304" pitchFamily="18" charset="0"/>
                <a:cs typeface="Times New Roman" panose="02020603050405020304" pitchFamily="18" charset="0"/>
              </a:rPr>
              <a:t>cao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như</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thấy</a:t>
            </a:r>
            <a:r>
              <a:rPr lang="en-US" sz="1300" dirty="0">
                <a:latin typeface="Times New Roman" panose="02020603050405020304" pitchFamily="18" charset="0"/>
                <a:cs typeface="Times New Roman" panose="02020603050405020304" pitchFamily="18" charset="0"/>
              </a:rPr>
              <a:t> qua </a:t>
            </a:r>
            <a:r>
              <a:rPr lang="en-US" sz="1300" dirty="0" err="1">
                <a:latin typeface="Times New Roman" panose="02020603050405020304" pitchFamily="18" charset="0"/>
                <a:cs typeface="Times New Roman" panose="02020603050405020304" pitchFamily="18" charset="0"/>
              </a:rPr>
              <a:t>tương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quan</a:t>
            </a:r>
            <a:r>
              <a:rPr lang="en-US" sz="1300" dirty="0">
                <a:latin typeface="Times New Roman" panose="02020603050405020304" pitchFamily="18" charset="0"/>
                <a:cs typeface="Times New Roman" panose="02020603050405020304" pitchFamily="18" charset="0"/>
              </a:rPr>
              <a:t> +0.77với Fat).</a:t>
            </a:r>
          </a:p>
        </p:txBody>
      </p:sp>
    </p:spTree>
    <p:extLst>
      <p:ext uri="{BB962C8B-B14F-4D97-AF65-F5344CB8AC3E}">
        <p14:creationId xmlns:p14="http://schemas.microsoft.com/office/powerpoint/2010/main" val="3611751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1822F-2E04-8905-858A-A7571213F941}"/>
            </a:ext>
          </a:extLst>
        </p:cNvPr>
        <p:cNvGrpSpPr/>
        <p:nvPr/>
      </p:nvGrpSpPr>
      <p:grpSpPr>
        <a:xfrm>
          <a:off x="0" y="0"/>
          <a:ext cx="0" cy="0"/>
          <a:chOff x="0" y="0"/>
          <a:chExt cx="0" cy="0"/>
        </a:xfrm>
      </p:grpSpPr>
      <p:sp>
        <p:nvSpPr>
          <p:cNvPr id="4" name="Title 3" hidden="1">
            <a:extLst>
              <a:ext uri="{FF2B5EF4-FFF2-40B4-BE49-F238E27FC236}">
                <a16:creationId xmlns:a16="http://schemas.microsoft.com/office/drawing/2014/main" id="{FB61E394-1EB5-4DB1-4FB6-F3122943AE08}"/>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76E2798B-11DE-4774-CEE5-A1D5DFC31F7E}"/>
              </a:ext>
            </a:extLst>
          </p:cNvPr>
          <p:cNvCxnSpPr>
            <a:cxnSpLocks/>
          </p:cNvCxnSpPr>
          <p:nvPr/>
        </p:nvCxnSpPr>
        <p:spPr>
          <a:xfrm>
            <a:off x="10002416" y="522898"/>
            <a:ext cx="218958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4A4FA10-8A29-4977-E6B4-4CC64134B1ED}"/>
              </a:ext>
            </a:extLst>
          </p:cNvPr>
          <p:cNvSpPr txBox="1"/>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PHÂN TÍCH</a:t>
            </a:r>
          </a:p>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A1D3155C-4E6B-0AE1-3AFD-BA63703EEB02}"/>
              </a:ext>
            </a:extLst>
          </p:cNvPr>
          <p:cNvCxnSpPr>
            <a:cxnSpLocks/>
          </p:cNvCxnSpPr>
          <p:nvPr/>
        </p:nvCxnSpPr>
        <p:spPr>
          <a:xfrm>
            <a:off x="0" y="522898"/>
            <a:ext cx="230466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2034F971-C32F-9E80-7686-7CA2CB6F05B6}"/>
              </a:ext>
            </a:extLst>
          </p:cNvPr>
          <p:cNvSpPr>
            <a:spLocks noChangeArrowheads="1"/>
          </p:cNvSpPr>
          <p:nvPr/>
        </p:nvSpPr>
        <p:spPr bwMode="auto">
          <a:xfrm>
            <a:off x="711201" y="578834"/>
            <a:ext cx="9804400" cy="166962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38088" numCol="1" anchor="ctr" anchorCtr="0" compatLnSpc="1">
            <a:prstTxWarp prst="textNoShape">
              <a:avLst/>
            </a:prstTxWarp>
            <a:spAutoFit/>
          </a:bodyPr>
          <a:lstStyle/>
          <a:p>
            <a:pPr eaLnBrk="0" fontAlgn="base" hangingPunct="0">
              <a:spcBef>
                <a:spcPct val="0"/>
              </a:spcBef>
              <a:spcAft>
                <a:spcPct val="0"/>
              </a:spcAft>
            </a:pPr>
            <a:r>
              <a:rPr lang="vi-VN"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 EDA trực quan bằng sơ đồ (Graphical EDA)</a:t>
            </a:r>
            <a:endPar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2.8. </a:t>
            </a:r>
            <a:r>
              <a:rPr lang="vi-VN"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Độ lệch chuẩn </a:t>
            </a:r>
            <a:r>
              <a:rPr lang="en-US" sz="24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các</a:t>
            </a:r>
            <a:r>
              <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chất</a:t>
            </a:r>
            <a:r>
              <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dinh </a:t>
            </a:r>
            <a:r>
              <a:rPr lang="en-US" sz="24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dưỡng</a:t>
            </a:r>
            <a:r>
              <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trong </a:t>
            </a:r>
            <a:r>
              <a:rPr lang="en-US" sz="24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thực</a:t>
            </a:r>
            <a:r>
              <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phẩm</a:t>
            </a:r>
            <a:endPar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3" name="Picture 2" descr="A screenshot of a graph&#10;&#10;AI-generated content may be incorrect.">
            <a:extLst>
              <a:ext uri="{FF2B5EF4-FFF2-40B4-BE49-F238E27FC236}">
                <a16:creationId xmlns:a16="http://schemas.microsoft.com/office/drawing/2014/main" id="{5E848E13-41C1-54FF-3157-9ABA150CCA6D}"/>
              </a:ext>
            </a:extLst>
          </p:cNvPr>
          <p:cNvPicPr>
            <a:picLocks noChangeAspect="1"/>
          </p:cNvPicPr>
          <p:nvPr/>
        </p:nvPicPr>
        <p:blipFill>
          <a:blip r:embed="rId3"/>
          <a:srcRect l="3085" r="4755"/>
          <a:stretch>
            <a:fillRect/>
          </a:stretch>
        </p:blipFill>
        <p:spPr>
          <a:xfrm>
            <a:off x="50801" y="1686293"/>
            <a:ext cx="5956300" cy="3424577"/>
          </a:xfrm>
          <a:prstGeom prst="rect">
            <a:avLst/>
          </a:prstGeom>
        </p:spPr>
      </p:pic>
      <p:sp>
        <p:nvSpPr>
          <p:cNvPr id="10" name="TextBox 9">
            <a:extLst>
              <a:ext uri="{FF2B5EF4-FFF2-40B4-BE49-F238E27FC236}">
                <a16:creationId xmlns:a16="http://schemas.microsoft.com/office/drawing/2014/main" id="{0000D59A-291F-E43E-AB03-21F37B3F9482}"/>
              </a:ext>
            </a:extLst>
          </p:cNvPr>
          <p:cNvSpPr txBox="1"/>
          <p:nvPr/>
        </p:nvSpPr>
        <p:spPr>
          <a:xfrm>
            <a:off x="1363980" y="5443268"/>
            <a:ext cx="6101080" cy="315151"/>
          </a:xfrm>
          <a:prstGeom prst="rect">
            <a:avLst/>
          </a:prstGeom>
          <a:noFill/>
        </p:spPr>
        <p:txBody>
          <a:bodyPr wrap="square">
            <a:spAutoFit/>
          </a:bodyPr>
          <a:lstStyle>
            <a:defPPr>
              <a:defRPr lang="en-US"/>
            </a:defPPr>
            <a:lvl1pPr marR="0" algn="just">
              <a:lnSpc>
                <a:spcPct val="135000"/>
              </a:lnSpc>
              <a:buNone/>
              <a:defRPr sz="1200">
                <a:solidFill>
                  <a:srgbClr val="000000"/>
                </a:solidFill>
                <a:effectLst/>
                <a:latin typeface="Times New Roman" panose="02020603050405020304" pitchFamily="18" charset="0"/>
                <a:ea typeface="SimHei" panose="02010609060101010101" pitchFamily="49" charset="-122"/>
              </a:defRPr>
            </a:lvl1pPr>
          </a:lstStyle>
          <a:p>
            <a:r>
              <a:rPr lang="vi-VN" dirty="0"/>
              <a:t>Hình 10: Biểu đồ độ lệch chuẩn </a:t>
            </a:r>
            <a:r>
              <a:rPr lang="en-US" dirty="0" err="1"/>
              <a:t>các</a:t>
            </a:r>
            <a:r>
              <a:rPr lang="en-US" dirty="0"/>
              <a:t> </a:t>
            </a:r>
            <a:r>
              <a:rPr lang="en-US" dirty="0" err="1"/>
              <a:t>chất</a:t>
            </a:r>
            <a:r>
              <a:rPr lang="en-US" dirty="0"/>
              <a:t> dinh </a:t>
            </a:r>
            <a:r>
              <a:rPr lang="en-US" dirty="0" err="1"/>
              <a:t>dưỡng</a:t>
            </a:r>
            <a:r>
              <a:rPr lang="en-US" dirty="0"/>
              <a:t> trong </a:t>
            </a:r>
            <a:r>
              <a:rPr lang="en-US" dirty="0" err="1"/>
              <a:t>thực</a:t>
            </a:r>
            <a:r>
              <a:rPr lang="en-US" dirty="0"/>
              <a:t> </a:t>
            </a:r>
            <a:r>
              <a:rPr lang="en-US" dirty="0" err="1"/>
              <a:t>phẩm</a:t>
            </a:r>
            <a:endParaRPr lang="en-US" dirty="0"/>
          </a:p>
        </p:txBody>
      </p:sp>
      <p:sp>
        <p:nvSpPr>
          <p:cNvPr id="13" name="TextBox 12">
            <a:extLst>
              <a:ext uri="{FF2B5EF4-FFF2-40B4-BE49-F238E27FC236}">
                <a16:creationId xmlns:a16="http://schemas.microsoft.com/office/drawing/2014/main" id="{0F33C11E-6CFC-D2EA-3A56-DBD7D899AB25}"/>
              </a:ext>
            </a:extLst>
          </p:cNvPr>
          <p:cNvSpPr txBox="1"/>
          <p:nvPr/>
        </p:nvSpPr>
        <p:spPr>
          <a:xfrm>
            <a:off x="6184900" y="1637533"/>
            <a:ext cx="5847079" cy="5029967"/>
          </a:xfrm>
          <a:prstGeom prst="rect">
            <a:avLst/>
          </a:prstGeom>
          <a:solidFill>
            <a:schemeClr val="bg1">
              <a:lumMod val="95000"/>
            </a:schemeClr>
          </a:solidFill>
        </p:spPr>
        <p:txBody>
          <a:bodyPr wrap="square">
            <a:spAutoFit/>
          </a:bodyPr>
          <a:lstStyle/>
          <a:p>
            <a:pPr marL="0" marR="0" algn="just">
              <a:buNone/>
            </a:pPr>
            <a:r>
              <a:rPr lang="vi-VN" sz="1050" b="1" dirty="0">
                <a:effectLst/>
                <a:latin typeface="Times New Roman" panose="02020603050405020304" pitchFamily="18" charset="0"/>
                <a:ea typeface="SimSun" panose="02010600030101010101" pitchFamily="2" charset="-122"/>
              </a:rPr>
              <a:t> </a:t>
            </a:r>
            <a:r>
              <a:rPr lang="en-US" sz="1050" b="1" dirty="0">
                <a:solidFill>
                  <a:srgbClr val="000000"/>
                </a:solidFill>
                <a:effectLst/>
                <a:latin typeface="Times New Roman" panose="02020603050405020304" pitchFamily="18" charset="0"/>
                <a:ea typeface="SimSun" panose="02010600030101010101" pitchFamily="2" charset="-122"/>
              </a:rPr>
              <a:t>1. Energy (</a:t>
            </a:r>
            <a:r>
              <a:rPr lang="en-US" sz="1050" b="1" dirty="0" err="1">
                <a:solidFill>
                  <a:srgbClr val="000000"/>
                </a:solidFill>
                <a:effectLst/>
                <a:latin typeface="Times New Roman" panose="02020603050405020304" pitchFamily="18" charset="0"/>
                <a:ea typeface="SimSun" panose="02010600030101010101" pitchFamily="2" charset="-122"/>
              </a:rPr>
              <a:t>Năng</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lượng</a:t>
            </a:r>
            <a:r>
              <a:rPr lang="en-US" sz="1050" b="1" dirty="0">
                <a:solidFill>
                  <a:srgbClr val="000000"/>
                </a:solidFill>
                <a:effectLst/>
                <a:latin typeface="Times New Roman" panose="02020603050405020304" pitchFamily="18" charset="0"/>
                <a:ea typeface="SimSun" panose="02010600030101010101" pitchFamily="2" charset="-122"/>
              </a:rPr>
              <a:t>/Calories)</a:t>
            </a:r>
            <a:endParaRPr lang="en-US" sz="1050" dirty="0">
              <a:effectLst/>
              <a:latin typeface="Times New Roman" panose="02020603050405020304" pitchFamily="18" charset="0"/>
              <a:ea typeface="SimSun" panose="02010600030101010101" pitchFamily="2" charset="-122"/>
            </a:endParaRPr>
          </a:p>
          <a:p>
            <a:pPr marL="342900" marR="0" lvl="0" indent="-342900" algn="just">
              <a:lnSpc>
                <a:spcPct val="135000"/>
              </a:lnSpc>
              <a:buSzPts val="1000"/>
              <a:buFont typeface="Symbol" panose="05050102010706020507" pitchFamily="18" charset="2"/>
              <a:buChar char=""/>
              <a:tabLst>
                <a:tab pos="457200" algn="l"/>
              </a:tabLst>
            </a:pPr>
            <a:r>
              <a:rPr lang="en-US" sz="1050" b="1" dirty="0" err="1">
                <a:solidFill>
                  <a:srgbClr val="000000"/>
                </a:solidFill>
                <a:effectLst/>
                <a:latin typeface="Times New Roman" panose="02020603050405020304" pitchFamily="18" charset="0"/>
                <a:ea typeface="SimSun" panose="02010600030101010101" pitchFamily="2" charset="-122"/>
              </a:rPr>
              <a:t>Phân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bố</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rộng</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nhất</a:t>
            </a:r>
            <a:r>
              <a:rPr lang="en-US" sz="1050" b="1" dirty="0">
                <a:solidFill>
                  <a:srgbClr val="000000"/>
                </a:solidFill>
                <a:effectLst/>
                <a:latin typeface="Times New Roman" panose="02020603050405020304" pitchFamily="18" charset="0"/>
                <a:ea typeface="SimSun" panose="02010600030101010101" pitchFamily="2" charset="-122"/>
              </a:rPr>
              <a:t>:</a:t>
            </a:r>
            <a:r>
              <a:rPr lang="en-US" sz="1050" dirty="0">
                <a:solidFill>
                  <a:srgbClr val="000000"/>
                </a:solidFill>
                <a:effectLst/>
                <a:latin typeface="Times New Roman" panose="02020603050405020304" pitchFamily="18" charset="0"/>
                <a:ea typeface="SimSun" panose="02010600030101010101" pitchFamily="2" charset="-122"/>
              </a:rPr>
              <a:t> Energy </a:t>
            </a:r>
            <a:r>
              <a:rPr lang="en-US" sz="1050" dirty="0" err="1">
                <a:solidFill>
                  <a:srgbClr val="000000"/>
                </a:solidFill>
                <a:effectLst/>
                <a:latin typeface="Times New Roman" panose="02020603050405020304" pitchFamily="18" charset="0"/>
                <a:ea typeface="SimSun" panose="02010600030101010101" pitchFamily="2" charset="-122"/>
              </a:rPr>
              <a:t>có</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hộp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và</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râu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dài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nhất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cho</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thấy</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độ</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phân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tán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độ</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lệch</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chuẩn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cực</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kỳ</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lớn</a:t>
            </a:r>
            <a:r>
              <a:rPr lang="en-US" sz="1050" dirty="0">
                <a:solidFill>
                  <a:srgbClr val="000000"/>
                </a:solidFill>
                <a:effectLst/>
                <a:latin typeface="Times New Roman" panose="02020603050405020304" pitchFamily="18" charset="0"/>
                <a:ea typeface="SimSun" panose="02010600030101010101" pitchFamily="2" charset="-122"/>
              </a:rPr>
              <a:t> trong </a:t>
            </a:r>
            <a:r>
              <a:rPr lang="en-US" sz="1050" dirty="0" err="1">
                <a:solidFill>
                  <a:srgbClr val="000000"/>
                </a:solidFill>
                <a:effectLst/>
                <a:latin typeface="Times New Roman" panose="02020603050405020304" pitchFamily="18" charset="0"/>
                <a:ea typeface="SimSun" panose="02010600030101010101" pitchFamily="2" charset="-122"/>
              </a:rPr>
              <a:t>cơ</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sở</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dữ</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liệu</a:t>
            </a:r>
            <a:r>
              <a:rPr lang="en-US" sz="1050" dirty="0">
                <a:solidFill>
                  <a:srgbClr val="000000"/>
                </a:solidFill>
                <a:effectLst/>
                <a:latin typeface="Times New Roman" panose="02020603050405020304" pitchFamily="18" charset="0"/>
                <a:ea typeface="SimSun" panose="02010600030101010101" pitchFamily="2" charset="-122"/>
              </a:rPr>
              <a:t>.</a:t>
            </a:r>
            <a:endParaRPr lang="en-US" sz="1050" dirty="0">
              <a:effectLst/>
              <a:latin typeface="Times New Roman" panose="02020603050405020304" pitchFamily="18" charset="0"/>
              <a:ea typeface="SimSun" panose="02010600030101010101" pitchFamily="2" charset="-122"/>
            </a:endParaRPr>
          </a:p>
          <a:p>
            <a:pPr marL="342900" marR="0" lvl="0" indent="-342900" algn="just">
              <a:lnSpc>
                <a:spcPct val="135000"/>
              </a:lnSpc>
              <a:buSzPts val="1000"/>
              <a:buFont typeface="Symbol" panose="05050102010706020507" pitchFamily="18" charset="2"/>
              <a:buChar char=""/>
              <a:tabLst>
                <a:tab pos="457200" algn="l"/>
              </a:tabLst>
            </a:pPr>
            <a:r>
              <a:rPr lang="en-US" sz="1050" b="1" dirty="0">
                <a:solidFill>
                  <a:srgbClr val="000000"/>
                </a:solidFill>
                <a:effectLst/>
                <a:latin typeface="Times New Roman" panose="02020603050405020304" pitchFamily="18" charset="0"/>
                <a:ea typeface="SimSun" panose="02010600030101010101" pitchFamily="2" charset="-122"/>
              </a:rPr>
              <a:t>Trung </a:t>
            </a:r>
            <a:r>
              <a:rPr lang="en-US" sz="1050" b="1" dirty="0" err="1">
                <a:solidFill>
                  <a:srgbClr val="000000"/>
                </a:solidFill>
                <a:effectLst/>
                <a:latin typeface="Times New Roman" panose="02020603050405020304" pitchFamily="18" charset="0"/>
                <a:ea typeface="SimSun" panose="02010600030101010101" pitchFamily="2" charset="-122"/>
              </a:rPr>
              <a:t>vị</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thấp</a:t>
            </a:r>
            <a:r>
              <a:rPr lang="en-US" sz="1050" b="1" dirty="0">
                <a:solidFill>
                  <a:srgbClr val="000000"/>
                </a:solidFill>
                <a:effectLst/>
                <a:latin typeface="Times New Roman" panose="02020603050405020304" pitchFamily="18" charset="0"/>
                <a:ea typeface="SimSun" panose="02010600030101010101" pitchFamily="2" charset="-122"/>
              </a:rPr>
              <a: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Giá</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trị</a:t>
            </a:r>
            <a:r>
              <a:rPr lang="en-US" sz="1050" dirty="0">
                <a:solidFill>
                  <a:srgbClr val="000000"/>
                </a:solidFill>
                <a:effectLst/>
                <a:latin typeface="Times New Roman" panose="02020603050405020304" pitchFamily="18" charset="0"/>
                <a:ea typeface="SimSun" panose="02010600030101010101" pitchFamily="2" charset="-122"/>
              </a:rPr>
              <a:t> trung </a:t>
            </a:r>
            <a:r>
              <a:rPr lang="en-US" sz="1050" dirty="0" err="1">
                <a:solidFill>
                  <a:srgbClr val="000000"/>
                </a:solidFill>
                <a:effectLst/>
                <a:latin typeface="Times New Roman" panose="02020603050405020304" pitchFamily="18" charset="0"/>
                <a:ea typeface="SimSun" panose="02010600030101010101" pitchFamily="2" charset="-122"/>
              </a:rPr>
              <a:t>vị</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đường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giữa</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hộp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nằm</a:t>
            </a:r>
            <a:r>
              <a:rPr lang="en-US" sz="1050" dirty="0">
                <a:solidFill>
                  <a:srgbClr val="000000"/>
                </a:solidFill>
                <a:effectLst/>
                <a:latin typeface="Times New Roman" panose="02020603050405020304" pitchFamily="18" charset="0"/>
                <a:ea typeface="SimSun" panose="02010600030101010101" pitchFamily="2" charset="-122"/>
              </a:rPr>
              <a:t> ở </a:t>
            </a:r>
            <a:r>
              <a:rPr lang="en-US" sz="1050" dirty="0" err="1">
                <a:solidFill>
                  <a:srgbClr val="000000"/>
                </a:solidFill>
                <a:effectLst/>
                <a:latin typeface="Times New Roman" panose="02020603050405020304" pitchFamily="18" charset="0"/>
                <a:ea typeface="SimSun" panose="02010600030101010101" pitchFamily="2" charset="-122"/>
              </a:rPr>
              <a:t>khoảng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a:solidFill>
                  <a:srgbClr val="000000"/>
                </a:solidFill>
                <a:effectLst/>
                <a:latin typeface="Times New Roman" panose="02020603050405020304" pitchFamily="18" charset="0"/>
                <a:ea typeface="SimSun" panose="02010600030101010101" pitchFamily="2" charset="-122"/>
              </a:rPr>
              <a:t>500 kcal</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hoặc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thấp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hơn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cho</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thấy</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hầu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hết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thực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phẩm</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đều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có</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mức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năng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lượng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thấp</a:t>
            </a:r>
            <a:r>
              <a:rPr lang="en-US" sz="1050" dirty="0">
                <a:solidFill>
                  <a:srgbClr val="000000"/>
                </a:solidFill>
                <a:effectLst/>
                <a:latin typeface="Times New Roman" panose="02020603050405020304" pitchFamily="18" charset="0"/>
                <a:ea typeface="SimSun" panose="02010600030101010101" pitchFamily="2" charset="-122"/>
              </a:rPr>
              <a:t>.</a:t>
            </a:r>
            <a:endParaRPr lang="en-US" sz="1050" dirty="0">
              <a:effectLst/>
              <a:latin typeface="Times New Roman" panose="02020603050405020304" pitchFamily="18" charset="0"/>
              <a:ea typeface="SimSun" panose="02010600030101010101" pitchFamily="2" charset="-122"/>
            </a:endParaRPr>
          </a:p>
          <a:p>
            <a:pPr marL="342900" marR="0" lvl="0" indent="-342900" algn="just">
              <a:lnSpc>
                <a:spcPct val="135000"/>
              </a:lnSpc>
              <a:buSzPts val="1000"/>
              <a:buFont typeface="Symbol" panose="05050102010706020507" pitchFamily="18" charset="2"/>
              <a:buChar char=""/>
              <a:tabLst>
                <a:tab pos="457200" algn="l"/>
              </a:tabLst>
            </a:pPr>
            <a:r>
              <a:rPr lang="en-US" sz="1050" b="1" dirty="0" err="1">
                <a:solidFill>
                  <a:srgbClr val="000000"/>
                </a:solidFill>
                <a:effectLst/>
                <a:latin typeface="Times New Roman" panose="02020603050405020304" pitchFamily="18" charset="0"/>
                <a:ea typeface="SimSun" panose="02010600030101010101" pitchFamily="2" charset="-122"/>
              </a:rPr>
              <a:t>Phần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lớn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tập</a:t>
            </a:r>
            <a:r>
              <a:rPr lang="en-US" sz="1050" b="1" dirty="0">
                <a:solidFill>
                  <a:srgbClr val="000000"/>
                </a:solidFill>
                <a:effectLst/>
                <a:latin typeface="Times New Roman" panose="02020603050405020304" pitchFamily="18" charset="0"/>
                <a:ea typeface="SimSun" panose="02010600030101010101" pitchFamily="2" charset="-122"/>
              </a:rPr>
              <a:t> trung:</a:t>
            </a:r>
            <a:r>
              <a:rPr lang="en-US" sz="1050" dirty="0">
                <a:solidFill>
                  <a:srgbClr val="000000"/>
                </a:solidFill>
                <a:effectLst/>
                <a:latin typeface="Times New Roman" panose="02020603050405020304" pitchFamily="18" charset="0"/>
                <a:ea typeface="SimSun" panose="02010600030101010101" pitchFamily="2" charset="-122"/>
              </a:rPr>
              <a:t> 50% </a:t>
            </a:r>
            <a:r>
              <a:rPr lang="en-US" sz="1050" dirty="0" err="1">
                <a:solidFill>
                  <a:srgbClr val="000000"/>
                </a:solidFill>
                <a:effectLst/>
                <a:latin typeface="Times New Roman" panose="02020603050405020304" pitchFamily="18" charset="0"/>
                <a:ea typeface="SimSun" panose="02010600030101010101" pitchFamily="2" charset="-122"/>
              </a:rPr>
              <a:t>dữ</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liệu</a:t>
            </a:r>
            <a:r>
              <a:rPr lang="en-US" sz="1050" dirty="0">
                <a:solidFill>
                  <a:srgbClr val="000000"/>
                </a:solidFill>
                <a:effectLst/>
                <a:latin typeface="Times New Roman" panose="02020603050405020304" pitchFamily="18" charset="0"/>
                <a:ea typeface="SimSun" panose="02010600030101010101" pitchFamily="2" charset="-122"/>
              </a:rPr>
              <a:t> trung </a:t>
            </a:r>
            <a:r>
              <a:rPr lang="en-US" sz="1050" dirty="0" err="1">
                <a:solidFill>
                  <a:srgbClr val="000000"/>
                </a:solidFill>
                <a:effectLst/>
                <a:latin typeface="Times New Roman" panose="02020603050405020304" pitchFamily="18" charset="0"/>
                <a:ea typeface="SimSun" panose="02010600030101010101" pitchFamily="2" charset="-122"/>
              </a:rPr>
              <a:t>tâm</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hộp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nằm</a:t>
            </a:r>
            <a:r>
              <a:rPr lang="en-US" sz="1050" dirty="0">
                <a:solidFill>
                  <a:srgbClr val="000000"/>
                </a:solidFill>
                <a:effectLst/>
                <a:latin typeface="Times New Roman" panose="02020603050405020304" pitchFamily="18" charset="0"/>
                <a:ea typeface="SimSun" panose="02010600030101010101" pitchFamily="2" charset="-122"/>
              </a:rPr>
              <a:t> trong </a:t>
            </a:r>
            <a:r>
              <a:rPr lang="en-US" sz="1050" dirty="0" err="1">
                <a:solidFill>
                  <a:srgbClr val="000000"/>
                </a:solidFill>
                <a:effectLst/>
                <a:latin typeface="Times New Roman" panose="02020603050405020304" pitchFamily="18" charset="0"/>
                <a:ea typeface="SimSun" panose="02010600030101010101" pitchFamily="2" charset="-122"/>
              </a:rPr>
              <a:t>khoảng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từ</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xấp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xỉ</a:t>
            </a:r>
            <a:r>
              <a:rPr lang="en-US" sz="1050" dirty="0">
                <a:solidFill>
                  <a:srgbClr val="000000"/>
                </a:solidFill>
                <a:effectLst/>
                <a:latin typeface="Times New Roman" panose="02020603050405020304" pitchFamily="18" charset="0"/>
                <a:ea typeface="SimSun" panose="02010600030101010101" pitchFamily="2" charset="-122"/>
              </a:rPr>
              <a:t> 0 </a:t>
            </a:r>
            <a:r>
              <a:rPr lang="en-US" sz="1050" dirty="0" err="1">
                <a:solidFill>
                  <a:srgbClr val="000000"/>
                </a:solidFill>
                <a:effectLst/>
                <a:latin typeface="Times New Roman" panose="02020603050405020304" pitchFamily="18" charset="0"/>
                <a:ea typeface="SimSun" panose="02010600030101010101" pitchFamily="2" charset="-122"/>
              </a:rPr>
              <a:t>đến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khoảng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a:solidFill>
                  <a:srgbClr val="000000"/>
                </a:solidFill>
                <a:effectLst/>
                <a:latin typeface="Times New Roman" panose="02020603050405020304" pitchFamily="18" charset="0"/>
                <a:ea typeface="SimSun" panose="02010600030101010101" pitchFamily="2" charset="-122"/>
              </a:rPr>
              <a:t>1500 kcal</a:t>
            </a:r>
            <a:r>
              <a:rPr lang="en-US" sz="1050" dirty="0">
                <a:solidFill>
                  <a:srgbClr val="000000"/>
                </a:solidFill>
                <a:effectLst/>
                <a:latin typeface="Times New Roman" panose="02020603050405020304" pitchFamily="18" charset="0"/>
                <a:ea typeface="SimSun" panose="02010600030101010101" pitchFamily="2" charset="-122"/>
              </a:rPr>
              <a:t>.</a:t>
            </a:r>
            <a:endParaRPr lang="en-US" sz="1050" dirty="0">
              <a:effectLst/>
              <a:latin typeface="Times New Roman" panose="02020603050405020304" pitchFamily="18" charset="0"/>
              <a:ea typeface="SimSun" panose="02010600030101010101" pitchFamily="2" charset="-122"/>
            </a:endParaRPr>
          </a:p>
          <a:p>
            <a:pPr marL="342900" marR="0" lvl="0" indent="-342900" algn="just">
              <a:lnSpc>
                <a:spcPct val="135000"/>
              </a:lnSpc>
              <a:buSzPts val="1000"/>
              <a:buFont typeface="Symbol" panose="05050102010706020507" pitchFamily="18" charset="2"/>
              <a:buChar char=""/>
              <a:tabLst>
                <a:tab pos="457200" algn="l"/>
              </a:tabLst>
            </a:pPr>
            <a:r>
              <a:rPr lang="en-US" sz="1050" b="1" dirty="0" err="1">
                <a:solidFill>
                  <a:srgbClr val="000000"/>
                </a:solidFill>
                <a:effectLst/>
                <a:latin typeface="Times New Roman" panose="02020603050405020304" pitchFamily="18" charset="0"/>
                <a:ea typeface="SimSun" panose="02010600030101010101" pitchFamily="2" charset="-122"/>
              </a:rPr>
              <a:t>Ngoại</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lệ</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đáng</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kể</a:t>
            </a:r>
            <a:r>
              <a:rPr lang="en-US" sz="1050" b="1" dirty="0">
                <a:solidFill>
                  <a:srgbClr val="000000"/>
                </a:solidFill>
                <a:effectLst/>
                <a:latin typeface="Times New Roman" panose="02020603050405020304" pitchFamily="18" charset="0"/>
                <a:ea typeface="SimSun" panose="02010600030101010101" pitchFamily="2" charset="-122"/>
              </a:rPr>
              <a: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Có</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rất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nhiều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điểm</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ngoại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lệ</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trải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dài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đến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hơn</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a:solidFill>
                  <a:srgbClr val="000000"/>
                </a:solidFill>
                <a:effectLst/>
                <a:latin typeface="Times New Roman" panose="02020603050405020304" pitchFamily="18" charset="0"/>
                <a:ea typeface="SimSun" panose="02010600030101010101" pitchFamily="2" charset="-122"/>
              </a:rPr>
              <a:t>3500 kcal</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xác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nhận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sự</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tồn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tại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của</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một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số</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ít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thực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phẩm</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cực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kỳ</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đậm</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đặc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năng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lượng</a:t>
            </a:r>
            <a:r>
              <a:rPr lang="en-US" sz="1050" dirty="0">
                <a:solidFill>
                  <a:srgbClr val="000000"/>
                </a:solidFill>
                <a:effectLst/>
                <a:latin typeface="Times New Roman" panose="02020603050405020304" pitchFamily="18" charset="0"/>
                <a:ea typeface="SimSun" panose="02010600030101010101" pitchFamily="2" charset="-122"/>
              </a:rPr>
              <a:t>.</a:t>
            </a:r>
            <a:endParaRPr lang="en-US" sz="1050" dirty="0">
              <a:effectLst/>
              <a:latin typeface="Times New Roman" panose="02020603050405020304" pitchFamily="18" charset="0"/>
              <a:ea typeface="SimSun" panose="02010600030101010101" pitchFamily="2" charset="-122"/>
            </a:endParaRPr>
          </a:p>
          <a:p>
            <a:pPr marL="0" marR="0" algn="just">
              <a:lnSpc>
                <a:spcPct val="135000"/>
              </a:lnSpc>
              <a:buNone/>
            </a:pPr>
            <a:r>
              <a:rPr lang="en-US" sz="1050" b="1" dirty="0">
                <a:solidFill>
                  <a:srgbClr val="000000"/>
                </a:solidFill>
                <a:effectLst/>
                <a:latin typeface="Times New Roman" panose="02020603050405020304" pitchFamily="18" charset="0"/>
                <a:ea typeface="SimSun" panose="02010600030101010101" pitchFamily="2" charset="-122"/>
              </a:rPr>
              <a:t>2. Các </a:t>
            </a:r>
            <a:r>
              <a:rPr lang="en-US" sz="1050" b="1" dirty="0" err="1">
                <a:solidFill>
                  <a:srgbClr val="000000"/>
                </a:solidFill>
                <a:effectLst/>
                <a:latin typeface="Times New Roman" panose="02020603050405020304" pitchFamily="18" charset="0"/>
                <a:ea typeface="SimSun" panose="02010600030101010101" pitchFamily="2" charset="-122"/>
              </a:rPr>
              <a:t>Chất</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Đa</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Lượng</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Khác</a:t>
            </a:r>
            <a:r>
              <a:rPr lang="en-US" sz="1050" b="1" dirty="0">
                <a:solidFill>
                  <a:srgbClr val="000000"/>
                </a:solidFill>
                <a:effectLst/>
                <a:latin typeface="Times New Roman" panose="02020603050405020304" pitchFamily="18" charset="0"/>
                <a:ea typeface="SimSun" panose="02010600030101010101" pitchFamily="2" charset="-122"/>
              </a:rPr>
              <a:t> (Protein, Fat, Carbohydrate)</a:t>
            </a:r>
            <a:endParaRPr lang="en-US" sz="1050" dirty="0">
              <a:effectLst/>
              <a:latin typeface="Times New Roman" panose="02020603050405020304" pitchFamily="18" charset="0"/>
              <a:ea typeface="SimSun" panose="02010600030101010101" pitchFamily="2" charset="-122"/>
            </a:endParaRPr>
          </a:p>
          <a:p>
            <a:pPr marL="342900" marR="0" lvl="0" indent="-342900" algn="just">
              <a:lnSpc>
                <a:spcPct val="135000"/>
              </a:lnSpc>
              <a:buSzPts val="1000"/>
              <a:buFont typeface="Symbol" panose="05050102010706020507" pitchFamily="18" charset="2"/>
              <a:buChar char=""/>
              <a:tabLst>
                <a:tab pos="457200" algn="l"/>
              </a:tabLst>
            </a:pPr>
            <a:r>
              <a:rPr lang="en-US" sz="1050" b="1" dirty="0" err="1">
                <a:solidFill>
                  <a:srgbClr val="000000"/>
                </a:solidFill>
                <a:effectLst/>
                <a:latin typeface="Times New Roman" panose="02020603050405020304" pitchFamily="18" charset="0"/>
                <a:ea typeface="SimSun" panose="02010600030101010101" pitchFamily="2" charset="-122"/>
              </a:rPr>
              <a:t>Phân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bố</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hẹp</a:t>
            </a:r>
            <a:r>
              <a:rPr lang="en-US" sz="1050" b="1" dirty="0">
                <a:solidFill>
                  <a:srgbClr val="000000"/>
                </a:solidFill>
                <a:effectLst/>
                <a:latin typeface="Times New Roman" panose="02020603050405020304" pitchFamily="18" charset="0"/>
                <a:ea typeface="SimSun" panose="02010600030101010101" pitchFamily="2" charset="-122"/>
              </a:rPr>
              <a:t>:</a:t>
            </a:r>
            <a:r>
              <a:rPr lang="en-US" sz="1050" dirty="0">
                <a:solidFill>
                  <a:srgbClr val="000000"/>
                </a:solidFill>
                <a:effectLst/>
                <a:latin typeface="Times New Roman" panose="02020603050405020304" pitchFamily="18" charset="0"/>
                <a:ea typeface="SimSun" panose="02010600030101010101" pitchFamily="2" charset="-122"/>
              </a:rPr>
              <a:t> Các </a:t>
            </a:r>
            <a:r>
              <a:rPr lang="en-US" sz="1050" dirty="0" err="1">
                <a:solidFill>
                  <a:srgbClr val="000000"/>
                </a:solidFill>
                <a:effectLst/>
                <a:latin typeface="Times New Roman" panose="02020603050405020304" pitchFamily="18" charset="0"/>
                <a:ea typeface="SimSun" panose="02010600030101010101" pitchFamily="2" charset="-122"/>
              </a:rPr>
              <a:t>hộp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của</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a:solidFill>
                  <a:srgbClr val="000000"/>
                </a:solidFill>
                <a:effectLst/>
                <a:latin typeface="Times New Roman" panose="02020603050405020304" pitchFamily="18" charset="0"/>
                <a:ea typeface="SimSun" panose="02010600030101010101" pitchFamily="2" charset="-122"/>
              </a:rPr>
              <a:t>Protein</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a:solidFill>
                  <a:srgbClr val="000000"/>
                </a:solidFill>
                <a:effectLst/>
                <a:latin typeface="Times New Roman" panose="02020603050405020304" pitchFamily="18" charset="0"/>
                <a:ea typeface="SimSun" panose="02010600030101010101" pitchFamily="2" charset="-122"/>
              </a:rPr>
              <a:t>Total lipid (fat)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và</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a:solidFill>
                  <a:srgbClr val="000000"/>
                </a:solidFill>
                <a:effectLst/>
                <a:latin typeface="Times New Roman" panose="02020603050405020304" pitchFamily="18" charset="0"/>
                <a:ea typeface="SimSun" panose="02010600030101010101" pitchFamily="2" charset="-122"/>
              </a:rPr>
              <a:t>Carbohydrate</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đều</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rất</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hẹp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và</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tập</a:t>
            </a:r>
            <a:r>
              <a:rPr lang="en-US" sz="1050" dirty="0">
                <a:solidFill>
                  <a:srgbClr val="000000"/>
                </a:solidFill>
                <a:effectLst/>
                <a:latin typeface="Times New Roman" panose="02020603050405020304" pitchFamily="18" charset="0"/>
                <a:ea typeface="SimSun" panose="02010600030101010101" pitchFamily="2" charset="-122"/>
              </a:rPr>
              <a:t> trung </a:t>
            </a:r>
            <a:r>
              <a:rPr lang="en-US" sz="1050" dirty="0" err="1">
                <a:solidFill>
                  <a:srgbClr val="000000"/>
                </a:solidFill>
                <a:effectLst/>
                <a:latin typeface="Times New Roman" panose="02020603050405020304" pitchFamily="18" charset="0"/>
                <a:ea typeface="SimSun" panose="02010600030101010101" pitchFamily="2" charset="-122"/>
              </a:rPr>
              <a:t>sát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trục</a:t>
            </a:r>
            <a:r>
              <a:rPr lang="en-US" sz="1050" dirty="0">
                <a:solidFill>
                  <a:srgbClr val="000000"/>
                </a:solidFill>
                <a:effectLst/>
                <a:latin typeface="Times New Roman" panose="02020603050405020304" pitchFamily="18" charset="0"/>
                <a:ea typeface="SimSun" panose="02010600030101010101" pitchFamily="2" charset="-122"/>
              </a:rPr>
              <a:t> Y (</a:t>
            </a:r>
            <a:r>
              <a:rPr lang="en-US" sz="1050" dirty="0" err="1">
                <a:solidFill>
                  <a:srgbClr val="000000"/>
                </a:solidFill>
                <a:effectLst/>
                <a:latin typeface="Times New Roman" panose="02020603050405020304" pitchFamily="18" charset="0"/>
                <a:ea typeface="SimSun" panose="02010600030101010101" pitchFamily="2" charset="-122"/>
              </a:rPr>
              <a:t>giá</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trị</a:t>
            </a:r>
            <a:r>
              <a:rPr lang="en-US" sz="1050" dirty="0">
                <a:solidFill>
                  <a:srgbClr val="000000"/>
                </a:solidFill>
                <a:effectLst/>
                <a:latin typeface="Times New Roman" panose="02020603050405020304" pitchFamily="18" charset="0"/>
                <a:ea typeface="SimSun" panose="02010600030101010101" pitchFamily="2" charset="-122"/>
              </a:rPr>
              <a:t> 0), </a:t>
            </a:r>
            <a:r>
              <a:rPr lang="en-US" sz="1050" dirty="0" err="1">
                <a:solidFill>
                  <a:srgbClr val="000000"/>
                </a:solidFill>
                <a:effectLst/>
                <a:latin typeface="Times New Roman" panose="02020603050405020304" pitchFamily="18" charset="0"/>
                <a:ea typeface="SimSun" panose="02010600030101010101" pitchFamily="2" charset="-122"/>
              </a:rPr>
              <a:t>cho</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thấy</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độ</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phân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tán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rất</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thấp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về</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mặt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tuyệt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đối</a:t>
            </a:r>
            <a:r>
              <a:rPr lang="en-US" sz="1050" dirty="0">
                <a:solidFill>
                  <a:srgbClr val="000000"/>
                </a:solidFill>
                <a:effectLst/>
                <a:latin typeface="Times New Roman" panose="02020603050405020304" pitchFamily="18" charset="0"/>
                <a:ea typeface="SimSun" panose="02010600030101010101" pitchFamily="2" charset="-122"/>
              </a:rPr>
              <a:t> so </a:t>
            </a:r>
            <a:r>
              <a:rPr lang="en-US" sz="1050" dirty="0" err="1">
                <a:solidFill>
                  <a:srgbClr val="000000"/>
                </a:solidFill>
                <a:effectLst/>
                <a:latin typeface="Times New Roman" panose="02020603050405020304" pitchFamily="18" charset="0"/>
                <a:ea typeface="SimSun" panose="02010600030101010101" pitchFamily="2" charset="-122"/>
              </a:rPr>
              <a:t>với</a:t>
            </a:r>
            <a:r>
              <a:rPr lang="en-US" sz="1050" dirty="0">
                <a:solidFill>
                  <a:srgbClr val="000000"/>
                </a:solidFill>
                <a:effectLst/>
                <a:latin typeface="Times New Roman" panose="02020603050405020304" pitchFamily="18" charset="0"/>
                <a:ea typeface="SimSun" panose="02010600030101010101" pitchFamily="2" charset="-122"/>
              </a:rPr>
              <a:t> Energy.</a:t>
            </a:r>
            <a:endParaRPr lang="en-US" sz="1050" dirty="0">
              <a:effectLst/>
              <a:latin typeface="Times New Roman" panose="02020603050405020304" pitchFamily="18" charset="0"/>
              <a:ea typeface="SimSun" panose="02010600030101010101" pitchFamily="2" charset="-122"/>
            </a:endParaRPr>
          </a:p>
          <a:p>
            <a:pPr marL="342900" marR="0" lvl="0" indent="-342900" algn="just">
              <a:lnSpc>
                <a:spcPct val="135000"/>
              </a:lnSpc>
              <a:buSzPts val="1000"/>
              <a:buFont typeface="Symbol" panose="05050102010706020507" pitchFamily="18" charset="2"/>
              <a:buChar char=""/>
              <a:tabLst>
                <a:tab pos="457200" algn="l"/>
              </a:tabLst>
            </a:pPr>
            <a:r>
              <a:rPr lang="en-US" sz="1050" b="1" dirty="0" err="1">
                <a:solidFill>
                  <a:srgbClr val="000000"/>
                </a:solidFill>
                <a:effectLst/>
                <a:latin typeface="Times New Roman" panose="02020603050405020304" pitchFamily="18" charset="0"/>
                <a:ea typeface="SimSun" panose="02010600030101010101" pitchFamily="2" charset="-122"/>
              </a:rPr>
              <a:t>Giá</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trị</a:t>
            </a:r>
            <a:r>
              <a:rPr lang="en-US" sz="1050" b="1" dirty="0">
                <a:solidFill>
                  <a:srgbClr val="000000"/>
                </a:solidFill>
                <a:effectLst/>
                <a:latin typeface="Times New Roman" panose="02020603050405020304" pitchFamily="18" charset="0"/>
                <a:ea typeface="SimSun" panose="02010600030101010101" pitchFamily="2" charset="-122"/>
              </a:rPr>
              <a:t> Trung </a:t>
            </a:r>
            <a:r>
              <a:rPr lang="en-US" sz="1050" b="1" dirty="0" err="1">
                <a:solidFill>
                  <a:srgbClr val="000000"/>
                </a:solidFill>
                <a:effectLst/>
                <a:latin typeface="Times New Roman" panose="02020603050405020304" pitchFamily="18" charset="0"/>
                <a:ea typeface="SimSun" panose="02010600030101010101" pitchFamily="2" charset="-122"/>
              </a:rPr>
              <a:t>vị</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thấp</a:t>
            </a:r>
            <a:r>
              <a:rPr lang="en-US" sz="1050" b="1" dirty="0">
                <a:solidFill>
                  <a:srgbClr val="000000"/>
                </a:solidFill>
                <a:effectLst/>
                <a:latin typeface="Times New Roman" panose="02020603050405020304" pitchFamily="18" charset="0"/>
                <a:ea typeface="SimSun" panose="02010600030101010101" pitchFamily="2" charset="-122"/>
              </a:rPr>
              <a:t>:</a:t>
            </a:r>
            <a:r>
              <a:rPr lang="en-US" sz="1050" dirty="0">
                <a:solidFill>
                  <a:srgbClr val="000000"/>
                </a:solidFill>
                <a:effectLst/>
                <a:latin typeface="Times New Roman" panose="02020603050405020304" pitchFamily="18" charset="0"/>
                <a:ea typeface="SimSun" panose="02010600030101010101" pitchFamily="2" charset="-122"/>
              </a:rPr>
              <a:t> Trung </a:t>
            </a:r>
            <a:r>
              <a:rPr lang="en-US" sz="1050" dirty="0" err="1">
                <a:solidFill>
                  <a:srgbClr val="000000"/>
                </a:solidFill>
                <a:effectLst/>
                <a:latin typeface="Times New Roman" panose="02020603050405020304" pitchFamily="18" charset="0"/>
                <a:ea typeface="SimSun" panose="02010600030101010101" pitchFamily="2" charset="-122"/>
              </a:rPr>
              <a:t>vị</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của</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các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chất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này</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đều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rất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gần</a:t>
            </a:r>
            <a:r>
              <a:rPr lang="en-US" sz="1050" dirty="0">
                <a:solidFill>
                  <a:srgbClr val="000000"/>
                </a:solidFill>
                <a:effectLst/>
                <a:latin typeface="Times New Roman" panose="02020603050405020304" pitchFamily="18" charset="0"/>
                <a:ea typeface="SimSun" panose="02010600030101010101" pitchFamily="2" charset="-122"/>
              </a:rPr>
              <a:t> 0, </a:t>
            </a:r>
            <a:r>
              <a:rPr lang="en-US" sz="1050" dirty="0" err="1">
                <a:solidFill>
                  <a:srgbClr val="000000"/>
                </a:solidFill>
                <a:effectLst/>
                <a:latin typeface="Times New Roman" panose="02020603050405020304" pitchFamily="18" charset="0"/>
                <a:ea typeface="SimSun" panose="02010600030101010101" pitchFamily="2" charset="-122"/>
              </a:rPr>
              <a:t>mặc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dù</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đã</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thấy</a:t>
            </a:r>
            <a:r>
              <a:rPr lang="en-US" sz="1050" dirty="0">
                <a:solidFill>
                  <a:srgbClr val="000000"/>
                </a:solidFill>
                <a:effectLst/>
                <a:latin typeface="Times New Roman" panose="02020603050405020304" pitchFamily="18" charset="0"/>
                <a:ea typeface="SimSun" panose="02010600030101010101" pitchFamily="2" charset="-122"/>
              </a:rPr>
              <a:t> trong </a:t>
            </a:r>
            <a:r>
              <a:rPr lang="en-US" sz="1050" dirty="0" err="1">
                <a:solidFill>
                  <a:srgbClr val="000000"/>
                </a:solidFill>
                <a:effectLst/>
                <a:latin typeface="Times New Roman" panose="02020603050405020304" pitchFamily="18" charset="0"/>
                <a:ea typeface="SimSun" panose="02010600030101010101" pitchFamily="2" charset="-122"/>
              </a:rPr>
              <a:t>biểu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đồ</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trước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đó</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là</a:t>
            </a:r>
            <a:r>
              <a:rPr lang="en-US" sz="1050" dirty="0">
                <a:solidFill>
                  <a:srgbClr val="000000"/>
                </a:solidFill>
                <a:effectLst/>
                <a:latin typeface="Times New Roman" panose="02020603050405020304" pitchFamily="18" charset="0"/>
                <a:ea typeface="SimSun" panose="02010600030101010101" pitchFamily="2" charset="-122"/>
              </a:rPr>
              <a:t> Carbohydrate </a:t>
            </a:r>
            <a:r>
              <a:rPr lang="en-US" sz="1050" dirty="0" err="1">
                <a:solidFill>
                  <a:srgbClr val="000000"/>
                </a:solidFill>
                <a:effectLst/>
                <a:latin typeface="Times New Roman" panose="02020603050405020304" pitchFamily="18" charset="0"/>
                <a:ea typeface="SimSun" panose="02010600030101010101" pitchFamily="2" charset="-122"/>
              </a:rPr>
              <a:t>chiếm</a:t>
            </a:r>
            <a:r>
              <a:rPr lang="en-US" sz="1050" dirty="0">
                <a:solidFill>
                  <a:srgbClr val="000000"/>
                </a:solidFill>
                <a:effectLst/>
                <a:latin typeface="Times New Roman" panose="02020603050405020304" pitchFamily="18" charset="0"/>
                <a:ea typeface="SimSun" panose="02010600030101010101" pitchFamily="2" charset="-122"/>
              </a:rPr>
              <a:t> 52.8% </a:t>
            </a:r>
            <a:r>
              <a:rPr lang="en-US" sz="1050" dirty="0" err="1">
                <a:solidFill>
                  <a:srgbClr val="000000"/>
                </a:solidFill>
                <a:effectLst/>
                <a:latin typeface="Times New Roman" panose="02020603050405020304" pitchFamily="18" charset="0"/>
                <a:ea typeface="SimSun" panose="02010600030101010101" pitchFamily="2" charset="-122"/>
              </a:rPr>
              <a:t>theo</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khối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lượng</a:t>
            </a:r>
            <a:r>
              <a:rPr lang="en-US" sz="1050" dirty="0">
                <a:solidFill>
                  <a:srgbClr val="000000"/>
                </a:solidFill>
                <a:effectLst/>
                <a:latin typeface="Times New Roman" panose="02020603050405020304" pitchFamily="18" charset="0"/>
                <a:ea typeface="SimSun" panose="02010600030101010101" pitchFamily="2" charset="-122"/>
              </a:rPr>
              <a:t>. </a:t>
            </a:r>
          </a:p>
          <a:p>
            <a:pPr marR="0" lvl="0" algn="just">
              <a:lnSpc>
                <a:spcPct val="135000"/>
              </a:lnSpc>
              <a:buSzPts val="1000"/>
              <a:tabLst>
                <a:tab pos="457200" algn="l"/>
              </a:tabLst>
            </a:pPr>
            <a:r>
              <a:rPr lang="en-US" sz="1050" b="1" dirty="0">
                <a:solidFill>
                  <a:srgbClr val="000000"/>
                </a:solidFill>
                <a:effectLst/>
                <a:latin typeface="Times New Roman" panose="02020603050405020304" pitchFamily="18" charset="0"/>
                <a:ea typeface="SimSun" panose="02010600030101010101" pitchFamily="2" charset="-122"/>
              </a:rPr>
              <a:t>3. Fiber </a:t>
            </a:r>
            <a:r>
              <a:rPr lang="en-US" sz="1050" b="1" dirty="0" err="1">
                <a:solidFill>
                  <a:srgbClr val="000000"/>
                </a:solidFill>
                <a:effectLst/>
                <a:latin typeface="Times New Roman" panose="02020603050405020304" pitchFamily="18" charset="0"/>
                <a:ea typeface="SimSun" panose="02010600030101010101" pitchFamily="2" charset="-122"/>
              </a:rPr>
              <a:t>và</a:t>
            </a:r>
            <a:r>
              <a:rPr lang="en-US" sz="1050" b="1" dirty="0">
                <a:solidFill>
                  <a:srgbClr val="000000"/>
                </a:solidFill>
                <a:effectLst/>
                <a:latin typeface="Times New Roman" panose="02020603050405020304" pitchFamily="18" charset="0"/>
                <a:ea typeface="SimSun" panose="02010600030101010101" pitchFamily="2" charset="-122"/>
              </a:rPr>
              <a:t> Sugars</a:t>
            </a:r>
            <a:endParaRPr lang="en-US" sz="1050" dirty="0">
              <a:effectLst/>
              <a:latin typeface="Times New Roman" panose="02020603050405020304" pitchFamily="18" charset="0"/>
              <a:ea typeface="SimSun" panose="02010600030101010101" pitchFamily="2" charset="-122"/>
            </a:endParaRPr>
          </a:p>
          <a:p>
            <a:pPr marL="342900" marR="0" lvl="0" indent="-342900" algn="just">
              <a:lnSpc>
                <a:spcPct val="135000"/>
              </a:lnSpc>
              <a:buSzPts val="1000"/>
              <a:buFont typeface="Symbol" panose="05050102010706020507" pitchFamily="18" charset="2"/>
              <a:buChar char=""/>
              <a:tabLst>
                <a:tab pos="457200" algn="l"/>
              </a:tabLst>
            </a:pPr>
            <a:r>
              <a:rPr lang="en-US" sz="1050" b="1" dirty="0" err="1">
                <a:solidFill>
                  <a:srgbClr val="000000"/>
                </a:solidFill>
                <a:effectLst/>
                <a:latin typeface="Times New Roman" panose="02020603050405020304" pitchFamily="18" charset="0"/>
                <a:ea typeface="SimSun" panose="02010600030101010101" pitchFamily="2" charset="-122"/>
              </a:rPr>
              <a:t>Phân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bố</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cực</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hẹp</a:t>
            </a:r>
            <a:r>
              <a:rPr lang="en-US" sz="1050" b="1" dirty="0">
                <a:solidFill>
                  <a:srgbClr val="000000"/>
                </a:solidFill>
                <a:effectLst/>
                <a:latin typeface="Times New Roman" panose="02020603050405020304" pitchFamily="18" charset="0"/>
                <a:ea typeface="SimSun" panose="02010600030101010101" pitchFamily="2" charset="-122"/>
              </a:rPr>
              <a:t>:</a:t>
            </a:r>
            <a:r>
              <a:rPr lang="en-US" sz="1050" dirty="0">
                <a:solidFill>
                  <a:srgbClr val="000000"/>
                </a:solidFill>
                <a:effectLst/>
                <a:latin typeface="Times New Roman" panose="02020603050405020304" pitchFamily="18" charset="0"/>
                <a:ea typeface="SimSun" panose="02010600030101010101" pitchFamily="2" charset="-122"/>
              </a:rPr>
              <a:t> Các </a:t>
            </a:r>
            <a:r>
              <a:rPr lang="en-US" sz="1050" dirty="0" err="1">
                <a:solidFill>
                  <a:srgbClr val="000000"/>
                </a:solidFill>
                <a:effectLst/>
                <a:latin typeface="Times New Roman" panose="02020603050405020304" pitchFamily="18" charset="0"/>
                <a:ea typeface="SimSun" panose="02010600030101010101" pitchFamily="2" charset="-122"/>
              </a:rPr>
              <a:t>hộp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của</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a:solidFill>
                  <a:srgbClr val="000000"/>
                </a:solidFill>
                <a:effectLst/>
                <a:latin typeface="Times New Roman" panose="02020603050405020304" pitchFamily="18" charset="0"/>
                <a:ea typeface="SimSun" panose="02010600030101010101" pitchFamily="2" charset="-122"/>
              </a:rPr>
              <a:t>Fiber</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và</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a:solidFill>
                  <a:srgbClr val="000000"/>
                </a:solidFill>
                <a:effectLst/>
                <a:latin typeface="Times New Roman" panose="02020603050405020304" pitchFamily="18" charset="0"/>
                <a:ea typeface="SimSun" panose="02010600030101010101" pitchFamily="2" charset="-122"/>
              </a:rPr>
              <a:t>Sugars</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thậm</a:t>
            </a:r>
            <a:r>
              <a:rPr lang="en-US" sz="1050" dirty="0">
                <a:solidFill>
                  <a:srgbClr val="000000"/>
                </a:solidFill>
                <a:effectLst/>
                <a:latin typeface="Times New Roman" panose="02020603050405020304" pitchFamily="18" charset="0"/>
                <a:ea typeface="SimSun" panose="02010600030101010101" pitchFamily="2" charset="-122"/>
              </a:rPr>
              <a:t> chí </a:t>
            </a:r>
            <a:r>
              <a:rPr lang="en-US" sz="1050" dirty="0" err="1">
                <a:solidFill>
                  <a:srgbClr val="000000"/>
                </a:solidFill>
                <a:effectLst/>
                <a:latin typeface="Times New Roman" panose="02020603050405020304" pitchFamily="18" charset="0"/>
                <a:ea typeface="SimSun" panose="02010600030101010101" pitchFamily="2" charset="-122"/>
              </a:rPr>
              <a:t>còn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hẹp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hơn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và</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sát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trục</a:t>
            </a:r>
            <a:r>
              <a:rPr lang="en-US" sz="1050" dirty="0">
                <a:solidFill>
                  <a:srgbClr val="000000"/>
                </a:solidFill>
                <a:effectLst/>
                <a:latin typeface="Times New Roman" panose="02020603050405020304" pitchFamily="18" charset="0"/>
                <a:ea typeface="SimSun" panose="02010600030101010101" pitchFamily="2" charset="-122"/>
              </a:rPr>
              <a:t> Y </a:t>
            </a:r>
            <a:r>
              <a:rPr lang="en-US" sz="1050" dirty="0" err="1">
                <a:solidFill>
                  <a:srgbClr val="000000"/>
                </a:solidFill>
                <a:effectLst/>
                <a:latin typeface="Times New Roman" panose="02020603050405020304" pitchFamily="18" charset="0"/>
                <a:ea typeface="SimSun" panose="02010600030101010101" pitchFamily="2" charset="-122"/>
              </a:rPr>
              <a:t>hơn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nữa</a:t>
            </a:r>
            <a:r>
              <a:rPr lang="en-US" sz="1050" dirty="0">
                <a:solidFill>
                  <a:srgbClr val="000000"/>
                </a:solidFill>
                <a:effectLst/>
                <a:latin typeface="Times New Roman" panose="02020603050405020304" pitchFamily="18" charset="0"/>
                <a:ea typeface="SimSun" panose="02010600030101010101" pitchFamily="2" charset="-122"/>
              </a:rPr>
              <a:t>.</a:t>
            </a:r>
            <a:endParaRPr lang="en-US" sz="1050" dirty="0">
              <a:effectLst/>
              <a:latin typeface="Times New Roman" panose="02020603050405020304" pitchFamily="18" charset="0"/>
              <a:ea typeface="SimSun" panose="02010600030101010101" pitchFamily="2" charset="-122"/>
            </a:endParaRPr>
          </a:p>
          <a:p>
            <a:pPr marL="342900" marR="0" lvl="0" indent="-342900" algn="just">
              <a:lnSpc>
                <a:spcPct val="135000"/>
              </a:lnSpc>
              <a:buSzPts val="1000"/>
              <a:buFont typeface="Symbol" panose="05050102010706020507" pitchFamily="18" charset="2"/>
              <a:buChar char=""/>
              <a:tabLst>
                <a:tab pos="457200" algn="l"/>
              </a:tabLst>
            </a:pPr>
            <a:r>
              <a:rPr lang="en-US" sz="1050" dirty="0" err="1">
                <a:solidFill>
                  <a:srgbClr val="000000"/>
                </a:solidFill>
                <a:effectLst/>
                <a:latin typeface="Times New Roman" panose="02020603050405020304" pitchFamily="18" charset="0"/>
                <a:ea typeface="SimSun" panose="02010600030101010101" pitchFamily="2" charset="-122"/>
              </a:rPr>
              <a:t>Điều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này</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khẳng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định</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rằng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hầu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hết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thực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phẩm</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có</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lượng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chất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xơ</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và</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đường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thấp</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với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một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số</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ngoại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lệ</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là</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các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thực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phẩm</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cực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kỳ</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giàu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đường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hoặc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chất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xơ</a:t>
            </a:r>
            <a:r>
              <a:rPr lang="en-US" sz="1050" dirty="0">
                <a:solidFill>
                  <a:srgbClr val="000000"/>
                </a:solidFill>
                <a:effectLst/>
                <a:latin typeface="Times New Roman" panose="02020603050405020304" pitchFamily="18" charset="0"/>
                <a:ea typeface="SimSun" panose="02010600030101010101" pitchFamily="2" charset="-122"/>
              </a:rPr>
              <a:t>.</a:t>
            </a:r>
            <a:endParaRPr lang="en-US" sz="1050" dirty="0">
              <a:effectLst/>
              <a:latin typeface="Times New Roman" panose="02020603050405020304" pitchFamily="18" charset="0"/>
              <a:ea typeface="SimSun" panose="02010600030101010101" pitchFamily="2" charset="-122"/>
            </a:endParaRPr>
          </a:p>
          <a:p>
            <a:pPr marL="0" marR="0" algn="just">
              <a:lnSpc>
                <a:spcPct val="135000"/>
              </a:lnSpc>
              <a:buNone/>
            </a:pPr>
            <a:r>
              <a:rPr lang="en-US" sz="1050" b="1" dirty="0" err="1">
                <a:solidFill>
                  <a:srgbClr val="000000"/>
                </a:solidFill>
                <a:effectLst/>
                <a:latin typeface="Times New Roman" panose="02020603050405020304" pitchFamily="18" charset="0"/>
                <a:ea typeface="SimSun" panose="02010600030101010101" pitchFamily="2" charset="-122"/>
              </a:rPr>
              <a:t>Kết</a:t>
            </a:r>
            <a:r>
              <a:rPr lang="en-US" sz="1050" b="1" dirty="0">
                <a:solidFill>
                  <a:srgbClr val="000000"/>
                </a:solidFill>
                <a:effectLst/>
                <a:latin typeface="Times New Roman" panose="02020603050405020304" pitchFamily="18" charset="0"/>
                <a:ea typeface="SimSun" panose="02010600030101010101" pitchFamily="2" charset="-122"/>
              </a:rPr>
              <a:t> Luận Chung</a:t>
            </a:r>
            <a:endParaRPr lang="en-US" sz="1050" dirty="0">
              <a:effectLst/>
              <a:latin typeface="Times New Roman" panose="02020603050405020304" pitchFamily="18" charset="0"/>
              <a:ea typeface="SimSun" panose="02010600030101010101" pitchFamily="2" charset="-122"/>
            </a:endParaRPr>
          </a:p>
          <a:p>
            <a:pPr marL="0" marR="0" algn="just">
              <a:lnSpc>
                <a:spcPct val="135000"/>
              </a:lnSpc>
              <a:buNone/>
            </a:pPr>
            <a:r>
              <a:rPr lang="en-US" sz="1050" dirty="0" err="1">
                <a:solidFill>
                  <a:srgbClr val="000000"/>
                </a:solidFill>
                <a:effectLst/>
                <a:latin typeface="Times New Roman" panose="02020603050405020304" pitchFamily="18" charset="0"/>
                <a:ea typeface="SimSun" panose="02010600030101010101" pitchFamily="2" charset="-122"/>
              </a:rPr>
              <a:t>Biểu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đồ</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này</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nhấn</a:t>
            </a:r>
            <a:r>
              <a:rPr lang="en-US" sz="1050" dirty="0">
                <a:solidFill>
                  <a:srgbClr val="000000"/>
                </a:solidFill>
                <a:effectLst/>
                <a:latin typeface="Times New Roman" panose="02020603050405020304" pitchFamily="18" charset="0"/>
                <a:ea typeface="SimSun" panose="02010600030101010101" pitchFamily="2" charset="-122"/>
              </a:rPr>
              <a:t> mạnh </a:t>
            </a:r>
            <a:r>
              <a:rPr lang="en-US" sz="1050" dirty="0" err="1">
                <a:solidFill>
                  <a:srgbClr val="000000"/>
                </a:solidFill>
                <a:effectLst/>
                <a:latin typeface="Times New Roman" panose="02020603050405020304" pitchFamily="18" charset="0"/>
                <a:ea typeface="SimSun" panose="02010600030101010101" pitchFamily="2" charset="-122"/>
              </a:rPr>
              <a:t>rằng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a:solidFill>
                  <a:srgbClr val="000000"/>
                </a:solidFill>
                <a:effectLst/>
                <a:latin typeface="Times New Roman" panose="02020603050405020304" pitchFamily="18" charset="0"/>
                <a:ea typeface="SimSun" panose="02010600030101010101" pitchFamily="2" charset="-122"/>
              </a:rPr>
              <a:t>Energy (Calories)</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là</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chỉ</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số</a:t>
            </a:r>
            <a:r>
              <a:rPr lang="en-US" sz="1050" dirty="0">
                <a:solidFill>
                  <a:srgbClr val="000000"/>
                </a:solidFill>
                <a:effectLst/>
                <a:latin typeface="Times New Roman" panose="02020603050405020304" pitchFamily="18" charset="0"/>
                <a:ea typeface="SimSun" panose="02010600030101010101" pitchFamily="2" charset="-122"/>
              </a:rPr>
              <a:t> dinh </a:t>
            </a:r>
            <a:r>
              <a:rPr lang="en-US" sz="1050" dirty="0" err="1">
                <a:solidFill>
                  <a:srgbClr val="000000"/>
                </a:solidFill>
                <a:effectLst/>
                <a:latin typeface="Times New Roman" panose="02020603050405020304" pitchFamily="18" charset="0"/>
                <a:ea typeface="SimSun" panose="02010600030101010101" pitchFamily="2" charset="-122"/>
              </a:rPr>
              <a:t>dưỡng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có</a:t>
            </a:r>
            <a:r>
              <a:rPr lang="en-US" sz="1050"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độ</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phân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tán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và</a:t>
            </a:r>
            <a:r>
              <a:rPr lang="en-US" sz="1050" b="1" dirty="0">
                <a:solidFill>
                  <a:srgbClr val="000000"/>
                </a:solidFill>
                <a:effectLst/>
                <a:latin typeface="Times New Roman" panose="02020603050405020304" pitchFamily="18" charset="0"/>
                <a:ea typeface="SimSun" panose="02010600030101010101" pitchFamily="2" charset="-122"/>
              </a:rPr>
              <a:t> phạm vi </a:t>
            </a:r>
            <a:r>
              <a:rPr lang="en-US" sz="1050" b="1" dirty="0" err="1">
                <a:solidFill>
                  <a:srgbClr val="000000"/>
                </a:solidFill>
                <a:effectLst/>
                <a:latin typeface="Times New Roman" panose="02020603050405020304" pitchFamily="18" charset="0"/>
                <a:ea typeface="SimSun" panose="02010600030101010101" pitchFamily="2" charset="-122"/>
              </a:rPr>
              <a:t>giá</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trị</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lớn</a:t>
            </a:r>
            <a:r>
              <a:rPr lang="en-US" sz="1050" b="1" dirty="0">
                <a:solidFill>
                  <a:srgbClr val="000000"/>
                </a:solidFill>
                <a:effectLst/>
                <a:latin typeface="Times New Roman" panose="02020603050405020304" pitchFamily="18" charset="0"/>
                <a:ea typeface="SimSun" panose="02010600030101010101" pitchFamily="2" charset="-122"/>
              </a:rPr>
              <a:t> </a:t>
            </a:r>
            <a:r>
              <a:rPr lang="en-US" sz="1050" b="1" dirty="0" err="1">
                <a:solidFill>
                  <a:srgbClr val="000000"/>
                </a:solidFill>
                <a:effectLst/>
                <a:latin typeface="Times New Roman" panose="02020603050405020304" pitchFamily="18" charset="0"/>
                <a:ea typeface="SimSun" panose="02010600030101010101" pitchFamily="2" charset="-122"/>
              </a:rPr>
              <a:t>nhất</a:t>
            </a:r>
            <a:r>
              <a:rPr lang="en-US" sz="1050" dirty="0">
                <a:solidFill>
                  <a:srgbClr val="000000"/>
                </a:solidFill>
                <a:effectLst/>
                <a:latin typeface="Times New Roman" panose="02020603050405020304" pitchFamily="18" charset="0"/>
                <a:ea typeface="SimSun" panose="02010600030101010101" pitchFamily="2" charset="-122"/>
              </a:rPr>
              <a:t> trong </a:t>
            </a:r>
            <a:r>
              <a:rPr lang="en-US" sz="1050" dirty="0" err="1">
                <a:solidFill>
                  <a:srgbClr val="000000"/>
                </a:solidFill>
                <a:effectLst/>
                <a:latin typeface="Times New Roman" panose="02020603050405020304" pitchFamily="18" charset="0"/>
                <a:ea typeface="SimSun" panose="02010600030101010101" pitchFamily="2" charset="-122"/>
              </a:rPr>
              <a:t>cơ</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sở</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dữ</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liệu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vượt</a:t>
            </a:r>
            <a:r>
              <a:rPr lang="en-US" sz="1050" dirty="0">
                <a:solidFill>
                  <a:srgbClr val="000000"/>
                </a:solidFill>
                <a:effectLst/>
                <a:latin typeface="Times New Roman" panose="02020603050405020304" pitchFamily="18" charset="0"/>
                <a:ea typeface="SimSun" panose="02010600030101010101" pitchFamily="2" charset="-122"/>
              </a:rPr>
              <a:t> xa </a:t>
            </a:r>
            <a:r>
              <a:rPr lang="en-US" sz="1050" dirty="0" err="1">
                <a:solidFill>
                  <a:srgbClr val="000000"/>
                </a:solidFill>
                <a:effectLst/>
                <a:latin typeface="Times New Roman" panose="02020603050405020304" pitchFamily="18" charset="0"/>
                <a:ea typeface="SimSun" panose="02010600030101010101" pitchFamily="2" charset="-122"/>
              </a:rPr>
              <a:t>các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chất</a:t>
            </a:r>
            <a:r>
              <a:rPr lang="en-US" sz="1050" dirty="0">
                <a:solidFill>
                  <a:srgbClr val="000000"/>
                </a:solidFill>
                <a:effectLst/>
                <a:latin typeface="Times New Roman" panose="02020603050405020304" pitchFamily="18" charset="0"/>
                <a:ea typeface="SimSun" panose="02010600030101010101" pitchFamily="2" charset="-122"/>
              </a:rPr>
              <a:t> dinh </a:t>
            </a:r>
            <a:r>
              <a:rPr lang="en-US" sz="1050" dirty="0" err="1">
                <a:solidFill>
                  <a:srgbClr val="000000"/>
                </a:solidFill>
                <a:effectLst/>
                <a:latin typeface="Times New Roman" panose="02020603050405020304" pitchFamily="18" charset="0"/>
                <a:ea typeface="SimSun" panose="02010600030101010101" pitchFamily="2" charset="-122"/>
              </a:rPr>
              <a:t>dưỡng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đa</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lượng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khác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về</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mặt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giá</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trị</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tuyệt</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đối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Mặc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dù</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các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chất</a:t>
            </a:r>
            <a:r>
              <a:rPr lang="en-US" sz="1050" dirty="0">
                <a:solidFill>
                  <a:srgbClr val="000000"/>
                </a:solidFill>
                <a:effectLst/>
                <a:latin typeface="Times New Roman" panose="02020603050405020304" pitchFamily="18" charset="0"/>
                <a:ea typeface="SimSun" panose="02010600030101010101" pitchFamily="2" charset="-122"/>
              </a:rPr>
              <a:t> dinh </a:t>
            </a:r>
            <a:r>
              <a:rPr lang="en-US" sz="1050" dirty="0" err="1">
                <a:solidFill>
                  <a:srgbClr val="000000"/>
                </a:solidFill>
                <a:effectLst/>
                <a:latin typeface="Times New Roman" panose="02020603050405020304" pitchFamily="18" charset="0"/>
                <a:ea typeface="SimSun" panose="02010600030101010101" pitchFamily="2" charset="-122"/>
              </a:rPr>
              <a:t>dưỡng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đa</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lượng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khác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có</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tỷ</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lệ</a:t>
            </a:r>
            <a:r>
              <a:rPr lang="en-US" sz="1050" dirty="0">
                <a:solidFill>
                  <a:srgbClr val="000000"/>
                </a:solidFill>
                <a:effectLst/>
                <a:latin typeface="Times New Roman" panose="02020603050405020304" pitchFamily="18" charset="0"/>
                <a:ea typeface="SimSun" panose="02010600030101010101" pitchFamily="2" charset="-122"/>
              </a:rPr>
              <a:t> % </a:t>
            </a:r>
            <a:r>
              <a:rPr lang="en-US" sz="1050" dirty="0" err="1">
                <a:solidFill>
                  <a:srgbClr val="000000"/>
                </a:solidFill>
                <a:effectLst/>
                <a:latin typeface="Times New Roman" panose="02020603050405020304" pitchFamily="18" charset="0"/>
                <a:ea typeface="SimSun" panose="02010600030101010101" pitchFamily="2" charset="-122"/>
              </a:rPr>
              <a:t>đáng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kể</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theo</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khối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lượng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như</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biểu</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đồ</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tròn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đã</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phân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tích</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giá</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trị</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thực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của</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chúng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trên</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mỗi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mục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thực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phẩm</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riêng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lẻ</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lại</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có</a:t>
            </a:r>
            <a:r>
              <a:rPr lang="en-US" sz="1050" dirty="0">
                <a:solidFill>
                  <a:srgbClr val="000000"/>
                </a:solidFill>
                <a:effectLst/>
                <a:latin typeface="Times New Roman" panose="02020603050405020304" pitchFamily="18" charset="0"/>
                <a:ea typeface="SimSun" panose="02010600030101010101" pitchFamily="2" charset="-122"/>
              </a:rPr>
              <a:t> xu </a:t>
            </a:r>
            <a:r>
              <a:rPr lang="en-US" sz="1050" dirty="0" err="1">
                <a:solidFill>
                  <a:srgbClr val="000000"/>
                </a:solidFill>
                <a:effectLst/>
                <a:latin typeface="Times New Roman" panose="02020603050405020304" pitchFamily="18" charset="0"/>
                <a:ea typeface="SimSun" panose="02010600030101010101" pitchFamily="2" charset="-122"/>
              </a:rPr>
              <a:t>hướng</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tập</a:t>
            </a:r>
            <a:r>
              <a:rPr lang="en-US" sz="1050" dirty="0">
                <a:solidFill>
                  <a:srgbClr val="000000"/>
                </a:solidFill>
                <a:effectLst/>
                <a:latin typeface="Times New Roman" panose="02020603050405020304" pitchFamily="18" charset="0"/>
                <a:ea typeface="SimSun" panose="02010600030101010101" pitchFamily="2" charset="-122"/>
              </a:rPr>
              <a:t> trung ở </a:t>
            </a:r>
            <a:r>
              <a:rPr lang="en-US" sz="1050" dirty="0" err="1">
                <a:solidFill>
                  <a:srgbClr val="000000"/>
                </a:solidFill>
                <a:effectLst/>
                <a:latin typeface="Times New Roman" panose="02020603050405020304" pitchFamily="18" charset="0"/>
                <a:ea typeface="SimSun" panose="02010600030101010101" pitchFamily="2" charset="-122"/>
              </a:rPr>
              <a:t>mức</a:t>
            </a:r>
            <a:r>
              <a:rPr lang="en-US" sz="1050" dirty="0">
                <a:solidFill>
                  <a:srgbClr val="000000"/>
                </a:solidFill>
                <a:effectLst/>
                <a:latin typeface="Times New Roman" panose="02020603050405020304" pitchFamily="18" charset="0"/>
                <a:ea typeface="SimSun" panose="02010600030101010101" pitchFamily="2" charset="-122"/>
              </a:rPr>
              <a:t> </a:t>
            </a:r>
            <a:r>
              <a:rPr lang="en-US" sz="1050" dirty="0" err="1">
                <a:solidFill>
                  <a:srgbClr val="000000"/>
                </a:solidFill>
                <a:effectLst/>
                <a:latin typeface="Times New Roman" panose="02020603050405020304" pitchFamily="18" charset="0"/>
                <a:ea typeface="SimSun" panose="02010600030101010101" pitchFamily="2" charset="-122"/>
              </a:rPr>
              <a:t>thấp</a:t>
            </a:r>
            <a:r>
              <a:rPr lang="en-US" sz="1050" dirty="0">
                <a:solidFill>
                  <a:srgbClr val="000000"/>
                </a:solidFill>
                <a:effectLst/>
                <a:latin typeface="Times New Roman" panose="02020603050405020304" pitchFamily="18" charset="0"/>
                <a:ea typeface="SimSun" panose="02010600030101010101" pitchFamily="2" charset="-122"/>
              </a:rPr>
              <a:t>.</a:t>
            </a:r>
            <a:endParaRPr lang="en-US" sz="105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452087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p:cNvGrpSpPr/>
          <p:nvPr/>
        </p:nvGrpSpPr>
        <p:grpSpPr>
          <a:xfrm>
            <a:off x="4325258" y="1544068"/>
            <a:ext cx="3541486" cy="3769865"/>
            <a:chOff x="4325258" y="1229517"/>
            <a:chExt cx="3541486" cy="3769865"/>
          </a:xfrm>
        </p:grpSpPr>
        <p:sp>
          <p:nvSpPr>
            <p:cNvPr id="12" name="Diamond 11"/>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pic>
        <p:nvPicPr>
          <p:cNvPr id="6" name="Picture 5" descr="This image is an icon that says &quot;24Slides.&quot;">
            <a:hlinkClick r:id="rId3"/>
          </p:cNvPr>
          <p:cNvPicPr>
            <a:picLocks noChangeAspect="1"/>
          </p:cNvPicPr>
          <p:nvPr/>
        </p:nvPicPr>
        <p:blipFill>
          <a:blip r:embed="rId4"/>
          <a:stretch>
            <a:fillRect/>
          </a:stretch>
        </p:blipFill>
        <p:spPr>
          <a:xfrm>
            <a:off x="5360332" y="5919419"/>
            <a:ext cx="1471335" cy="420363"/>
          </a:xfrm>
          <a:prstGeom prst="rect">
            <a:avLst/>
          </a:prstGeom>
          <a:effectLst/>
        </p:spPr>
      </p:pic>
    </p:spTree>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609EDA-869E-4BE5-AE5D-B898C584B6FF}">
  <ds:schemaRefs/>
</ds:datastoreItem>
</file>

<file path=customXml/itemProps2.xml><?xml version="1.0" encoding="utf-8"?>
<ds:datastoreItem xmlns:ds="http://schemas.openxmlformats.org/officeDocument/2006/customXml" ds:itemID="{61A00BBF-EEBB-4E18-B8CB-F926EAAC48F7}">
  <ds:schemaRefs/>
</ds:datastoreItem>
</file>

<file path=customXml/itemProps3.xml><?xml version="1.0" encoding="utf-8"?>
<ds:datastoreItem xmlns:ds="http://schemas.openxmlformats.org/officeDocument/2006/customXml" ds:itemID="{2FD05317-60D6-4B3A-8545-888496D1A8EC}">
  <ds:schemaRefs/>
</ds:datastoreItem>
</file>

<file path=docMetadata/LabelInfo.xml><?xml version="1.0" encoding="utf-8"?>
<clbl:labelList xmlns:clbl="http://schemas.microsoft.com/office/2020/mipLabelMetadata">
  <clbl:label id="{06530cf4-8573-4c29-a912-bbcdac835909}" enabled="1" method="Standard" siteId="{ecaa386b-c8df-4ce0-ad01-740cbdb5ba55}" contentBits="2" removed="0"/>
</clbl:labelList>
</file>

<file path=docProps/app.xml><?xml version="1.0" encoding="utf-8"?>
<Properties xmlns="http://schemas.openxmlformats.org/officeDocument/2006/extended-properties" xmlns:vt="http://schemas.openxmlformats.org/officeDocument/2006/docPropsVTypes">
  <Template>Project analysis, from 24Slides</Template>
  <TotalTime>0</TotalTime>
  <Words>3450</Words>
  <Application>Microsoft Office PowerPoint</Application>
  <PresentationFormat>Widescreen</PresentationFormat>
  <Paragraphs>180</Paragraphs>
  <Slides>15</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Century Gothic</vt:lpstr>
      <vt:lpstr>Segoe UI Emoji</vt:lpstr>
      <vt:lpstr>Segoe UI Light</vt:lpstr>
      <vt:lpstr>Symbol</vt:lpstr>
      <vt:lpstr>Times New Roman</vt:lpstr>
      <vt:lpstr>Office Theme</vt:lpstr>
      <vt:lpstr>PHÂN TÍCH KHÁM PHÁ DỮ LIỆU VỀ USDA FOOD  </vt:lpstr>
      <vt:lpstr>PowerPoint Presentation</vt:lpstr>
      <vt:lpstr>Project analysis slide 5</vt:lpstr>
      <vt:lpstr>Project analysis slide 5</vt:lpstr>
      <vt:lpstr>Project analysis slide 5</vt:lpstr>
      <vt:lpstr>Project analysis slide 5</vt:lpstr>
      <vt:lpstr>Project analysis slide 5</vt:lpstr>
      <vt:lpstr>Project analysis slide 5</vt:lpstr>
      <vt:lpstr>Project analysis slide 5</vt:lpstr>
      <vt:lpstr>Project analysis slide 5</vt:lpstr>
      <vt:lpstr>Project analysis slide 5</vt:lpstr>
      <vt:lpstr>Project analysis slide 5</vt:lpstr>
      <vt:lpstr>Project analysis slide 5</vt:lpstr>
      <vt:lpstr>Project analysis slide 5</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hung</dc:creator>
  <cp:lastModifiedBy>doan-thuy-diep.nguyen@partners.basf.com</cp:lastModifiedBy>
  <cp:revision>135</cp:revision>
  <dcterms:created xsi:type="dcterms:W3CDTF">2025-10-19T02:19:00Z</dcterms:created>
  <dcterms:modified xsi:type="dcterms:W3CDTF">2025-10-26T16:23:19Z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E87545449F55473F90CFD6D79D67F062_12</vt:lpwstr>
  </property>
  <property fmtid="{D5CDD505-2E9C-101B-9397-08002B2CF9AE}" pid="4" name="KSOProductBuildVer">
    <vt:lpwstr>1033-12.2.0.22549</vt:lpwstr>
  </property>
  <property fmtid="{D5CDD505-2E9C-101B-9397-08002B2CF9AE}" pid="5" name="ClassificationContentMarkingFooterLocations">
    <vt:lpwstr>Office Theme:8</vt:lpwstr>
  </property>
  <property fmtid="{D5CDD505-2E9C-101B-9397-08002B2CF9AE}" pid="6" name="ClassificationContentMarkingFooterText">
    <vt:lpwstr>Internal</vt:lpwstr>
  </property>
</Properties>
</file>